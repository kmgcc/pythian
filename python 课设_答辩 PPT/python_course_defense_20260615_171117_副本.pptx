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15.svg" ContentType="image/svg+xml"/>
  <Override PartName="/ppt/media/image16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6DB0"/>
    <a:srgbClr val="3D8B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00"/>
    <p:restoredTop sz="94652"/>
  </p:normalViewPr>
  <p:slideViewPr>
    <p:cSldViewPr snapToGrid="0" snapToObjects="1">
      <p:cViewPr varScale="1">
        <p:scale>
          <a:sx n="110" d="100"/>
          <a:sy n="110" d="100"/>
        </p:scale>
        <p:origin x="200" y="5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5535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先完成题目说明。我们的课程设计题目是自然光光谱预测与室内照明补偿设计。核心想法是：不是只看室内灯够不够亮，而是进一步关注自然光的光谱形状，并尝试用机器学习估计它，最后把估计结果用于LED补偿。这里强调三个基础数字：四十一个波长点、五千六百六十四条样本、前五个PCA主成分累计解释方差约百分之九十八点三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我们看研究背景。人长期在室内，照明对学习、工作和视觉舒适都很重要。传统照明通常关注照度和色温，但这两个指标只是对光的高度压缩。即使两种光亮度和色温相同，实际光谱也可能不同。右侧图展示了不同天气下实测平均相对光谱的差异，说明自然光的光谱会随环境变化，因此有必要从光谱角度研究室内照明质量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么问题来了：光谱虽然有价值，但直接测量成本很高。专业光谱仪难以在普通场景普及。所以我们尝试用更容易获得的环境特征，比如天气、时间、地点和太阳位置，通过机器学习来估计自然光相对光谱。输入是低成本环境特征，输出是自然光相对光谱，并进一步用于LED补偿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来看数据。项目使用三类公开数据：第一是SKYSPECTRA实测天光光谱数据和元数据，第二是Open-Meteo历史天气API，用来补充云量、湿度、温度和降水，第三是公开LED光谱数据，用在补偿环节。经过文件合并、时间对齐、波长重采样、缺失值处理和特征编码，最终得到五千六百六十四条样本、四十一个波长点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看模型的输入特征。我们选择了十二个容易获得的环境特征，包括时间、地点、天气、太阳位置和室外照度。右侧是随机森林特征重要性排序，可以看到室外照度占了百分之五十四，是最关键的特征，云量和太阳方位角也比较重要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看模型的输出。输出目标是三百八十到七百八十纳米范围内的相对光谱，每十纳米一个点，共四十一维。每条光谱除以自身最大值，模型学习的是光谱形状而非绝对强度。由于光谱曲线连续变化，相邻波长高度相关，这为后面的PCA降维做了铺垫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选择五个主成分？我们测试了前一到十个主成分的累计解释方差。第一个主成分就能解释百分之八十四的方差，前五个累计达到百分之九十八点三五。这意味着五个系数就能保留绝大部分光谱信息，同时大幅降低模型输出维度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看PCA降维的具体流程。原始光谱先经过标准化处理，然后通过PCA压缩为五个主成分系数。模型预测这五个系数后，再通过PCA逆变换还原为四十一维光谱。PCA不是为了让结果更高级，而是为了让模型更容易学习，也更符合课程中的降维知识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是模型训练。本项目不局限于某一种模型，而是把光谱估计作为回归问题，尝试了五种课程中涉及的模型：线性回归作为基准，KNN和决策树作为传统机器学习对比，随机森林作为集成学习模型，MLP作为神经网络对比。所有模型使用相同的数据划分、相同输入特征和相同PCA输出目标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来看具体的对比结果。从表中可以看到，随机森林的RMSE最低，为零点零零八六，综合表现最好。MLP的R²略高，为零点九六二，但RMSE更大，训练时间也更长。线性回归明显落后，说明环境特征到光谱变化不是简单线性关系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综合考虑，我们选择随机森林作为主模型。不选线性回归是因为误差太大，说明问题不是线性的。关注MLP是因为它代表神经网络路线，但训练成本更高。随机森林在RMSE、稳定性和推理成本上都更均衡，所以最终选择它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关于随机森林的参数设置，我们关注了几个关键参数：决策树数量、树的最大深度、内部节点再分裂所需最小样本数，以及随机种子。我们不是只用默认参数，而是通过参数对比实验、交叉验证，找到更合适的配置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看预测和补偿效果。模型预测的不是整条光谱，而是五个PCA主成分系数，再经过逆变换还原为四十一维相对光谱。图中蓝色是实测光谱，红色虚线是预测光谱，两条曲线基本重合。随后将预测光谱用于七通道LED补偿，可以看到多通道LED有更多自由度，能对不同波段做更细的补偿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项目是一个完整但谨慎的课程项目：数据是真实的，流程是可复现的，结果能进入应用演示。同时也承认样本、同步天气和硬件验证上的不足。特色是使用真实公开数据，结合PCA降维、多模型对比和照明补偿闭环，课程知识覆盖比较完整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分工方面，李安逸主要负责数据收集与处理、数据调整、可视化调整、课程报告撰稿与编写。黄奕滔主要负责数据处理、代码实现、可视化实现、课程报告检查和补充。我们一起完成了主题讨论、文献查阅、幻灯片制作、答辩准备、结果检查和最终材料整理。大模型在数据收集、报告结构和代码辅助方面提供了帮助，但核心思想和方案由我们团队讨论完成，模型和结果全部由Python代码生成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image" Target="../media/image5.svg"/><Relationship Id="rId6" Type="http://schemas.openxmlformats.org/officeDocument/2006/relationships/image" Target="../media/image6.svg"/><Relationship Id="rId7" Type="http://schemas.openxmlformats.org/officeDocument/2006/relationships/image" Target="../media/image7.svg"/><Relationship Id="rId8" Type="http://schemas.openxmlformats.org/officeDocument/2006/relationships/image" Target="../media/image8.svg"/><Relationship Id="rId9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>
              <a:alpha val="5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Ellipse 3"/>
          <p:cNvSpPr/>
          <p:nvPr/>
        </p:nvSpPr>
        <p:spPr>
          <a:xfrm>
            <a:off x="5048250" y="-266700"/>
            <a:ext cx="8001000" cy="7239000"/>
          </a:xfrm>
          <a:prstGeom prst="ellipse">
            <a:avLst/>
          </a:prstGeom>
          <a:gradFill>
            <a:gsLst>
              <a:gs pos="0">
                <a:srgbClr val="E8842A">
                  <a:alpha val="12000"/>
                </a:srgbClr>
              </a:gs>
              <a:gs pos="100000">
                <a:srgbClr val="D4940A">
                  <a:alpha val="4000"/>
                </a:srgbClr>
              </a:gs>
            </a:gsLst>
            <a:lin ang="2700000" scaled="1"/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Ellipse 4"/>
          <p:cNvSpPr/>
          <p:nvPr/>
        </p:nvSpPr>
        <p:spPr>
          <a:xfrm>
            <a:off x="-952500" y="3810000"/>
            <a:ext cx="5334000" cy="4191000"/>
          </a:xfrm>
          <a:prstGeom prst="ellipse">
            <a:avLst/>
          </a:prstGeom>
          <a:solidFill>
            <a:srgbClr val="E8842A">
              <a:alpha val="5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5"/>
          <p:cNvSpPr/>
          <p:nvPr/>
        </p:nvSpPr>
        <p:spPr>
          <a:xfrm>
            <a:off x="762000" y="1809750"/>
            <a:ext cx="57150" cy="1333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8842A"/>
              </a:gs>
              <a:gs pos="100000">
                <a:srgbClr val="D4940A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6"/>
          <p:cNvSpPr txBox="1"/>
          <p:nvPr/>
        </p:nvSpPr>
        <p:spPr>
          <a:xfrm>
            <a:off x="998220" y="1912620"/>
            <a:ext cx="4869180" cy="1440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5100"/>
              </a:lnSpc>
            </a:pPr>
            <a:r>
              <a:rPr lang="zh-CN" sz="3900" b="1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自然光光谱预测</a:t>
            </a:r>
            <a:endParaRPr lang="en-US" altLang="zh-CN" sz="3900" b="1" dirty="0">
              <a:solidFill>
                <a:srgbClr val="2D2A26"/>
              </a:solidFill>
              <a:latin typeface="Arial"/>
              <a:ea typeface="Microsoft YaHei"/>
              <a:cs typeface="Arial"/>
            </a:endParaRPr>
          </a:p>
          <a:p>
            <a:pPr algn="l">
              <a:lnSpc>
                <a:spcPts val="5100"/>
              </a:lnSpc>
            </a:pPr>
            <a:r>
              <a:rPr lang="zh-CN" sz="3900" b="1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与室内照明补偿设计</a:t>
            </a:r>
          </a:p>
        </p:txBody>
      </p:sp>
      <p:sp>
        <p:nvSpPr>
          <p:cNvPr id="8" name="Line 8"/>
          <p:cNvSpPr/>
          <p:nvPr/>
        </p:nvSpPr>
        <p:spPr>
          <a:xfrm>
            <a:off x="1047750" y="4381500"/>
            <a:ext cx="2952750" cy="9525"/>
          </a:xfrm>
          <a:custGeom>
            <a:avLst/>
            <a:gdLst/>
            <a:ahLst/>
            <a:cxnLst/>
            <a:rect l="l" t="t" r="r" b="b"/>
            <a:pathLst>
              <a:path w="2952750" h="9525">
                <a:moveTo>
                  <a:pt x="0" y="0"/>
                </a:moveTo>
                <a:lnTo>
                  <a:pt x="2952750" y="0"/>
                </a:lnTo>
              </a:path>
            </a:pathLst>
          </a:custGeom>
          <a:noFill/>
          <a:ln w="9525">
            <a:solidFill>
              <a:srgbClr val="E8E0D4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4" name="图形 23">
            <a:extLst>
              <a:ext uri="{FF2B5EF4-FFF2-40B4-BE49-F238E27FC236}">
                <a16:creationId xmlns:a16="http://schemas.microsoft.com/office/drawing/2014/main" id="{300534C5-DAEA-9718-AA25-059E2203A4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85169" y="-157975"/>
            <a:ext cx="5840450" cy="58404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028699" y="4648200"/>
            <a:ext cx="39277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400"/>
              </a:lnSpc>
            </a:pPr>
            <a:r>
              <a:rPr lang="zh-CN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第24组</a:t>
            </a:r>
            <a:r>
              <a:rPr lang="zh-CN" altLang="en-US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 </a:t>
            </a:r>
            <a:r>
              <a:rPr lang="zh-CN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Python 应用开发基础</a:t>
            </a:r>
            <a:r>
              <a:rPr lang="zh-CN" altLang="en-US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课程设计</a:t>
            </a:r>
            <a:endParaRPr lang="en-US" altLang="zh-CN" sz="1500" dirty="0">
              <a:solidFill>
                <a:srgbClr val="8C8578"/>
              </a:solidFill>
              <a:latin typeface="Arial"/>
              <a:ea typeface="Microsoft YaHei"/>
              <a:cs typeface="Arial"/>
            </a:endParaRPr>
          </a:p>
          <a:p>
            <a:pPr algn="l">
              <a:lnSpc>
                <a:spcPts val="2400"/>
              </a:lnSpc>
            </a:pPr>
            <a:r>
              <a:rPr lang="zh-CN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李安逸、黄奕滔</a:t>
            </a:r>
          </a:p>
        </p:txBody>
      </p:sp>
      <p:sp>
        <p:nvSpPr>
          <p:cNvPr id="10" name="Freeform 10"/>
          <p:cNvSpPr/>
          <p:nvPr/>
        </p:nvSpPr>
        <p:spPr>
          <a:xfrm>
            <a:off x="5524500" y="2222500"/>
            <a:ext cx="6096000" cy="857250"/>
          </a:xfrm>
          <a:custGeom>
            <a:avLst/>
            <a:gdLst/>
            <a:ahLst/>
            <a:cxnLst/>
            <a:rect l="l" t="t" r="r" b="b"/>
            <a:pathLst>
              <a:path w="6096000" h="857250">
                <a:moveTo>
                  <a:pt x="0" y="825500"/>
                </a:moveTo>
                <a:cubicBezTo>
                  <a:pt x="635000" y="317500"/>
                  <a:pt x="1333500" y="222250"/>
                  <a:pt x="2095500" y="539750"/>
                </a:cubicBezTo>
                <a:cubicBezTo>
                  <a:pt x="2857500" y="857250"/>
                  <a:pt x="3619500" y="793750"/>
                  <a:pt x="4381500" y="349250"/>
                </a:cubicBezTo>
                <a:cubicBezTo>
                  <a:pt x="4953000" y="31750"/>
                  <a:pt x="5524500" y="0"/>
                  <a:pt x="6096000" y="254000"/>
                </a:cubicBezTo>
              </a:path>
            </a:pathLst>
          </a:custGeom>
          <a:noFill/>
          <a:ln w="23812">
            <a:solidFill>
              <a:srgbClr val="E8842A">
                <a:alpha val="30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>
          <a:xfrm>
            <a:off x="5524500" y="2492375"/>
            <a:ext cx="6096000" cy="841375"/>
          </a:xfrm>
          <a:custGeom>
            <a:avLst/>
            <a:gdLst/>
            <a:ahLst/>
            <a:cxnLst/>
            <a:rect l="l" t="t" r="r" b="b"/>
            <a:pathLst>
              <a:path w="6096000" h="841375">
                <a:moveTo>
                  <a:pt x="0" y="841375"/>
                </a:moveTo>
                <a:cubicBezTo>
                  <a:pt x="635000" y="396875"/>
                  <a:pt x="1333500" y="301625"/>
                  <a:pt x="2095500" y="555625"/>
                </a:cubicBezTo>
                <a:cubicBezTo>
                  <a:pt x="2857500" y="809625"/>
                  <a:pt x="3619500" y="746125"/>
                  <a:pt x="4381500" y="365125"/>
                </a:cubicBezTo>
                <a:cubicBezTo>
                  <a:pt x="4953000" y="47625"/>
                  <a:pt x="5524500" y="0"/>
                  <a:pt x="6096000" y="222250"/>
                </a:cubicBezTo>
              </a:path>
            </a:pathLst>
          </a:custGeom>
          <a:noFill/>
          <a:ln w="14288">
            <a:solidFill>
              <a:srgbClr val="D4940A">
                <a:alpha val="20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2"/>
          <p:cNvSpPr/>
          <p:nvPr/>
        </p:nvSpPr>
        <p:spPr>
          <a:xfrm>
            <a:off x="5524500" y="2762250"/>
            <a:ext cx="6096000" cy="857250"/>
          </a:xfrm>
          <a:custGeom>
            <a:avLst/>
            <a:gdLst/>
            <a:ahLst/>
            <a:cxnLst/>
            <a:rect l="l" t="t" r="r" b="b"/>
            <a:pathLst>
              <a:path w="6096000" h="857250">
                <a:moveTo>
                  <a:pt x="0" y="857250"/>
                </a:moveTo>
                <a:cubicBezTo>
                  <a:pt x="635000" y="412750"/>
                  <a:pt x="1333500" y="301625"/>
                  <a:pt x="2095500" y="523875"/>
                </a:cubicBezTo>
                <a:cubicBezTo>
                  <a:pt x="2857500" y="746125"/>
                  <a:pt x="3619500" y="682625"/>
                  <a:pt x="4381500" y="333375"/>
                </a:cubicBezTo>
                <a:cubicBezTo>
                  <a:pt x="4953000" y="47625"/>
                  <a:pt x="5524500" y="0"/>
                  <a:pt x="6096000" y="190500"/>
                </a:cubicBezTo>
              </a:path>
            </a:pathLst>
          </a:custGeom>
          <a:noFill/>
          <a:ln w="9525">
            <a:solidFill>
              <a:srgbClr val="E06B5E">
                <a:alpha val="15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6436995" y="4517708"/>
            <a:ext cx="5000623" cy="725804"/>
            <a:chOff x="6436995" y="4517708"/>
            <a:chExt cx="5000623" cy="725804"/>
          </a:xfrm>
        </p:grpSpPr>
        <p:sp>
          <p:nvSpPr>
            <p:cNvPr id="13" name="TextBox 13"/>
            <p:cNvSpPr txBox="1"/>
            <p:nvPr/>
          </p:nvSpPr>
          <p:spPr>
            <a:xfrm>
              <a:off x="6436995" y="4517708"/>
              <a:ext cx="1615827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 dirty="0">
                  <a:solidFill>
                    <a:srgbClr val="E8842A"/>
                  </a:solidFill>
                  <a:latin typeface="Consolas"/>
                  <a:ea typeface="Microsoft YaHei"/>
                  <a:cs typeface="Consolas"/>
                </a:rPr>
                <a:t>随机森林</a:t>
              </a:r>
              <a:endParaRPr lang="zh-CN" sz="3150" b="1" dirty="0">
                <a:solidFill>
                  <a:srgbClr val="E8842A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63665" y="5030152"/>
              <a:ext cx="53860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机器学习</a:t>
              </a:r>
              <a:endParaRPr lang="zh-CN" sz="1050" dirty="0">
                <a:solidFill>
                  <a:srgbClr val="8C8578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41355" y="4517708"/>
              <a:ext cx="105033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3D8B5E"/>
                  </a:solidFill>
                  <a:latin typeface="Consolas"/>
                  <a:ea typeface="Microsoft YaHei"/>
                  <a:cs typeface="Consolas"/>
                </a:rPr>
                <a:t>5664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80156" y="5013347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样本量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056495" y="4517708"/>
              <a:ext cx="1381123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8B6DB0"/>
                  </a:solidFill>
                  <a:latin typeface="Consolas"/>
                  <a:ea typeface="Microsoft YaHei"/>
                  <a:cs typeface="Consolas"/>
                </a:rPr>
                <a:t>98.3%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083165" y="5030152"/>
              <a:ext cx="8597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PCA 累计方差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0A898"/>
                </a:solidFill>
                <a:latin typeface="Arial"/>
                <a:ea typeface="Microsoft YaHei"/>
                <a:cs typeface="Arial"/>
              </a:rPr>
              <a:t>01 / 15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6795" y="3917632"/>
            <a:ext cx="704978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使用 Python 数据处理、PCA 降维与机器学习模型，估计自然光相对光谱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svg="http://schemas.microsoft.com/office/drawing/2016/SVG/main" xmlns:a16="http://schemas.microsoft.com/office/drawing/2014/main"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4552528" cy="780529"/>
            <a:chOff x="535305" y="379095"/>
            <a:chExt cx="4552528" cy="780529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02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E06B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552528" cy="4385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照明不只</a:t>
              </a:r>
              <a:r>
                <a:rPr lang="zh-CN" altLang="en-US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有亮度和色温维度</a:t>
              </a:r>
              <a:endParaRPr lang="zh-CN" sz="2850" b="1" dirty="0">
                <a:solidFill>
                  <a:srgbClr val="2D2A26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1500" y="1333500"/>
            <a:ext cx="11060430" cy="762000"/>
            <a:chOff x="571500" y="1333500"/>
            <a:chExt cx="6572250" cy="762000"/>
          </a:xfrm>
        </p:grpSpPr>
        <p:sp>
          <p:nvSpPr>
            <p:cNvPr id="7" name="Rectangle 7"/>
            <p:cNvSpPr/>
            <p:nvPr/>
          </p:nvSpPr>
          <p:spPr>
            <a:xfrm>
              <a:off x="571500" y="1333500"/>
              <a:ext cx="1905000" cy="762000"/>
            </a:xfrm>
            <a:prstGeom prst="roundRect">
              <a:avLst>
                <a:gd name="adj" fmla="val 150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33350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E06B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93420" y="14887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亮度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1040" y="1791652"/>
              <a:ext cx="11608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照度看"够不够亮"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50795" y="1536382"/>
              <a:ext cx="1629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809875" y="1333500"/>
              <a:ext cx="1905000" cy="762000"/>
            </a:xfrm>
            <a:prstGeom prst="roundRect">
              <a:avLst>
                <a:gd name="adj" fmla="val 150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809875" y="133350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D4940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31795" y="14887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色温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39415" y="17916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看冷暖，但不够细致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89170" y="1536382"/>
              <a:ext cx="1629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048250" y="1333500"/>
              <a:ext cx="2095500" cy="762000"/>
            </a:xfrm>
            <a:prstGeom prst="roundRect">
              <a:avLst>
                <a:gd name="adj" fmla="val 15000"/>
              </a:avLst>
            </a:prstGeom>
            <a:solidFill>
              <a:srgbClr val="E06B5E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048250" y="1333500"/>
              <a:ext cx="2095500" cy="38100"/>
            </a:xfrm>
            <a:prstGeom prst="roundRect">
              <a:avLst>
                <a:gd name="adj" fmla="val 50000"/>
              </a:avLst>
            </a:prstGeom>
            <a:solidFill>
              <a:srgbClr val="E06B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70170" y="14887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光谱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77790" y="179165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各波长能量分布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52450" y="2362200"/>
            <a:ext cx="5679385" cy="914400"/>
            <a:chOff x="552450" y="2362200"/>
            <a:chExt cx="6515100" cy="914400"/>
          </a:xfrm>
        </p:grpSpPr>
        <p:sp>
          <p:nvSpPr>
            <p:cNvPr id="22" name="TextBox 22"/>
            <p:cNvSpPr txBox="1"/>
            <p:nvPr/>
          </p:nvSpPr>
          <p:spPr>
            <a:xfrm>
              <a:off x="552450" y="2362200"/>
              <a:ext cx="65151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现代人越来越多时间处在室内，人工照明对学习、办公和生活体验都有影响。常见照明调节主要关注亮度和色温，但这两个指标不能完整描述光的组成。光谱能表示不同波长上的能量分布，是更细致的光照描述方式。</a:t>
              </a:r>
            </a:p>
          </p:txBody>
        </p:sp>
      </p:grpSp>
      <p:sp>
        <p:nvSpPr>
          <p:cNvPr id="24" name="Rectangle 24"/>
          <p:cNvSpPr/>
          <p:nvPr/>
        </p:nvSpPr>
        <p:spPr>
          <a:xfrm>
            <a:off x="571500" y="3667125"/>
            <a:ext cx="5262770" cy="476250"/>
          </a:xfrm>
          <a:prstGeom prst="roundRect">
            <a:avLst>
              <a:gd name="adj" fmla="val 20000"/>
            </a:avLst>
          </a:prstGeom>
          <a:solidFill>
            <a:srgbClr val="E06B5E">
              <a:alpha val="5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743903" y="3808571"/>
            <a:ext cx="4971098" cy="2192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E06B5E"/>
                </a:solidFill>
                <a:latin typeface="Arial"/>
                <a:ea typeface="Microsoft YaHei"/>
                <a:cs typeface="Arial"/>
              </a:rPr>
              <a:t>基于光谱的室内照明调节，是未来高质量照明的一个潜在方向。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6210863" y="2386334"/>
            <a:ext cx="5437348" cy="4029074"/>
            <a:chOff x="6858000" y="1333500"/>
            <a:chExt cx="4762500" cy="3529012"/>
          </a:xfrm>
        </p:grpSpPr>
        <p:sp>
          <p:nvSpPr>
            <p:cNvPr id="26" name="Rectangle 26"/>
            <p:cNvSpPr/>
            <p:nvPr/>
          </p:nvSpPr>
          <p:spPr>
            <a:xfrm>
              <a:off x="6858000" y="1333500"/>
              <a:ext cx="4762500" cy="3429000"/>
            </a:xfrm>
            <a:prstGeom prst="roundRect">
              <a:avLst>
                <a:gd name="adj" fmla="val 3333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53250" y="1528938"/>
              <a:ext cx="4572000" cy="2847624"/>
            </a:xfrm>
            <a:prstGeom prst="rect">
              <a:avLst/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6939915" y="464915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不同天气下平均相对光谱存在差异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30" name="TextBox 30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02 / 15</a:t>
              </a:r>
            </a:p>
          </p:txBody>
        </p:sp>
      </p:grpSp>
      <p:sp>
        <p:nvSpPr>
          <p:cNvPr id="100000" name="Rectangle 24"/>
          <p:cNvSpPr/>
          <p:nvPr/>
        </p:nvSpPr>
        <p:spPr>
          <a:xfrm>
            <a:off x="571500" y="4333874"/>
            <a:ext cx="5262770" cy="960121"/>
          </a:xfrm>
          <a:prstGeom prst="roundRect">
            <a:avLst>
              <a:gd name="adj" fmla="val 20000"/>
            </a:avLst>
          </a:prstGeom>
          <a:solidFill>
            <a:schemeClr val="accent4">
              <a:lumMod val="60000"/>
              <a:lumOff val="40000"/>
              <a:alpha val="5000"/>
            </a:scheme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001" name="TextBox 25"/>
          <p:cNvSpPr txBox="1"/>
          <p:nvPr/>
        </p:nvSpPr>
        <p:spPr>
          <a:xfrm>
            <a:off x="743903" y="4475226"/>
            <a:ext cx="4971098" cy="657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r>
              <a:rPr lang="en-US" altLang="zh-CN" sz="1425" b="1" dirty="0">
                <a:solidFill>
                  <a:schemeClr val="accent4">
                    <a:lumMod val="75000"/>
                  </a:schemeClr>
                </a:solidFill>
                <a:latin typeface="Arial"/>
                <a:ea typeface="Microsoft YaHei"/>
                <a:cs typeface="Arial"/>
              </a:rPr>
              <a:t>Ra </a:t>
            </a:r>
            <a:r>
              <a:rPr lang="zh-CN" altLang="en-US" sz="1425" b="1" dirty="0">
                <a:solidFill>
                  <a:schemeClr val="accent4">
                    <a:lumMod val="75000"/>
                  </a:schemeClr>
                </a:solidFill>
                <a:latin typeface="Arial"/>
                <a:ea typeface="Microsoft YaHei"/>
                <a:cs typeface="Arial"/>
              </a:rPr>
              <a:t>是传统显色评价指标，主要衡量 </a:t>
            </a:r>
            <a:r>
              <a:rPr lang="en-US" altLang="zh-CN" sz="1425" b="1" dirty="0">
                <a:solidFill>
                  <a:schemeClr val="accent4">
                    <a:lumMod val="75000"/>
                  </a:schemeClr>
                </a:solidFill>
                <a:latin typeface="Arial"/>
                <a:ea typeface="Microsoft YaHei"/>
                <a:cs typeface="Arial"/>
              </a:rPr>
              <a:t>8 </a:t>
            </a:r>
            <a:r>
              <a:rPr lang="zh-CN" altLang="en-US" sz="1425" b="1" dirty="0">
                <a:solidFill>
                  <a:schemeClr val="accent4">
                    <a:lumMod val="75000"/>
                  </a:schemeClr>
                </a:solidFill>
                <a:latin typeface="Arial"/>
                <a:ea typeface="Microsoft YaHei"/>
                <a:cs typeface="Arial"/>
              </a:rPr>
              <a:t>个低饱和标准色样的平均色差，因此对高饱和颜色、红色表现、肤色质感和光谱缺陷不敏感，不能作为光照质量的完整指标。</a:t>
            </a:r>
            <a:endParaRPr lang="zh-CN" altLang="zh-CN" sz="1425" b="1" dirty="0">
              <a:solidFill>
                <a:schemeClr val="accent4">
                  <a:lumMod val="75000"/>
                </a:schemeClr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7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0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0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4" grpId="0" animBg="1"/>
      <p:bldP spid="25" grpId="0"/>
      <p:bldP spid="29" grpId="0"/>
      <p:bldP spid="100000" grpId="1" animBg="1"/>
      <p:bldP spid="100001" grpId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2192908" cy="780529"/>
            <a:chOff x="535305" y="379095"/>
            <a:chExt cx="2192908" cy="780529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03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E06B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2192908" cy="4385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光谱</a:t>
              </a:r>
              <a:r>
                <a:rPr lang="zh-CN" altLang="en-US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如何获取</a:t>
              </a:r>
              <a:endParaRPr lang="zh-CN" sz="2850" b="1" dirty="0">
                <a:solidFill>
                  <a:srgbClr val="2D2A26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52450" y="1343025"/>
            <a:ext cx="10772180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专业光谱仪难以在普通场景普及，因此尝试用更容易获得的环境特征</a:t>
            </a:r>
            <a:r>
              <a:rPr lang="zh-CN" altLang="en-US" sz="1500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，比如天气预报数据</a:t>
            </a:r>
            <a:r>
              <a:rPr lang="zh-CN" sz="1500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，通过机器学习估计自然光相对光谱。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71500" y="1905000"/>
            <a:ext cx="11060430" cy="1714500"/>
            <a:chOff x="571500" y="1905000"/>
            <a:chExt cx="10191750" cy="1714500"/>
          </a:xfrm>
        </p:grpSpPr>
        <p:sp>
          <p:nvSpPr>
            <p:cNvPr id="8" name="Rectangle 8"/>
            <p:cNvSpPr/>
            <p:nvPr/>
          </p:nvSpPr>
          <p:spPr>
            <a:xfrm>
              <a:off x="571500" y="1905000"/>
              <a:ext cx="1905000" cy="1714500"/>
            </a:xfrm>
            <a:prstGeom prst="roundRect">
              <a:avLst>
                <a:gd name="adj" fmla="val 6667"/>
              </a:avLst>
            </a:prstGeom>
            <a:solidFill>
              <a:srgbClr val="3D8B5E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72016" y="20602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输入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4855" y="2426018"/>
              <a:ext cx="15284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天气 / 时间 / 地点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4855" y="2711768"/>
              <a:ext cx="16814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太阳高度角 / 方位角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4855" y="29975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室外照度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571750" y="2762250"/>
              <a:ext cx="666750" cy="1"/>
            </a:xfrm>
            <a:prstGeom prst="line">
              <a:avLst/>
            </a:prstGeom>
            <a:noFill/>
            <a:ln w="28575">
              <a:solidFill>
                <a:srgbClr val="3D8B5E"/>
              </a:solidFill>
              <a:tailEnd type="triangle" w="lg" len="lg"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333750" y="2190750"/>
              <a:ext cx="1714500" cy="1143000"/>
            </a:xfrm>
            <a:prstGeom prst="roundRect">
              <a:avLst>
                <a:gd name="adj" fmla="val 10000"/>
              </a:avLst>
            </a:prstGeom>
            <a:solidFill>
              <a:srgbClr val="E06B5E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7987" y="24888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机器学习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55720" y="282321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回归模型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143500" y="2762250"/>
              <a:ext cx="666750" cy="1"/>
            </a:xfrm>
            <a:prstGeom prst="line">
              <a:avLst/>
            </a:prstGeom>
            <a:noFill/>
            <a:ln w="28575">
              <a:solidFill>
                <a:srgbClr val="E06B5E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905500" y="2095500"/>
              <a:ext cx="1905000" cy="1333500"/>
            </a:xfrm>
            <a:prstGeom prst="roundRect">
              <a:avLst>
                <a:gd name="adj" fmla="val 8571"/>
              </a:avLst>
            </a:prstGeom>
            <a:solidFill>
              <a:srgbClr val="8B6DB0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06016" y="234600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78855" y="271176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自然光相对光谱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78855" y="2997518"/>
              <a:ext cx="16544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380–780 nm / 41 维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7905750" y="2762250"/>
              <a:ext cx="666750" cy="1"/>
            </a:xfrm>
            <a:prstGeom prst="line">
              <a:avLst/>
            </a:prstGeom>
            <a:noFill/>
            <a:ln w="28575">
              <a:solidFill>
                <a:srgbClr val="8B6DB0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667750" y="2095500"/>
              <a:ext cx="2095500" cy="1333500"/>
            </a:xfrm>
            <a:prstGeom prst="roundRect">
              <a:avLst>
                <a:gd name="adj" fmla="val 8571"/>
              </a:avLst>
            </a:prstGeom>
            <a:solidFill>
              <a:srgbClr val="D4940A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3516" y="234600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应用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41105" y="2711768"/>
              <a:ext cx="15014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目标光谱 − 自然光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41105" y="2997518"/>
              <a:ext cx="149247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→ 七通道 LED 补偿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571500" y="4000500"/>
            <a:ext cx="10191750" cy="571500"/>
          </a:xfrm>
          <a:prstGeom prst="roundRect">
            <a:avLst>
              <a:gd name="adj" fmla="val 16667"/>
            </a:avLst>
          </a:prstGeom>
          <a:solidFill>
            <a:srgbClr val="E06B5E">
              <a:alpha val="5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Box 29"/>
          <p:cNvSpPr txBox="1"/>
          <p:nvPr/>
        </p:nvSpPr>
        <p:spPr>
          <a:xfrm>
            <a:off x="741045" y="4165282"/>
            <a:ext cx="789689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06B5E"/>
                </a:solidFill>
                <a:latin typeface="Arial"/>
                <a:ea typeface="Microsoft YaHei"/>
                <a:cs typeface="Arial"/>
              </a:rPr>
              <a:t>目标：输入低成本环境特征，输出自然光相对光谱，并进一步用于照明补偿。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30" name="TextBox 30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03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3638817" cy="780529"/>
            <a:chOff x="535305" y="379095"/>
            <a:chExt cx="3638817" cy="780529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04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3D8B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3638817" cy="4385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基于公开</a:t>
              </a:r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观测数据训练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1285875"/>
            <a:ext cx="11049000" cy="1905000"/>
            <a:chOff x="571500" y="1285875"/>
            <a:chExt cx="11049000" cy="19050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3524250" cy="1905000"/>
            </a:xfrm>
            <a:prstGeom prst="roundRect">
              <a:avLst>
                <a:gd name="adj" fmla="val 6000"/>
              </a:avLst>
            </a:prstGeom>
            <a:solidFill>
              <a:srgbClr val="3D8B5E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3D8B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2950" y="1504950"/>
              <a:ext cx="25164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SKYSPECTRA 实测天光光谱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5808" y="1814989"/>
              <a:ext cx="191112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Zenodo record 8147546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808" y="2100739"/>
              <a:ext cx="17581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水平天光光谱 + 元数据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808" y="2386489"/>
              <a:ext cx="23446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重采样到 380–780 nm / 10 nm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33875" y="1285875"/>
              <a:ext cx="3524250" cy="1905000"/>
            </a:xfrm>
            <a:prstGeom prst="roundRect">
              <a:avLst>
                <a:gd name="adj" fmla="val 6000"/>
              </a:avLst>
            </a:prstGeom>
            <a:solidFill>
              <a:srgbClr val="2AA3A0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333875" y="1285875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2AA3A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05325" y="1504950"/>
              <a:ext cx="253741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AA3A0"/>
                  </a:solidFill>
                  <a:latin typeface="Arial"/>
                  <a:ea typeface="Microsoft YaHei"/>
                  <a:cs typeface="Arial"/>
                </a:rPr>
                <a:t>Open-Meteo 历史天气 API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08182" y="1814989"/>
              <a:ext cx="20726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按观测站经纬度和日期查询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08182" y="2100739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云量、湿度、温度、降水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08182" y="2386489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按最近整点与光谱对齐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096250" y="1285875"/>
              <a:ext cx="3524250" cy="1905000"/>
            </a:xfrm>
            <a:prstGeom prst="roundRect">
              <a:avLst>
                <a:gd name="adj" fmla="val 6000"/>
              </a:avLst>
            </a:prstGeom>
            <a:solidFill>
              <a:srgbClr val="E8842A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096250" y="1285875"/>
              <a:ext cx="3524250" cy="57150"/>
            </a:xfrm>
            <a:prstGeom prst="roundRect">
              <a:avLst>
                <a:gd name="adj" fmla="val 50000"/>
              </a:avLst>
            </a:prstGeom>
            <a:solidFill>
              <a:srgbClr val="E8842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67700" y="1504950"/>
              <a:ext cx="177081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842A"/>
                  </a:solidFill>
                  <a:latin typeface="Arial"/>
                  <a:ea typeface="Microsoft YaHei"/>
                  <a:cs typeface="Arial"/>
                </a:rPr>
                <a:t>公开 LED 光谱数据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70558" y="1814989"/>
              <a:ext cx="194512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用于七通道 LED 补偿模型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70558" y="2100739"/>
              <a:ext cx="29227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深蓝、青、绿、琥珀、红、暖白、冷白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71510" y="2394585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只用于补偿，不参与训练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50545" y="3393758"/>
            <a:ext cx="11081385" cy="844867"/>
            <a:chOff x="550545" y="3393758"/>
            <a:chExt cx="10307955" cy="844867"/>
          </a:xfrm>
        </p:grpSpPr>
        <p:sp>
          <p:nvSpPr>
            <p:cNvPr id="26" name="TextBox 26"/>
            <p:cNvSpPr txBox="1"/>
            <p:nvPr/>
          </p:nvSpPr>
          <p:spPr>
            <a:xfrm>
              <a:off x="550545" y="3393758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处理流程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71500" y="3762375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3D8B5E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9640" y="3910489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文件合并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76450" y="3886200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286000" y="3762375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3D8B5E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44140" y="3910489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时间对齐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790950" y="3886200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000500" y="3762375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3D8B5E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73629" y="3910489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波长重采样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05450" y="3886200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715000" y="3762375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3D8B5E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988129" y="3910489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缺失值处理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19950" y="3886200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429500" y="3762375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3D8B5E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87640" y="3910489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特征编码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34450" y="3886200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144000" y="3762375"/>
              <a:ext cx="1714500" cy="476250"/>
            </a:xfrm>
            <a:prstGeom prst="roundRect">
              <a:avLst>
                <a:gd name="adj" fmla="val 16000"/>
              </a:avLst>
            </a:prstGeom>
            <a:solidFill>
              <a:srgbClr val="3D8B5E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538752" y="3910489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建模数据表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71500" y="4524375"/>
            <a:ext cx="11049000" cy="1047750"/>
            <a:chOff x="571500" y="4524375"/>
            <a:chExt cx="11049000" cy="1047750"/>
          </a:xfrm>
        </p:grpSpPr>
        <p:sp>
          <p:nvSpPr>
            <p:cNvPr id="45" name="Rectangle 45"/>
            <p:cNvSpPr/>
            <p:nvPr/>
          </p:nvSpPr>
          <p:spPr>
            <a:xfrm>
              <a:off x="571500" y="4524375"/>
              <a:ext cx="11049000" cy="1047750"/>
            </a:xfrm>
            <a:prstGeom prst="roundRect">
              <a:avLst>
                <a:gd name="adj" fmla="val 10909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62000" y="4714875"/>
              <a:ext cx="190500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264358" y="4756785"/>
              <a:ext cx="90028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3D8B5E"/>
                  </a:solidFill>
                  <a:latin typeface="Consolas"/>
                  <a:ea typeface="Microsoft YaHei"/>
                  <a:cs typeface="Consolas"/>
                </a:rPr>
                <a:t>5664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491139" y="5173028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样本量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2952750" y="4714875"/>
              <a:ext cx="152400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472534" y="4756785"/>
              <a:ext cx="48443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AA3A0"/>
                  </a:solidFill>
                  <a:latin typeface="Consolas"/>
                  <a:ea typeface="Microsoft YaHei"/>
                  <a:cs typeface="Consolas"/>
                </a:rPr>
                <a:t>41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421380" y="517302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光谱维度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762500" y="4714875"/>
              <a:ext cx="228600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935543" y="4756785"/>
              <a:ext cx="193991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E8842A"/>
                  </a:solidFill>
                  <a:latin typeface="Consolas"/>
                  <a:ea typeface="Microsoft YaHei"/>
                  <a:cs typeface="Consolas"/>
                </a:rPr>
                <a:t>2016–2018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612130" y="517302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时间范围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334250" y="4714875"/>
              <a:ext cx="123825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15122" y="4756785"/>
              <a:ext cx="27650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8B6DB0"/>
                  </a:solidFill>
                  <a:latin typeface="Consolas"/>
                  <a:ea typeface="Microsoft YaHei"/>
                  <a:cs typeface="Consola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30014" y="5173028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观测站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858250" y="4714875"/>
              <a:ext cx="247650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477375" y="488632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法国沃昂夫兰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803130" y="517302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主要站点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62" name="TextBox 62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04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4" grpId="0"/>
      <p:bldP spid="6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4860988" cy="921067"/>
            <a:chOff x="535305" y="379095"/>
            <a:chExt cx="4860988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2AA3A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86098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模型输入：低成本环境特征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1238250"/>
            <a:ext cx="5048250" cy="4191000"/>
            <a:chOff x="571500" y="1238250"/>
            <a:chExt cx="5048250" cy="419100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048250" cy="4191000"/>
            </a:xfrm>
            <a:prstGeom prst="roundRect">
              <a:avLst>
                <a:gd name="adj" fmla="val 2727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048250" cy="47625"/>
            </a:xfrm>
            <a:prstGeom prst="roundRect">
              <a:avLst>
                <a:gd name="adj" fmla="val 40000"/>
              </a:avLst>
            </a:prstGeom>
            <a:solidFill>
              <a:srgbClr val="2AA3A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1045" y="1441132"/>
              <a:ext cx="198255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AA3A0"/>
                  </a:solidFill>
                  <a:latin typeface="Arial"/>
                  <a:ea typeface="Microsoft YaHei"/>
                  <a:cs typeface="Arial"/>
                </a:rPr>
                <a:t>输入特征（12 个）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4855" y="1806892"/>
              <a:ext cx="15181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数值特征（9 个）</a:t>
              </a:r>
            </a:p>
          </p:txBody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2000" y="2076450"/>
              <a:ext cx="228600" cy="228600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1050608" y="2100739"/>
              <a:ext cx="10525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hour, month</a:t>
              </a:r>
            </a:p>
          </p:txBody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62000" y="2362200"/>
              <a:ext cx="228600" cy="2286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1050608" y="2386489"/>
              <a:ext cx="252319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solar_altitude, solar_azimuth</a:t>
              </a:r>
            </a:p>
          </p:txBody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62000" y="2647950"/>
              <a:ext cx="228600" cy="22860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1050608" y="2672239"/>
              <a:ext cx="30672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cloud_cover, humidity, temperature</a:t>
              </a:r>
            </a:p>
          </p:txBody>
        </p:sp>
        <p:pic>
          <p:nvPicPr>
            <p:cNvPr id="17" name="Image 17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62000" y="2933700"/>
              <a:ext cx="228600" cy="228600"/>
            </a:xfrm>
            <a:prstGeom prst="rect">
              <a:avLst/>
            </a:prstGeom>
          </p:spPr>
        </p:pic>
        <p:sp>
          <p:nvSpPr>
            <p:cNvPr id="18" name="TextBox 18"/>
            <p:cNvSpPr txBox="1"/>
            <p:nvPr/>
          </p:nvSpPr>
          <p:spPr>
            <a:xfrm>
              <a:off x="1050608" y="2957989"/>
              <a:ext cx="225116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precipitation, outdoor_lux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62000" y="33147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4855" y="3454718"/>
              <a:ext cx="24632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类别特征（3 个，独热编码）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62000" y="3733800"/>
              <a:ext cx="228600" cy="228600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1050608" y="3767614"/>
              <a:ext cx="174109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weather（天气类别）</a:t>
              </a:r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62000" y="4019550"/>
              <a:ext cx="228600" cy="228600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1050608" y="4053364"/>
              <a:ext cx="218315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sky_condition（天空状况）</a:t>
              </a:r>
            </a:p>
          </p:txBody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62000" y="4305300"/>
              <a:ext cx="228600" cy="228600"/>
            </a:xfrm>
            <a:prstGeom prst="rect">
              <a:avLst/>
            </a:prstGeom>
          </p:spPr>
        </p:pic>
        <p:sp>
          <p:nvSpPr>
            <p:cNvPr id="26" name="TextBox 26"/>
            <p:cNvSpPr txBox="1"/>
            <p:nvPr/>
          </p:nvSpPr>
          <p:spPr>
            <a:xfrm>
              <a:off x="1050608" y="4339114"/>
              <a:ext cx="235317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location_code（观测站编号）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762000" y="4714875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6760" y="4871085"/>
              <a:ext cx="26148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数值特征标准化 + 类别特征独热编码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905500" y="1238250"/>
            <a:ext cx="5715000" cy="4212431"/>
            <a:chOff x="5905500" y="1238250"/>
            <a:chExt cx="5715000" cy="4212431"/>
          </a:xfrm>
        </p:grpSpPr>
        <p:sp>
          <p:nvSpPr>
            <p:cNvPr id="30" name="Rectangle 30"/>
            <p:cNvSpPr/>
            <p:nvPr/>
          </p:nvSpPr>
          <p:spPr>
            <a:xfrm>
              <a:off x="5905500" y="1238250"/>
              <a:ext cx="5715000" cy="4191000"/>
            </a:xfrm>
            <a:prstGeom prst="roundRect">
              <a:avLst>
                <a:gd name="adj" fmla="val 2727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905500" y="1238250"/>
              <a:ext cx="5715000" cy="47625"/>
            </a:xfrm>
            <a:prstGeom prst="roundRect">
              <a:avLst>
                <a:gd name="adj" fmla="val 40000"/>
              </a:avLst>
            </a:prstGeom>
            <a:solidFill>
              <a:srgbClr val="D4940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75045" y="144113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随机森林特征重要性</a:t>
              </a:r>
            </a:p>
          </p:txBody>
        </p:sp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000750" y="1803428"/>
              <a:ext cx="5524500" cy="3251144"/>
            </a:xfrm>
            <a:prstGeom prst="rect">
              <a:avLst/>
            </a:prstGeom>
          </p:spPr>
        </p:pic>
        <p:sp>
          <p:nvSpPr>
            <p:cNvPr id="34" name="Rectangle 34"/>
            <p:cNvSpPr/>
            <p:nvPr/>
          </p:nvSpPr>
          <p:spPr>
            <a:xfrm>
              <a:off x="6096000" y="5191125"/>
              <a:ext cx="5334000" cy="209550"/>
            </a:xfrm>
            <a:prstGeom prst="roundRect">
              <a:avLst>
                <a:gd name="adj" fmla="val 18182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81712" y="5222081"/>
              <a:ext cx="41398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outdoor_lux 54% · cloud_cover 9% · solar_azimuth 6%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37" name="TextBox 37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05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svg="http://schemas.microsoft.com/office/drawing/2016/SVG/main"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3432030" cy="780529"/>
            <a:chOff x="535305" y="379095"/>
            <a:chExt cx="3432030" cy="780529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06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2AA3A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3432030" cy="4385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输出：41 维相对光谱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1500" y="1238250"/>
            <a:ext cx="11049002" cy="4000500"/>
            <a:chOff x="571500" y="1238250"/>
            <a:chExt cx="11049002" cy="400050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334000" cy="4000500"/>
            </a:xfrm>
            <a:prstGeom prst="roundRect">
              <a:avLst>
                <a:gd name="adj" fmla="val 2857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6286502" y="4993481"/>
              <a:ext cx="5334000" cy="47625"/>
            </a:xfrm>
            <a:prstGeom prst="roundRect">
              <a:avLst>
                <a:gd name="adj" fmla="val 40000"/>
              </a:avLst>
            </a:prstGeom>
            <a:solidFill>
              <a:srgbClr val="8B6D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6750" y="1430319"/>
              <a:ext cx="5143500" cy="3235362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747712" y="4926806"/>
              <a:ext cx="31414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光谱曲线示例：380–780 nm 范围内的相对光谱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23875" y="4714875"/>
            <a:ext cx="10810875" cy="1943100"/>
            <a:chOff x="523875" y="4714875"/>
            <a:chExt cx="10810875" cy="1943100"/>
          </a:xfrm>
        </p:grpSpPr>
        <p:sp>
          <p:nvSpPr>
            <p:cNvPr id="13" name="Rectangle 13"/>
            <p:cNvSpPr/>
            <p:nvPr/>
          </p:nvSpPr>
          <p:spPr>
            <a:xfrm>
              <a:off x="523875" y="5267325"/>
              <a:ext cx="5429250" cy="47625"/>
            </a:xfrm>
            <a:prstGeom prst="roundRect">
              <a:avLst>
                <a:gd name="adj" fmla="val 40000"/>
              </a:avLst>
            </a:prstGeom>
            <a:solidFill>
              <a:srgbClr val="2AA3A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4737" y="5332235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AA3A0"/>
                  </a:solidFill>
                  <a:latin typeface="Arial"/>
                  <a:ea typeface="Microsoft YaHei"/>
                  <a:cs typeface="Arial"/>
                </a:rPr>
                <a:t>输出目标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6642" y="5681802"/>
              <a:ext cx="4455796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380–780 nm 可见光范围每 10 nm 一个点，共 41 维关注相对光谱形状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45783" y="5134928"/>
              <a:ext cx="164756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为什么需要 PCA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47688" y="5484495"/>
              <a:ext cx="4987062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光谱曲线连续变化，相邻波长</a:t>
              </a:r>
              <a:r>
                <a:rPr lang="zh-CN" altLang="en-US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值</a:t>
              </a:r>
              <a:r>
                <a:rPr lang="zh-CN" sz="15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高度相关 → 适合 PCA 压缩直接预测 41 维会增加模型难度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381750" y="4714875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80750" y="6398895"/>
              <a:ext cx="445293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每条光谱除以自身最大值，模型学习光谱形状而非绝对强度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22" name="TextBox 22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06 / 15</a:t>
              </a: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11D90F11-9964-2B1B-2D40-FF5BBEEDE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0" y="619125"/>
            <a:ext cx="5738985" cy="2046134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B0F3D94B-73B4-AB6D-A694-2676BCBA56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3342" y="2704521"/>
            <a:ext cx="5738985" cy="20571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4122746" cy="921067"/>
            <a:chOff x="535305" y="379095"/>
            <a:chExt cx="4122746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07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8B6D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12274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为什么选择 5 个主成分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52450" y="1314450"/>
            <a:ext cx="688895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测试前 1～10 个主成分的累计解释方差，选择能保留大部分信息的最少数量。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71500" y="1714500"/>
            <a:ext cx="11313059" cy="4000500"/>
            <a:chOff x="571500" y="1714500"/>
            <a:chExt cx="11313059" cy="4000500"/>
          </a:xfrm>
        </p:grpSpPr>
        <p:sp>
          <p:nvSpPr>
            <p:cNvPr id="8" name="Rectangle 8"/>
            <p:cNvSpPr/>
            <p:nvPr/>
          </p:nvSpPr>
          <p:spPr>
            <a:xfrm>
              <a:off x="571500" y="1714500"/>
              <a:ext cx="11049000" cy="4000500"/>
            </a:xfrm>
            <a:prstGeom prst="roundRect">
              <a:avLst>
                <a:gd name="adj" fmla="val 2857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9" name="Rectangle 9"/>
            <p:cNvSpPr/>
            <p:nvPr/>
          </p:nvSpPr>
          <p:spPr>
            <a:xfrm>
              <a:off x="571500" y="1714500"/>
              <a:ext cx="11049000" cy="47625"/>
            </a:xfrm>
            <a:prstGeom prst="roundRect">
              <a:avLst>
                <a:gd name="adj" fmla="val 40000"/>
              </a:avLst>
            </a:prstGeom>
            <a:solidFill>
              <a:srgbClr val="8B6D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64456" y="2010728"/>
              <a:ext cx="5720103" cy="3619500"/>
            </a:xfrm>
            <a:prstGeom prst="rect">
              <a:avLst/>
            </a:prstGeom>
          </p:spPr>
        </p:pic>
      </p:grpSp>
      <p:sp>
        <p:nvSpPr>
          <p:cNvPr id="12" name="Rectangle 12"/>
          <p:cNvSpPr/>
          <p:nvPr/>
        </p:nvSpPr>
        <p:spPr>
          <a:xfrm>
            <a:off x="571500" y="5857875"/>
            <a:ext cx="11049000" cy="523875"/>
          </a:xfrm>
          <a:prstGeom prst="roundRect">
            <a:avLst>
              <a:gd name="adj" fmla="val 18182"/>
            </a:avLst>
          </a:prstGeom>
          <a:solidFill>
            <a:srgbClr val="FFF3B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742950" y="6010275"/>
            <a:ext cx="6306214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D4940A"/>
                </a:solidFill>
                <a:latin typeface="Arial"/>
                <a:ea typeface="Microsoft YaHei"/>
                <a:cs typeface="Arial"/>
              </a:rPr>
              <a:t>前 5 个主成分累计解释方差</a:t>
            </a:r>
            <a:r>
              <a:rPr lang="zh-CN" altLang="en-US" sz="1500" b="1" dirty="0">
                <a:solidFill>
                  <a:srgbClr val="D4940A"/>
                </a:solidFill>
                <a:latin typeface="Arial"/>
                <a:ea typeface="Microsoft YaHei"/>
                <a:cs typeface="Arial"/>
              </a:rPr>
              <a:t>已经</a:t>
            </a:r>
            <a:r>
              <a:rPr lang="zh-CN" sz="1500" b="1" dirty="0">
                <a:solidFill>
                  <a:srgbClr val="D4940A"/>
                </a:solidFill>
                <a:latin typeface="Arial"/>
                <a:ea typeface="Microsoft YaHei"/>
                <a:cs typeface="Arial"/>
              </a:rPr>
              <a:t>达 98.35%，足以保留绝大部分光谱信息</a:t>
            </a:r>
            <a:r>
              <a:rPr lang="zh-CN" altLang="en-US" sz="1500" b="1" dirty="0">
                <a:solidFill>
                  <a:srgbClr val="D4940A"/>
                </a:solidFill>
                <a:latin typeface="Arial"/>
                <a:ea typeface="Microsoft YaHei"/>
                <a:cs typeface="Arial"/>
              </a:rPr>
              <a:t>！</a:t>
            </a:r>
            <a:endParaRPr lang="zh-CN" sz="1500" b="1" dirty="0">
              <a:solidFill>
                <a:srgbClr val="D4940A"/>
              </a:solidFill>
              <a:latin typeface="Arial"/>
              <a:ea typeface="Microsoft YaHei"/>
              <a:cs typeface="Arial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14" name="TextBox 14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07 / 15</a:t>
              </a: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EBF14DB3-0CAB-6B9C-0981-CBA413E47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14" y="1806575"/>
            <a:ext cx="6286500" cy="3975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2446737" cy="921067"/>
            <a:chOff x="535305" y="379095"/>
            <a:chExt cx="2446737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08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8B6D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2446737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PCA 降维流程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1333500"/>
            <a:ext cx="11049000" cy="1524000"/>
            <a:chOff x="571500" y="1333500"/>
            <a:chExt cx="11049000" cy="1524000"/>
          </a:xfrm>
        </p:grpSpPr>
        <p:sp>
          <p:nvSpPr>
            <p:cNvPr id="7" name="Rectangle 7"/>
            <p:cNvSpPr/>
            <p:nvPr/>
          </p:nvSpPr>
          <p:spPr>
            <a:xfrm>
              <a:off x="571500" y="1333500"/>
              <a:ext cx="11049000" cy="1524000"/>
            </a:xfrm>
            <a:prstGeom prst="roundRect">
              <a:avLst>
                <a:gd name="adj" fmla="val 75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333500"/>
              <a:ext cx="11049000" cy="47625"/>
            </a:xfrm>
            <a:prstGeom prst="roundRect">
              <a:avLst>
                <a:gd name="adj" fmla="val 40000"/>
              </a:avLst>
            </a:prstGeom>
            <a:solidFill>
              <a:srgbClr val="8B6D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1571625"/>
              <a:ext cx="1524000" cy="1047750"/>
            </a:xfrm>
            <a:prstGeom prst="roundRect">
              <a:avLst>
                <a:gd name="adj" fmla="val 9091"/>
              </a:avLst>
            </a:prstGeom>
            <a:solidFill>
              <a:srgbClr val="8B6DB0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808" y="18545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原始光谱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9690" y="2164556"/>
              <a:ext cx="3886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41 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06015" y="1948815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667000" y="1571625"/>
              <a:ext cx="1524000" cy="1047750"/>
            </a:xfrm>
            <a:prstGeom prst="roundRect">
              <a:avLst>
                <a:gd name="adj" fmla="val 9091"/>
              </a:avLst>
            </a:prstGeom>
            <a:solidFill>
              <a:srgbClr val="D4940A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28320" y="185451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标准化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55893" y="2164556"/>
              <a:ext cx="11462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StandardScaler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11015" y="1948815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572000" y="1571625"/>
              <a:ext cx="1524000" cy="1047750"/>
            </a:xfrm>
            <a:prstGeom prst="roundRect">
              <a:avLst>
                <a:gd name="adj" fmla="val 9091"/>
              </a:avLst>
            </a:prstGeom>
            <a:solidFill>
              <a:srgbClr val="E8842A">
                <a:alpha val="5000"/>
              </a:srgbClr>
            </a:solidFill>
            <a:ln w="31750" cmpd="dbl">
              <a:solidFill>
                <a:schemeClr val="accent6">
                  <a:lumMod val="75000"/>
                  <a:alpha val="81834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43533" y="1854518"/>
              <a:ext cx="7809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8842A"/>
                  </a:solidFill>
                  <a:latin typeface="Arial"/>
                  <a:ea typeface="Microsoft YaHei"/>
                  <a:cs typeface="Arial"/>
                </a:rPr>
                <a:t>PCA 降维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955917" y="2164556"/>
              <a:ext cx="7561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5 个主成分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16015" y="1948815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477000" y="1571625"/>
              <a:ext cx="1524000" cy="1047750"/>
            </a:xfrm>
            <a:prstGeom prst="roundRect">
              <a:avLst>
                <a:gd name="adj" fmla="val 9091"/>
              </a:avLst>
            </a:prstGeom>
            <a:solidFill>
              <a:srgbClr val="3D8B5E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43808" y="18545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模型预测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24675" y="216455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回归模型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21015" y="1948815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82000" y="1571625"/>
              <a:ext cx="1524000" cy="1047750"/>
            </a:xfrm>
            <a:prstGeom prst="roundRect">
              <a:avLst>
                <a:gd name="adj" fmla="val 9091"/>
              </a:avLst>
            </a:prstGeom>
            <a:solidFill>
              <a:srgbClr val="2AA3A0">
                <a:alpha val="5000"/>
              </a:srgbClr>
            </a:solidFill>
            <a:ln w="31750" cmpd="thickThin">
              <a:solidFill>
                <a:schemeClr val="accent1">
                  <a:lumMod val="75000"/>
                  <a:alpha val="54000"/>
                </a:scheme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59022" y="1854518"/>
              <a:ext cx="9699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AA3A0"/>
                  </a:solidFill>
                  <a:latin typeface="Arial"/>
                  <a:ea typeface="Microsoft YaHei"/>
                  <a:cs typeface="Arial"/>
                </a:rPr>
                <a:t>PCA 逆变换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77168" y="2164556"/>
              <a:ext cx="7336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还原 41 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026015" y="1948815"/>
              <a:ext cx="1777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0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0287000" y="1571625"/>
              <a:ext cx="1143000" cy="1047750"/>
            </a:xfrm>
            <a:prstGeom prst="roundRect">
              <a:avLst>
                <a:gd name="adj" fmla="val 9091"/>
              </a:avLst>
            </a:prstGeom>
            <a:solidFill>
              <a:srgbClr val="D46B8C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652331" y="18545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46B8C"/>
                  </a:solidFill>
                  <a:latin typeface="Arial"/>
                  <a:ea typeface="Microsoft YaHei"/>
                  <a:cs typeface="Arial"/>
                </a:rPr>
                <a:t>光谱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544175" y="216455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还原曲线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3143250"/>
            <a:ext cx="11049000" cy="2476500"/>
            <a:chOff x="571500" y="3143250"/>
            <a:chExt cx="11049000" cy="2476500"/>
          </a:xfrm>
        </p:grpSpPr>
        <p:sp>
          <p:nvSpPr>
            <p:cNvPr id="33" name="Rectangle 33"/>
            <p:cNvSpPr/>
            <p:nvPr/>
          </p:nvSpPr>
          <p:spPr>
            <a:xfrm>
              <a:off x="571500" y="3143250"/>
              <a:ext cx="5334000" cy="2476500"/>
            </a:xfrm>
            <a:prstGeom prst="roundRect">
              <a:avLst>
                <a:gd name="adj" fmla="val 4615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71500" y="3143250"/>
              <a:ext cx="5334000" cy="47625"/>
            </a:xfrm>
            <a:prstGeom prst="roundRect">
              <a:avLst>
                <a:gd name="adj" fmla="val 40000"/>
              </a:avLst>
            </a:prstGeom>
            <a:solidFill>
              <a:srgbClr val="3D8B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1045" y="334613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为什么要这样做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3902" y="3703796"/>
              <a:ext cx="2877502" cy="14325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42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原始光谱 41 维，相邻波长强相关，直接预测维度高、难度大。PCA 把主要变化压缩成 5 个系数，既保留形状信息（98.3%），也便于回归模型学习。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191250" y="3143250"/>
              <a:ext cx="5429250" cy="2476500"/>
            </a:xfrm>
            <a:prstGeom prst="roundRect">
              <a:avLst>
                <a:gd name="adj" fmla="val 4615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191250" y="3143250"/>
              <a:ext cx="5429250" cy="47625"/>
            </a:xfrm>
            <a:prstGeom prst="roundRect">
              <a:avLst>
                <a:gd name="adj" fmla="val 40000"/>
              </a:avLst>
            </a:prstGeom>
            <a:solidFill>
              <a:srgbClr val="D4940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60795" y="3346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关键数字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381750" y="3762375"/>
              <a:ext cx="228600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01858" y="3884295"/>
              <a:ext cx="245783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8B6DB0"/>
                  </a:solidFill>
                  <a:latin typeface="Consolas"/>
                  <a:ea typeface="Microsoft YaHei"/>
                  <a:cs typeface="Consola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61371" y="42491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主成分数量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953500" y="3762375"/>
              <a:ext cx="2286000" cy="666750"/>
            </a:xfrm>
            <a:prstGeom prst="roundRect">
              <a:avLst>
                <a:gd name="adj" fmla="val 11429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570358" y="3884295"/>
              <a:ext cx="105228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D4940A"/>
                  </a:solidFill>
                  <a:latin typeface="Consolas"/>
                  <a:ea typeface="Microsoft YaHei"/>
                  <a:cs typeface="Consolas"/>
                </a:rPr>
                <a:t>98.3%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63112" y="42491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累计解释方差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65558" y="4720114"/>
              <a:ext cx="463146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PCA 不是为了让结果更"高级"，而是为了让模型更容易学习。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48" name="TextBox 48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08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29817" y="9939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5116785" cy="780529"/>
            <a:chOff x="535305" y="379095"/>
            <a:chExt cx="5116785" cy="780529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09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C0704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5116785" cy="4385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尝试多种模型，用结果选择方案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52450" y="1266825"/>
            <a:ext cx="5071901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把光谱估计作为回归问题，尝试课程中涉及的</a:t>
            </a:r>
            <a:r>
              <a:rPr lang="zh-CN" altLang="en-US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多种</a:t>
            </a:r>
            <a:r>
              <a:rPr lang="zh-CN" sz="1500" dirty="0">
                <a:solidFill>
                  <a:srgbClr val="8C8578"/>
                </a:solidFill>
                <a:latin typeface="Arial"/>
                <a:ea typeface="Microsoft YaHei"/>
                <a:cs typeface="Arial"/>
              </a:rPr>
              <a:t>模型路线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571500" y="1714500"/>
            <a:ext cx="11239500" cy="2667000"/>
            <a:chOff x="571500" y="1714500"/>
            <a:chExt cx="11239500" cy="2667000"/>
          </a:xfrm>
        </p:grpSpPr>
        <p:sp>
          <p:nvSpPr>
            <p:cNvPr id="8" name="Rectangle 8"/>
            <p:cNvSpPr/>
            <p:nvPr/>
          </p:nvSpPr>
          <p:spPr>
            <a:xfrm>
              <a:off x="571500" y="1714500"/>
              <a:ext cx="2095500" cy="2667000"/>
            </a:xfrm>
            <a:prstGeom prst="roundRect">
              <a:avLst>
                <a:gd name="adj" fmla="val 5455"/>
              </a:avLst>
            </a:prstGeom>
            <a:solidFill>
              <a:srgbClr val="64748B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9"/>
            <p:cNvSpPr/>
            <p:nvPr/>
          </p:nvSpPr>
          <p:spPr>
            <a:xfrm>
              <a:off x="571500" y="1714500"/>
              <a:ext cx="2095500" cy="47625"/>
            </a:xfrm>
            <a:prstGeom prst="roundRect">
              <a:avLst>
                <a:gd name="adj" fmla="val 40000"/>
              </a:avLst>
            </a:prstGeom>
            <a:solidFill>
              <a:srgbClr val="64748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97087" y="1914525"/>
              <a:ext cx="184432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Linear Regression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3950" y="22326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线性基准模型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62000" y="25527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808" y="2719864"/>
              <a:ext cx="20726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观察问题是否接近线性关系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808" y="3005614"/>
              <a:ext cx="13925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最简单的回归模型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6760" y="32994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误差明显较大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714500"/>
              <a:ext cx="2095500" cy="2667000"/>
            </a:xfrm>
            <a:prstGeom prst="roundRect">
              <a:avLst>
                <a:gd name="adj" fmla="val 5455"/>
              </a:avLst>
            </a:prstGeom>
            <a:solidFill>
              <a:srgbClr val="2AA3A0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857500" y="1714500"/>
              <a:ext cx="2095500" cy="47625"/>
            </a:xfrm>
            <a:prstGeom prst="roundRect">
              <a:avLst>
                <a:gd name="adj" fmla="val 40000"/>
              </a:avLst>
            </a:prstGeom>
            <a:solidFill>
              <a:srgbClr val="2AA3A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12928" y="1914525"/>
              <a:ext cx="38464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AA3A0"/>
                  </a:solidFill>
                  <a:latin typeface="Arial"/>
                  <a:ea typeface="Microsoft YaHei"/>
                  <a:cs typeface="Arial"/>
                </a:rPr>
                <a:t>KNN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01961" y="2232660"/>
              <a:ext cx="8065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K 近邻回归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3048000" y="25527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31808" y="2719864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基于邻域的非参数模型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31808" y="3005614"/>
              <a:ext cx="19281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MAE 略低但 RMSE 不占优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143500" y="1714500"/>
              <a:ext cx="2095500" cy="2667000"/>
            </a:xfrm>
            <a:prstGeom prst="roundRect">
              <a:avLst>
                <a:gd name="adj" fmla="val 5455"/>
              </a:avLst>
            </a:prstGeom>
            <a:solidFill>
              <a:srgbClr val="E8842A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143500" y="1714500"/>
              <a:ext cx="2095500" cy="47625"/>
            </a:xfrm>
            <a:prstGeom prst="roundRect">
              <a:avLst>
                <a:gd name="adj" fmla="val 40000"/>
              </a:avLst>
            </a:prstGeom>
            <a:solidFill>
              <a:srgbClr val="E8842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00116" y="1914525"/>
              <a:ext cx="13822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8842A"/>
                  </a:solidFill>
                  <a:latin typeface="Arial"/>
                  <a:ea typeface="Microsoft YaHei"/>
                  <a:cs typeface="Arial"/>
                </a:rPr>
                <a:t>Decision Tree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75960" y="223266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决策树回归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334000" y="25527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17808" y="2719864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单棵决策树，中间对比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17808" y="3005614"/>
              <a:ext cx="15625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稳定性不如集成模型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429500" y="1714500"/>
              <a:ext cx="2095500" cy="2667000"/>
            </a:xfrm>
            <a:prstGeom prst="roundRect">
              <a:avLst>
                <a:gd name="adj" fmla="val 5455"/>
              </a:avLst>
            </a:prstGeom>
            <a:solidFill>
              <a:srgbClr val="C07040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429500" y="1714500"/>
              <a:ext cx="2095500" cy="47625"/>
            </a:xfrm>
            <a:prstGeom prst="roundRect">
              <a:avLst>
                <a:gd name="adj" fmla="val 40000"/>
              </a:avLst>
            </a:prstGeom>
            <a:solidFill>
              <a:srgbClr val="C0704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12607" y="1914525"/>
              <a:ext cx="15292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Random Forest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81950" y="22326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随机森林回归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7620000" y="25527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03808" y="2719864"/>
              <a:ext cx="10525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集成学习模型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03808" y="3005614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关注稳定性和非线性拟合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620000" y="3333750"/>
              <a:ext cx="1714500" cy="699778"/>
            </a:xfrm>
            <a:prstGeom prst="roundRect">
              <a:avLst>
                <a:gd name="adj" fmla="val 20000"/>
              </a:avLst>
            </a:prstGeom>
            <a:solidFill>
              <a:srgbClr val="C07040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08126" y="3426420"/>
              <a:ext cx="964424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b="1" dirty="0">
                  <a:solidFill>
                    <a:srgbClr val="00B050"/>
                  </a:solidFill>
                  <a:latin typeface="Arial"/>
                  <a:ea typeface="Microsoft YaHei"/>
                  <a:cs typeface="Arial"/>
                </a:rPr>
                <a:t>最终选择 ✓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715500" y="1714500"/>
              <a:ext cx="2095500" cy="2667000"/>
            </a:xfrm>
            <a:prstGeom prst="roundRect">
              <a:avLst>
                <a:gd name="adj" fmla="val 5455"/>
              </a:avLst>
            </a:prstGeom>
            <a:solidFill>
              <a:srgbClr val="8B6DB0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715500" y="1714500"/>
              <a:ext cx="2095500" cy="47625"/>
            </a:xfrm>
            <a:prstGeom prst="roundRect">
              <a:avLst>
                <a:gd name="adj" fmla="val 40000"/>
              </a:avLst>
            </a:prstGeom>
            <a:solidFill>
              <a:srgbClr val="8B6D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549926" y="1914525"/>
              <a:ext cx="4266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MLP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67950" y="22326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神经网络回归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9906000" y="25527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89808" y="2719864"/>
              <a:ext cx="15625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更复杂的非线性模型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89808" y="3005614"/>
              <a:ext cx="163058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R² 略高但 RMSE 更大</a:t>
              </a:r>
            </a:p>
          </p:txBody>
        </p:sp>
      </p:grpSp>
      <p:sp>
        <p:nvSpPr>
          <p:cNvPr id="48" name="Rectangle 48"/>
          <p:cNvSpPr/>
          <p:nvPr/>
        </p:nvSpPr>
        <p:spPr>
          <a:xfrm>
            <a:off x="571500" y="4667250"/>
            <a:ext cx="11049000" cy="857250"/>
          </a:xfrm>
          <a:prstGeom prst="roundRect">
            <a:avLst>
              <a:gd name="adj" fmla="val 11111"/>
            </a:avLst>
          </a:prstGeom>
          <a:solidFill>
            <a:srgbClr val="FFF8E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Rectangle 49"/>
          <p:cNvSpPr/>
          <p:nvPr/>
        </p:nvSpPr>
        <p:spPr>
          <a:xfrm>
            <a:off x="571500" y="4667250"/>
            <a:ext cx="11049000" cy="47625"/>
          </a:xfrm>
          <a:prstGeom prst="roundRect">
            <a:avLst>
              <a:gd name="adj" fmla="val 40000"/>
            </a:avLst>
          </a:prstGeom>
          <a:solidFill>
            <a:srgbClr val="C0704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Box 50"/>
          <p:cNvSpPr txBox="1"/>
          <p:nvPr/>
        </p:nvSpPr>
        <p:spPr>
          <a:xfrm>
            <a:off x="743902" y="4846796"/>
            <a:ext cx="806469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所有模型使用相同的数据划分、相同输入特征和相同 PCA 输出目标，最后用统一指标比较效果。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44855" y="5188268"/>
            <a:ext cx="43723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07040"/>
                </a:solidFill>
                <a:latin typeface="Arial"/>
                <a:ea typeface="Microsoft YaHei"/>
                <a:cs typeface="Arial"/>
              </a:rPr>
              <a:t>评价维度：MAE / RMSE / R² / 训练时间 / 推理时间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52" name="TextBox 52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09 / 15</a:t>
              </a:r>
            </a:p>
          </p:txBody>
        </p:sp>
      </p:grpSp>
      <p:pic>
        <p:nvPicPr>
          <p:cNvPr id="55" name="Image 32">
            <a:extLst>
              <a:ext uri="{FF2B5EF4-FFF2-40B4-BE49-F238E27FC236}">
                <a16:creationId xmlns:a16="http://schemas.microsoft.com/office/drawing/2014/main" id="{67028CC4-FF6A-7B6E-14AC-7B8BA7D3B6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107444">
            <a:off x="9516334" y="1452531"/>
            <a:ext cx="512030" cy="512030"/>
          </a:xfrm>
          <a:prstGeom prst="rect">
            <a:avLst/>
          </a:prstGeom>
        </p:spPr>
      </p:pic>
      <p:pic>
        <p:nvPicPr>
          <p:cNvPr id="56" name="Image 32">
            <a:extLst>
              <a:ext uri="{FF2B5EF4-FFF2-40B4-BE49-F238E27FC236}">
                <a16:creationId xmlns:a16="http://schemas.microsoft.com/office/drawing/2014/main" id="{4E5E085F-29EB-B595-F09D-F81BB187D2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107444">
            <a:off x="7036356" y="1112896"/>
            <a:ext cx="1071287" cy="10712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svg="http://schemas.microsoft.com/office/drawing/2016/SVG/main" xmlns:a16="http://schemas.microsoft.com/office/drawing/2014/main"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200025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4860988" cy="921067"/>
            <a:chOff x="535305" y="379095"/>
            <a:chExt cx="4860988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10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C0704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86098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五个模型在同一数据上评价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71500" y="1238250"/>
            <a:ext cx="11049000" cy="2381250"/>
            <a:chOff x="571500" y="1238250"/>
            <a:chExt cx="11049000" cy="238125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11049000" cy="2095500"/>
            </a:xfrm>
            <a:prstGeom prst="roundRect">
              <a:avLst>
                <a:gd name="adj" fmla="val 5455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11049000" cy="47625"/>
            </a:xfrm>
            <a:prstGeom prst="roundRect">
              <a:avLst>
                <a:gd name="adj" fmla="val 40000"/>
              </a:avLst>
            </a:prstGeom>
            <a:solidFill>
              <a:srgbClr val="C0704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9"/>
            <p:cNvSpPr/>
            <p:nvPr/>
          </p:nvSpPr>
          <p:spPr>
            <a:xfrm>
              <a:off x="571500" y="1285875"/>
              <a:ext cx="11049000" cy="381000"/>
            </a:xfrm>
            <a:prstGeom prst="rect">
              <a:avLst/>
            </a:prstGeom>
            <a:solidFill>
              <a:srgbClr val="C07040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31239" y="13944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模型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39341" y="1394460"/>
              <a:ext cx="3413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MAE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17135" y="1394460"/>
              <a:ext cx="4337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RMSE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50348" y="1394460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R²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06327" y="1394460"/>
              <a:ext cx="55134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训练/s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30327" y="1394460"/>
              <a:ext cx="55134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预测/s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" y="1714500"/>
              <a:ext cx="11049000" cy="381000"/>
            </a:xfrm>
            <a:prstGeom prst="rect">
              <a:avLst/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79711" y="1806892"/>
              <a:ext cx="1269578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B050"/>
                  </a:solidFill>
                  <a:latin typeface="Arial"/>
                  <a:ea typeface="Microsoft YaHei"/>
                  <a:cs typeface="Arial"/>
                </a:rPr>
                <a:t>Random Forest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95818" y="1806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0.0051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762500" y="1809750"/>
              <a:ext cx="1143000" cy="238125"/>
            </a:xfrm>
            <a:prstGeom prst="roundRect">
              <a:avLst>
                <a:gd name="adj" fmla="val 16000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50268" y="1806892"/>
              <a:ext cx="567463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B050"/>
                  </a:solidFill>
                  <a:latin typeface="Consolas"/>
                  <a:ea typeface="Microsoft YaHei"/>
                  <a:cs typeface="Consolas"/>
                </a:rPr>
                <a:t>0.0086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21557" y="1806892"/>
              <a:ext cx="472885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Consolas"/>
                  <a:ea typeface="Microsoft YaHei"/>
                  <a:cs typeface="Consolas"/>
                </a:rPr>
                <a:t>0.959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66830" y="1806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0.94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716845" y="1806892"/>
              <a:ext cx="378310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</a:t>
              </a:r>
              <a:r>
                <a:rPr lang="en-US" alt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1</a:t>
              </a:r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48836" y="2187892"/>
              <a:ext cx="3313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KNN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95818" y="2187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0.0050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19818" y="2187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0.0090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93324" y="2187892"/>
              <a:ext cx="5293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0.954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66830" y="2187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90830" y="2187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0.14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71500" y="2476500"/>
              <a:ext cx="11049000" cy="381000"/>
            </a:xfrm>
            <a:prstGeom prst="rect">
              <a:avLst/>
            </a:prstGeom>
            <a:solidFill>
              <a:srgbClr val="8B6DB0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36566" y="2568892"/>
              <a:ext cx="355867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rial"/>
                  <a:ea typeface="Microsoft YaHei"/>
                  <a:cs typeface="Arial"/>
                </a:rPr>
                <a:t>MLP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95818" y="2568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0.0058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19818" y="2568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0.0095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86500" y="2571750"/>
              <a:ext cx="1143000" cy="238125"/>
            </a:xfrm>
            <a:prstGeom prst="roundRect">
              <a:avLst>
                <a:gd name="adj" fmla="val 16000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80948" y="2568892"/>
              <a:ext cx="5541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B6DB0"/>
                  </a:solidFill>
                  <a:latin typeface="Consolas"/>
                  <a:ea typeface="Microsoft YaHei"/>
                  <a:cs typeface="Consolas"/>
                </a:rPr>
                <a:t>0.962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66830" y="2568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1.87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716844" y="2568892"/>
              <a:ext cx="378310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</a:t>
              </a:r>
              <a:r>
                <a:rPr lang="en-US" alt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22</a:t>
              </a:r>
              <a:endParaRPr lang="zh-CN" sz="1350" dirty="0">
                <a:solidFill>
                  <a:srgbClr val="2D2A26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1283" y="2949892"/>
              <a:ext cx="11864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Decision Tree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495818" y="2949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0.0054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019818" y="2949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0.0124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93324" y="2949892"/>
              <a:ext cx="5293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0.870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66830" y="2949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690830" y="2949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71500" y="3238500"/>
              <a:ext cx="11049000" cy="381000"/>
            </a:xfrm>
            <a:prstGeom prst="rect">
              <a:avLst/>
            </a:prstGeom>
            <a:solidFill>
              <a:srgbClr val="64748B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12384" y="3330892"/>
              <a:ext cx="1404231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>
                      <a:lumMod val="50000"/>
                    </a:schemeClr>
                  </a:solidFill>
                  <a:latin typeface="Arial"/>
                  <a:ea typeface="Microsoft YaHei"/>
                  <a:cs typeface="Arial"/>
                </a:rPr>
                <a:t>Linear Regression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495818" y="3330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0.0225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19818" y="3330892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06B5E"/>
                  </a:solidFill>
                  <a:latin typeface="Consolas"/>
                  <a:ea typeface="Microsoft YaHei"/>
                  <a:cs typeface="Consolas"/>
                </a:rPr>
                <a:t>0.0376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93324" y="3330892"/>
              <a:ext cx="5293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06B5E"/>
                  </a:solidFill>
                  <a:latin typeface="Consolas"/>
                  <a:ea typeface="Microsoft YaHei"/>
                  <a:cs typeface="Consolas"/>
                </a:rPr>
                <a:t>0.635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166830" y="3330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690830" y="3330892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0.01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82930" y="3643313"/>
            <a:ext cx="11049000" cy="2690812"/>
            <a:chOff x="571500" y="3524250"/>
            <a:chExt cx="11049000" cy="2690812"/>
          </a:xfrm>
        </p:grpSpPr>
        <p:sp>
          <p:nvSpPr>
            <p:cNvPr id="52" name="Rectangle 52"/>
            <p:cNvSpPr/>
            <p:nvPr/>
          </p:nvSpPr>
          <p:spPr>
            <a:xfrm>
              <a:off x="571500" y="3524250"/>
              <a:ext cx="11049000" cy="2286000"/>
            </a:xfrm>
            <a:prstGeom prst="roundRect">
              <a:avLst>
                <a:gd name="adj" fmla="val 50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71500" y="3524250"/>
              <a:ext cx="11049000" cy="47625"/>
            </a:xfrm>
            <a:prstGeom prst="roundRect">
              <a:avLst>
                <a:gd name="adj" fmla="val 40000"/>
              </a:avLst>
            </a:prstGeom>
            <a:solidFill>
              <a:srgbClr val="D4940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69271" y="3605212"/>
              <a:ext cx="9453457" cy="2609850"/>
            </a:xfrm>
            <a:prstGeom prst="rect">
              <a:avLst/>
            </a:prstGeom>
          </p:spPr>
        </p:pic>
      </p:grpSp>
      <p:sp>
        <p:nvSpPr>
          <p:cNvPr id="56" name="Rectangle 56"/>
          <p:cNvSpPr/>
          <p:nvPr/>
        </p:nvSpPr>
        <p:spPr>
          <a:xfrm>
            <a:off x="742950" y="6362700"/>
            <a:ext cx="11049000" cy="428625"/>
          </a:xfrm>
          <a:prstGeom prst="roundRect">
            <a:avLst>
              <a:gd name="adj" fmla="val 17778"/>
            </a:avLst>
          </a:prstGeom>
          <a:solidFill>
            <a:srgbClr val="FFF3B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Box 57"/>
          <p:cNvSpPr txBox="1"/>
          <p:nvPr/>
        </p:nvSpPr>
        <p:spPr>
          <a:xfrm>
            <a:off x="5756011" y="6448425"/>
            <a:ext cx="580332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07040"/>
                </a:solidFill>
                <a:latin typeface="Arial"/>
                <a:ea typeface="Microsoft YaHei"/>
                <a:cs typeface="Arial"/>
              </a:rPr>
              <a:t>随机森林 RMSE 最低（0.0086），综合稳定性最好 → 最终选择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B0A898"/>
                </a:solidFill>
                <a:latin typeface="Arial"/>
                <a:ea typeface="Microsoft YaHei"/>
                <a:cs typeface="Arial"/>
              </a:rPr>
              <a:t>10 / 15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7414908" cy="921067"/>
            <a:chOff x="535305" y="379095"/>
            <a:chExt cx="7414908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11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D4940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741490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选择 Random Forest：效果与成本更平衡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1238250"/>
            <a:ext cx="5715000" cy="4572000"/>
            <a:chOff x="571500" y="1238250"/>
            <a:chExt cx="5715000" cy="457200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71500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715000" cy="47625"/>
            </a:xfrm>
            <a:prstGeom prst="roundRect">
              <a:avLst>
                <a:gd name="adj" fmla="val 40000"/>
              </a:avLst>
            </a:prstGeom>
            <a:solidFill>
              <a:srgbClr val="D4940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1476375"/>
              <a:ext cx="5334000" cy="857250"/>
            </a:xfrm>
            <a:prstGeom prst="roundRect">
              <a:avLst>
                <a:gd name="adj" fmla="val 8889"/>
              </a:avLst>
            </a:prstGeom>
            <a:solidFill>
              <a:srgbClr val="E06B5E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3450" y="1600200"/>
              <a:ext cx="153888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线性回归</a:t>
              </a:r>
              <a:r>
                <a:rPr lang="zh-CN" altLang="en-US" sz="150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作为基线</a:t>
              </a:r>
              <a:endParaRPr lang="zh-CN" sz="1500" b="1" dirty="0">
                <a:solidFill>
                  <a:srgbClr val="E06B5E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5355" y="1930718"/>
              <a:ext cx="4866717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误差明显较大（RMSE=0.0376），</a:t>
              </a:r>
              <a:r>
                <a:rPr lang="zh-CN" altLang="en-US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说明数据</a:t>
              </a:r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不是简单线性关系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62000" y="24765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2619375"/>
              <a:ext cx="5334000" cy="857250"/>
            </a:xfrm>
            <a:prstGeom prst="roundRect">
              <a:avLst>
                <a:gd name="adj" fmla="val 8889"/>
              </a:avLst>
            </a:prstGeom>
            <a:solidFill>
              <a:srgbClr val="8B6DB0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3450" y="2743200"/>
              <a:ext cx="153978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为什么关注 MLP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5355" y="3073718"/>
              <a:ext cx="4039567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代表神经网络路线，R² 略高但训练</a:t>
              </a:r>
              <a:r>
                <a:rPr lang="zh-CN" altLang="en-US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、预测计算量</a:t>
              </a:r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更</a:t>
              </a:r>
              <a:r>
                <a:rPr lang="zh-CN" altLang="en-US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大</a:t>
              </a:r>
              <a:endParaRPr lang="zh-CN" sz="1350" dirty="0">
                <a:solidFill>
                  <a:srgbClr val="2D2A26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6" name="Line 16"/>
            <p:cNvSpPr/>
            <p:nvPr/>
          </p:nvSpPr>
          <p:spPr>
            <a:xfrm>
              <a:off x="762000" y="36195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3762375"/>
              <a:ext cx="5334000" cy="952500"/>
            </a:xfrm>
            <a:prstGeom prst="roundRect">
              <a:avLst>
                <a:gd name="adj" fmla="val 8000"/>
              </a:avLst>
            </a:prstGeom>
            <a:solidFill>
              <a:srgbClr val="D4940A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3450" y="3914775"/>
              <a:ext cx="30624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为什么最终选择 Random Forest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5355" y="4235768"/>
              <a:ext cx="35807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RMSE 最低、推理成本低、集成模型稳定性好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762000" y="48577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5355" y="50453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选择依据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6308" y="5339239"/>
              <a:ext cx="3351880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不只看 R²，也结合 RMSE、成本和预测稳定性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572250" y="1238250"/>
            <a:ext cx="5048250" cy="4572000"/>
            <a:chOff x="6572250" y="1238250"/>
            <a:chExt cx="5048250" cy="4572000"/>
          </a:xfrm>
        </p:grpSpPr>
        <p:sp>
          <p:nvSpPr>
            <p:cNvPr id="24" name="Rectangle 24"/>
            <p:cNvSpPr/>
            <p:nvPr/>
          </p:nvSpPr>
          <p:spPr>
            <a:xfrm>
              <a:off x="6572250" y="1238250"/>
              <a:ext cx="504825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72250" y="1238250"/>
              <a:ext cx="5048250" cy="47625"/>
            </a:xfrm>
            <a:prstGeom prst="roundRect">
              <a:avLst>
                <a:gd name="adj" fmla="val 40000"/>
              </a:avLst>
            </a:prstGeom>
            <a:solidFill>
              <a:srgbClr val="C0704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41795" y="1488758"/>
              <a:ext cx="108202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RF vs MLP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762750" y="1905000"/>
              <a:ext cx="4667250" cy="1047750"/>
            </a:xfrm>
            <a:prstGeom prst="roundRect">
              <a:avLst>
                <a:gd name="adj" fmla="val 7273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34200" y="2076450"/>
              <a:ext cx="15292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Random Forest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37058" y="2386489"/>
              <a:ext cx="328829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RMSE: 0.0086 · R²: 0.959 · 训练: 0.94s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38010" y="2680335"/>
              <a:ext cx="18031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RMSE 最低，综合最优 ✓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762750" y="3143250"/>
              <a:ext cx="4667250" cy="1047750"/>
            </a:xfrm>
            <a:prstGeom prst="roundRect">
              <a:avLst>
                <a:gd name="adj" fmla="val 7273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34200" y="3314700"/>
              <a:ext cx="4266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MLP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37058" y="3624739"/>
              <a:ext cx="328829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Consolas"/>
                  <a:ea typeface="Microsoft YaHei"/>
                  <a:cs typeface="Consolas"/>
                </a:rPr>
                <a:t>RMSE: 0.0095 · R²: 0.962 · 训练: 1.87s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38010" y="3918585"/>
              <a:ext cx="23347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R² 略高但 RMSE 更大、训练更慢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762750" y="4381500"/>
              <a:ext cx="4667250" cy="1238250"/>
            </a:xfrm>
            <a:prstGeom prst="roundRect">
              <a:avLst>
                <a:gd name="adj" fmla="val 6154"/>
              </a:avLst>
            </a:prstGeom>
            <a:solidFill>
              <a:srgbClr val="D4940A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35152" y="4561046"/>
              <a:ext cx="365485" cy="219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结论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36105" y="4883468"/>
              <a:ext cx="38147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以实验结果为依据，不预先认定某个模型最好。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36105" y="5188268"/>
              <a:ext cx="30406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综合 RMSE、稳定性和推理成本选择。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40" name="TextBox 40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11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4461939" cy="921067"/>
            <a:chOff x="535305" y="379095"/>
            <a:chExt cx="4461939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12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C0704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46193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随机森林参数设置与调优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1238250"/>
            <a:ext cx="5334000" cy="2714625"/>
            <a:chOff x="571500" y="1238250"/>
            <a:chExt cx="5334000" cy="2714625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334000" cy="2667000"/>
            </a:xfrm>
            <a:prstGeom prst="roundRect">
              <a:avLst>
                <a:gd name="adj" fmla="val 4286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334000" cy="47625"/>
            </a:xfrm>
            <a:prstGeom prst="roundRect">
              <a:avLst>
                <a:gd name="adj" fmla="val 40000"/>
              </a:avLst>
            </a:prstGeom>
            <a:solidFill>
              <a:srgbClr val="C0704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1045" y="14220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关键参数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762125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C07040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6308" y="1910239"/>
              <a:ext cx="120170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07040"/>
                  </a:solidFill>
                  <a:latin typeface="Consolas"/>
                  <a:ea typeface="Microsoft YaHei"/>
                  <a:cs typeface="Consolas"/>
                </a:rPr>
                <a:t>n_estimators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32760" y="1918335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决策树数量，越多越稳定但训练越慢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2333625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D4940A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6308" y="2481739"/>
              <a:ext cx="95177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D4940A"/>
                  </a:solidFill>
                  <a:latin typeface="Consolas"/>
                  <a:ea typeface="Microsoft YaHei"/>
                  <a:cs typeface="Consolas"/>
                </a:rPr>
                <a:t>max_depth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32760" y="2489835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树的最大深度，控制模型复杂度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2905125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8B6DB0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6308" y="3053239"/>
              <a:ext cx="15944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8B6DB0"/>
                  </a:solidFill>
                  <a:latin typeface="Consolas"/>
                  <a:ea typeface="Microsoft YaHei"/>
                  <a:cs typeface="Consolas"/>
                </a:rPr>
                <a:t>min_samples_split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32760" y="3061335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内部节点再分裂所需最小样本数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3476625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3D8B5E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6308" y="3624739"/>
              <a:ext cx="124633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3D8B5E"/>
                  </a:solidFill>
                  <a:latin typeface="Consolas"/>
                  <a:ea typeface="Microsoft YaHei"/>
                  <a:cs typeface="Consolas"/>
                </a:rPr>
                <a:t>random_state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32760" y="3632835"/>
              <a:ext cx="6155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随机种子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4095750"/>
            <a:ext cx="5334000" cy="1776412"/>
            <a:chOff x="571500" y="4095750"/>
            <a:chExt cx="5334000" cy="1776412"/>
          </a:xfrm>
        </p:grpSpPr>
        <p:sp>
          <p:nvSpPr>
            <p:cNvPr id="23" name="Rectangle 23"/>
            <p:cNvSpPr/>
            <p:nvPr/>
          </p:nvSpPr>
          <p:spPr>
            <a:xfrm>
              <a:off x="571500" y="4095750"/>
              <a:ext cx="5334000" cy="1714500"/>
            </a:xfrm>
            <a:prstGeom prst="roundRect">
              <a:avLst>
                <a:gd name="adj" fmla="val 6667"/>
              </a:avLst>
            </a:prstGeom>
            <a:solidFill>
              <a:srgbClr val="2D2A2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6760" y="42519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代码示例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8665" y="4553902"/>
              <a:ext cx="37791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from sklearn.ensemble import RandomForestRegressor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8665" y="4763452"/>
              <a:ext cx="34921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from sklearn.model_selection import GridSearchCV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8665" y="5030152"/>
              <a:ext cx="10277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param_grid = {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8665" y="5239702"/>
              <a:ext cx="23789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'n_estimators': [100, 200, 300],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8665" y="5449252"/>
              <a:ext cx="20289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'max_depth': [10, 20, None]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8665" y="5658802"/>
              <a:ext cx="1036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}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191250" y="1238250"/>
            <a:ext cx="5429250" cy="4572000"/>
            <a:chOff x="6191250" y="1238250"/>
            <a:chExt cx="5429250" cy="4572000"/>
          </a:xfrm>
        </p:grpSpPr>
        <p:sp>
          <p:nvSpPr>
            <p:cNvPr id="32" name="Rectangle 32"/>
            <p:cNvSpPr/>
            <p:nvPr/>
          </p:nvSpPr>
          <p:spPr>
            <a:xfrm>
              <a:off x="6191250" y="1238250"/>
              <a:ext cx="542925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191250" y="1238250"/>
              <a:ext cx="5429250" cy="47625"/>
            </a:xfrm>
            <a:prstGeom prst="roundRect">
              <a:avLst>
                <a:gd name="adj" fmla="val 40000"/>
              </a:avLst>
            </a:prstGeom>
            <a:solidFill>
              <a:srgbClr val="D4940A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60795" y="14220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调优过程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381750" y="176212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FFF3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55105" y="1902142"/>
              <a:ext cx="14330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1. 参数对比实验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57010" y="215646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固定其他参数，逐一测试各参数的影响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381750" y="252412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C07040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55105" y="2664142"/>
              <a:ext cx="1055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07040"/>
                  </a:solidFill>
                  <a:latin typeface="Arial"/>
                  <a:ea typeface="Microsoft YaHei"/>
                  <a:cs typeface="Arial"/>
                </a:rPr>
                <a:t>2. 交叉验证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57010" y="2918460"/>
              <a:ext cx="27748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使用 K 折交叉验证评估参数组合稳定性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381750" y="328612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8B6DB0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55105" y="3426142"/>
              <a:ext cx="14330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3. 选择最优组合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57010" y="3680460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综合 RMSE 和训练时间选择最佳参数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381750" y="404812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3D8B5E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55105" y="4188142"/>
              <a:ext cx="1055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4. 最终模型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57010" y="444246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使用调优后的参数训练最终模型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381750" y="4857750"/>
              <a:ext cx="5048250" cy="857250"/>
            </a:xfrm>
            <a:prstGeom prst="roundRect">
              <a:avLst>
                <a:gd name="adj" fmla="val 8889"/>
              </a:avLst>
            </a:prstGeom>
            <a:solidFill>
              <a:srgbClr val="2D2A2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58915" y="5011102"/>
              <a:ext cx="29670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grid = GridSearchCV(rf, param_grid, cv=5)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58915" y="5220652"/>
              <a:ext cx="1853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0D4"/>
                  </a:solidFill>
                  <a:latin typeface="Consolas"/>
                  <a:ea typeface="Microsoft YaHei"/>
                  <a:cs typeface="Consolas"/>
                </a:rPr>
                <a:t>grid.fit(X_train, y_train)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58915" y="5430202"/>
              <a:ext cx="22249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940A"/>
                  </a:solidFill>
                  <a:latin typeface="Consolas"/>
                  <a:ea typeface="Microsoft YaHei"/>
                  <a:cs typeface="Consolas"/>
                </a:rPr>
                <a:t>best_rf = grid.best_estimator_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52" name="TextBox 52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12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1" grpId="0"/>
      <p:bldP spid="5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3663839" cy="921067"/>
            <a:chOff x="535305" y="379095"/>
            <a:chExt cx="3663839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13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6B8E3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366383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预测结果与照明补偿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238250"/>
            <a:ext cx="5334000" cy="4286250"/>
            <a:chOff x="571500" y="1238250"/>
            <a:chExt cx="5334000" cy="428625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334000" cy="4286250"/>
            </a:xfrm>
            <a:prstGeom prst="roundRect">
              <a:avLst>
                <a:gd name="adj" fmla="val 2667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334000" cy="47625"/>
            </a:xfrm>
            <a:prstGeom prst="roundRect">
              <a:avLst>
                <a:gd name="adj" fmla="val 40000"/>
              </a:avLst>
            </a:prstGeom>
            <a:solidFill>
              <a:srgbClr val="6B8E3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2950" y="143827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3D"/>
                  </a:solidFill>
                  <a:latin typeface="Arial"/>
                  <a:ea typeface="Microsoft YaHei"/>
                  <a:cs typeface="Arial"/>
                </a:rPr>
                <a:t>光谱预测结果</a:t>
              </a:r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2757" y="1714500"/>
              <a:ext cx="4911487" cy="30480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746760" y="4918710"/>
              <a:ext cx="34069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蓝色=实测，红色虚线=预测，两条曲线基本重合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191250" y="1238250"/>
            <a:ext cx="5429250" cy="4286250"/>
            <a:chOff x="6191250" y="1238250"/>
            <a:chExt cx="5429250" cy="4286250"/>
          </a:xfrm>
        </p:grpSpPr>
        <p:sp>
          <p:nvSpPr>
            <p:cNvPr id="13" name="Rectangle 13"/>
            <p:cNvSpPr/>
            <p:nvPr/>
          </p:nvSpPr>
          <p:spPr>
            <a:xfrm>
              <a:off x="6191250" y="1238250"/>
              <a:ext cx="5429250" cy="4286250"/>
            </a:xfrm>
            <a:prstGeom prst="roundRect">
              <a:avLst>
                <a:gd name="adj" fmla="val 2667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191250" y="1238250"/>
              <a:ext cx="5429250" cy="47625"/>
            </a:xfrm>
            <a:prstGeom prst="roundRect">
              <a:avLst>
                <a:gd name="adj" fmla="val 40000"/>
              </a:avLst>
            </a:prstGeom>
            <a:solidFill>
              <a:srgbClr val="D46B8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62700" y="1438275"/>
              <a:ext cx="156079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46B8C"/>
                  </a:solidFill>
                  <a:latin typeface="Arial"/>
                  <a:ea typeface="Microsoft YaHei"/>
                  <a:cs typeface="Arial"/>
                </a:rPr>
                <a:t>七通道 LED 补偿</a:t>
              </a:r>
            </a:p>
          </p:txBody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42075" y="1714500"/>
              <a:ext cx="4927600" cy="3048000"/>
            </a:xfrm>
            <a:prstGeom prst="rect">
              <a:avLst/>
            </a:prstGeom>
          </p:spPr>
        </p:pic>
        <p:sp>
          <p:nvSpPr>
            <p:cNvPr id="17" name="TextBox 17"/>
            <p:cNvSpPr txBox="1"/>
            <p:nvPr/>
          </p:nvSpPr>
          <p:spPr>
            <a:xfrm>
              <a:off x="6366510" y="4918710"/>
              <a:ext cx="31108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多通道 LED 自由度更多，能按波段局部补偿</a:t>
              </a:r>
            </a:p>
          </p:txBody>
        </p:sp>
      </p:grpSp>
      <p:sp>
        <p:nvSpPr>
          <p:cNvPr id="19" name="Rectangle 19"/>
          <p:cNvSpPr/>
          <p:nvPr/>
        </p:nvSpPr>
        <p:spPr>
          <a:xfrm>
            <a:off x="571500" y="5715000"/>
            <a:ext cx="11049000" cy="571500"/>
          </a:xfrm>
          <a:prstGeom prst="roundRect">
            <a:avLst>
              <a:gd name="adj" fmla="val 16667"/>
            </a:avLst>
          </a:prstGeom>
          <a:solidFill>
            <a:srgbClr val="FFF3B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744855" y="5902642"/>
            <a:ext cx="59750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预测路径：环境特征 → 5 个 PCA 系数 → PCA 逆变换 → 41 维光谱 → LED 补偿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21" name="TextBox 21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13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2865739" cy="921067"/>
            <a:chOff x="535305" y="379095"/>
            <a:chExt cx="2865739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14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64748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286573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项目特色与不足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1238250"/>
            <a:ext cx="5348681" cy="4632255"/>
            <a:chOff x="571500" y="1238250"/>
            <a:chExt cx="5348681" cy="4632255"/>
          </a:xfrm>
        </p:grpSpPr>
        <p:sp>
          <p:nvSpPr>
            <p:cNvPr id="7" name="Rectangle 7"/>
            <p:cNvSpPr/>
            <p:nvPr/>
          </p:nvSpPr>
          <p:spPr>
            <a:xfrm>
              <a:off x="586181" y="1298505"/>
              <a:ext cx="533400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334000" cy="47625"/>
            </a:xfrm>
            <a:prstGeom prst="roundRect">
              <a:avLst>
                <a:gd name="adj" fmla="val 40000"/>
              </a:avLst>
            </a:prstGeom>
            <a:solidFill>
              <a:srgbClr val="3D8B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39140" y="14249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D8B5E"/>
                  </a:solidFill>
                  <a:latin typeface="Arial"/>
                  <a:ea typeface="Microsoft YaHei"/>
                  <a:cs typeface="Arial"/>
                </a:rPr>
                <a:t>项目特色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857375"/>
              <a:ext cx="4953000" cy="523875"/>
            </a:xfrm>
            <a:prstGeom prst="roundRect">
              <a:avLst>
                <a:gd name="adj" fmla="val 14545"/>
              </a:avLst>
            </a:prstGeom>
            <a:solidFill>
              <a:srgbClr val="3D8B5E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5355" y="2025968"/>
              <a:ext cx="24465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1. 使用真实公开天光光谱数据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2476500"/>
              <a:ext cx="4953000" cy="523875"/>
            </a:xfrm>
            <a:prstGeom prst="roundRect">
              <a:avLst>
                <a:gd name="adj" fmla="val 14545"/>
              </a:avLst>
            </a:prstGeom>
            <a:solidFill>
              <a:srgbClr val="2AA3A0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3095625"/>
              <a:ext cx="4953000" cy="523875"/>
            </a:xfrm>
            <a:prstGeom prst="roundRect">
              <a:avLst>
                <a:gd name="adj" fmla="val 14545"/>
              </a:avLst>
            </a:prstGeom>
            <a:solidFill>
              <a:srgbClr val="8B6DB0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5355" y="2629376"/>
              <a:ext cx="3900107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2</a:t>
              </a:r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. 覆盖数据处理、PCA、ML、可视化</a:t>
              </a:r>
              <a:r>
                <a:rPr lang="zh-CN" altLang="en-US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与应用</a:t>
              </a:r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全流程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3714750"/>
              <a:ext cx="4953000" cy="523875"/>
            </a:xfrm>
            <a:prstGeom prst="roundRect">
              <a:avLst>
                <a:gd name="adj" fmla="val 14545"/>
              </a:avLst>
            </a:prstGeom>
            <a:solidFill>
              <a:srgbClr val="E8842A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5355" y="3891563"/>
              <a:ext cx="29866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4. 多模型统一比较，按结果选择模型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4333875"/>
              <a:ext cx="4953000" cy="523875"/>
            </a:xfrm>
            <a:prstGeom prst="roundRect">
              <a:avLst>
                <a:gd name="adj" fmla="val 14545"/>
              </a:avLst>
            </a:prstGeom>
            <a:solidFill>
              <a:srgbClr val="D4940A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5355" y="4468178"/>
              <a:ext cx="33467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5. 预测光谱用于照明补偿，形成应用闭环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191250" y="1238250"/>
            <a:ext cx="5429250" cy="4572000"/>
            <a:chOff x="6191250" y="1238250"/>
            <a:chExt cx="5429250" cy="4572000"/>
          </a:xfrm>
        </p:grpSpPr>
        <p:sp>
          <p:nvSpPr>
            <p:cNvPr id="23" name="Rectangle 23"/>
            <p:cNvSpPr/>
            <p:nvPr/>
          </p:nvSpPr>
          <p:spPr>
            <a:xfrm>
              <a:off x="6191250" y="1238250"/>
              <a:ext cx="542925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191250" y="1238250"/>
              <a:ext cx="5429250" cy="47625"/>
            </a:xfrm>
            <a:prstGeom prst="roundRect">
              <a:avLst>
                <a:gd name="adj" fmla="val 40000"/>
              </a:avLst>
            </a:prstGeom>
            <a:solidFill>
              <a:srgbClr val="E06B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58890" y="14249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06B5E"/>
                  </a:solidFill>
                  <a:latin typeface="Arial"/>
                  <a:ea typeface="Microsoft YaHei"/>
                  <a:cs typeface="Arial"/>
                </a:rPr>
                <a:t>主要不足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381750" y="185737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E06B5E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55105" y="2045018"/>
              <a:ext cx="19065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1. 样本集中在少数站点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57962" y="2278856"/>
              <a:ext cx="3462486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数据来源有限，</a:t>
              </a:r>
              <a:r>
                <a:rPr lang="zh-CN" altLang="en-US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特别是缺少国内数据，</a:t>
              </a:r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代表性不够广泛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381750" y="261937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E06B5E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55105" y="2807018"/>
              <a:ext cx="24465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2. 天气数据与光谱非完全同步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57962" y="3040856"/>
              <a:ext cx="24288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天气为对齐的历史特征，非现场测量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381750" y="338137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E06B5E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55105" y="3569018"/>
              <a:ext cx="26266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3. 模型不能完全替代专业光谱仪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57962" y="3802856"/>
              <a:ext cx="3606757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估计的是相对光谱形状，非绝对测量</a:t>
              </a:r>
              <a:r>
                <a:rPr lang="zh-CN" altLang="en-US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，不能代替专业场景</a:t>
              </a:r>
              <a:endParaRPr lang="zh-CN" sz="1125" dirty="0">
                <a:solidFill>
                  <a:srgbClr val="8C8578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381750" y="414337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E06B5E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55105" y="4331018"/>
              <a:ext cx="26266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4. 当前是算法演示，未接入硬件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57962" y="456485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暂未接入真实照明硬件验证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381750" y="4905375"/>
              <a:ext cx="5048250" cy="619125"/>
            </a:xfrm>
            <a:prstGeom prst="roundRect">
              <a:avLst>
                <a:gd name="adj" fmla="val 12308"/>
              </a:avLst>
            </a:prstGeom>
            <a:solidFill>
              <a:srgbClr val="E06B5E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55105" y="5093018"/>
              <a:ext cx="22665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5. 补偿效果有待更细的评价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57962" y="5326856"/>
              <a:ext cx="3444854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可进一步评估舒适度和显色效果</a:t>
              </a:r>
              <a:r>
                <a:rPr lang="zh-CN" altLang="en-US" sz="1125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，以及个性化后处理</a:t>
              </a:r>
              <a:endParaRPr lang="zh-CN" sz="1125" dirty="0">
                <a:solidFill>
                  <a:srgbClr val="8C8578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42" name="TextBox 42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14 / 15</a:t>
              </a:r>
            </a:p>
          </p:txBody>
        </p:sp>
      </p:grpSp>
      <p:sp>
        <p:nvSpPr>
          <p:cNvPr id="45" name="TextBox 15">
            <a:extLst>
              <a:ext uri="{FF2B5EF4-FFF2-40B4-BE49-F238E27FC236}">
                <a16:creationId xmlns:a16="http://schemas.microsoft.com/office/drawing/2014/main" id="{0A81B17F-609B-12F7-B8EC-EB4EF36D6134}"/>
              </a:ext>
            </a:extLst>
          </p:cNvPr>
          <p:cNvSpPr txBox="1"/>
          <p:nvPr/>
        </p:nvSpPr>
        <p:spPr>
          <a:xfrm>
            <a:off x="935354" y="3255904"/>
            <a:ext cx="3654847" cy="2077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350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3</a:t>
            </a:r>
            <a:r>
              <a:rPr lang="zh-CN" sz="1350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. </a:t>
            </a:r>
            <a:r>
              <a:rPr lang="zh-CN" altLang="en-US" sz="1350" dirty="0">
                <a:solidFill>
                  <a:srgbClr val="2D2A26"/>
                </a:solidFill>
                <a:latin typeface="Arial"/>
                <a:ea typeface="Microsoft YaHei"/>
                <a:cs typeface="Arial"/>
              </a:rPr>
              <a:t>输入易获取，模型成分精简，效率高，成本低</a:t>
            </a:r>
            <a:endParaRPr lang="zh-CN" sz="1350" dirty="0">
              <a:solidFill>
                <a:srgbClr val="2D2A26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4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35305" y="379095"/>
            <a:ext cx="4062889" cy="921067"/>
            <a:chOff x="535305" y="379095"/>
            <a:chExt cx="4062889" cy="921067"/>
          </a:xfrm>
        </p:grpSpPr>
        <p:sp>
          <p:nvSpPr>
            <p:cNvPr id="3" name="TextBox 3"/>
            <p:cNvSpPr txBox="1"/>
            <p:nvPr/>
          </p:nvSpPr>
          <p:spPr>
            <a:xfrm>
              <a:off x="560070" y="3790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COURSE DEFENSE · 15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19125"/>
              <a:ext cx="476250" cy="28575"/>
            </a:xfrm>
            <a:prstGeom prst="roundRect">
              <a:avLst>
                <a:gd name="adj" fmla="val 50000"/>
              </a:avLst>
            </a:prstGeom>
            <a:solidFill>
              <a:srgbClr val="64748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305" y="721042"/>
              <a:ext cx="406288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小组分工与大模型使用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1238250"/>
            <a:ext cx="5334000" cy="4572000"/>
            <a:chOff x="571500" y="1238250"/>
            <a:chExt cx="5334000" cy="457200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33400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334000" cy="47625"/>
            </a:xfrm>
            <a:prstGeom prst="roundRect">
              <a:avLst>
                <a:gd name="adj" fmla="val 40000"/>
              </a:avLst>
            </a:prstGeom>
            <a:solidFill>
              <a:srgbClr val="64748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1045" y="1441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小组分工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857374"/>
              <a:ext cx="4953000" cy="904875"/>
            </a:xfrm>
            <a:prstGeom prst="roundRect">
              <a:avLst>
                <a:gd name="adj" fmla="val 10000"/>
              </a:avLst>
            </a:prstGeom>
            <a:solidFill>
              <a:srgbClr val="4A90D9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5355" y="1997392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李安逸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6308" y="2291239"/>
              <a:ext cx="360283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负责数据收集与处理、数据调整、可视化调整、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6308" y="2510314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课程报告撰稿与编写。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2762249"/>
              <a:ext cx="4953000" cy="882015"/>
            </a:xfrm>
            <a:prstGeom prst="roundRect">
              <a:avLst>
                <a:gd name="adj" fmla="val 10000"/>
              </a:avLst>
            </a:prstGeom>
            <a:solidFill>
              <a:srgbClr val="7CB342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5355" y="29022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7CB342"/>
                  </a:solidFill>
                  <a:latin typeface="Arial"/>
                  <a:ea typeface="Microsoft YaHei"/>
                  <a:cs typeface="Arial"/>
                </a:rPr>
                <a:t>黄奕滔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6308" y="3196114"/>
              <a:ext cx="30927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负责数据处理、代码实现、可视化实现、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6308" y="3415189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课程报告检查和补充。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3667124"/>
              <a:ext cx="4953000" cy="967265"/>
            </a:xfrm>
            <a:prstGeom prst="roundRect">
              <a:avLst>
                <a:gd name="adj" fmla="val 10000"/>
              </a:avLst>
            </a:prstGeom>
            <a:solidFill>
              <a:srgbClr val="D4940A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5355" y="38071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4940A"/>
                  </a:solidFill>
                  <a:latin typeface="Arial"/>
                  <a:ea typeface="Microsoft YaHei"/>
                  <a:cs typeface="Arial"/>
                </a:rPr>
                <a:t>共同完成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6308" y="4100989"/>
              <a:ext cx="360283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主题讨论、文献查阅、幻灯片制作、答辩准备、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6308" y="4320064"/>
              <a:ext cx="20726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结果检查和最终材料整理。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762000" y="46672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6760" y="4823460"/>
              <a:ext cx="23667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课程名称：Python 应用开发基础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6760" y="5090160"/>
              <a:ext cx="5265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8578"/>
                  </a:solidFill>
                  <a:latin typeface="Arial"/>
                  <a:ea typeface="Microsoft YaHei"/>
                  <a:cs typeface="Arial"/>
                </a:rPr>
                <a:t>第24组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191250" y="1238250"/>
            <a:ext cx="5429250" cy="4572000"/>
            <a:chOff x="6191250" y="1238250"/>
            <a:chExt cx="5429250" cy="4572000"/>
          </a:xfrm>
        </p:grpSpPr>
        <p:sp>
          <p:nvSpPr>
            <p:cNvPr id="26" name="Rectangle 26"/>
            <p:cNvSpPr/>
            <p:nvPr/>
          </p:nvSpPr>
          <p:spPr>
            <a:xfrm>
              <a:off x="6191250" y="1238250"/>
              <a:ext cx="5429250" cy="4572000"/>
            </a:xfrm>
            <a:prstGeom prst="roundRect">
              <a:avLst>
                <a:gd name="adj" fmla="val 2500"/>
              </a:avLst>
            </a:prstGeom>
            <a:solidFill>
              <a:srgbClr val="FFF8EE"/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191250" y="1238250"/>
              <a:ext cx="5429250" cy="47625"/>
            </a:xfrm>
            <a:prstGeom prst="roundRect">
              <a:avLst>
                <a:gd name="adj" fmla="val 40000"/>
              </a:avLst>
            </a:prstGeom>
            <a:solidFill>
              <a:srgbClr val="8B6D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60795" y="144113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B6DB0"/>
                  </a:solidFill>
                  <a:latin typeface="Arial"/>
                  <a:ea typeface="Microsoft YaHei"/>
                  <a:cs typeface="Arial"/>
                </a:rPr>
                <a:t>大模型使用情况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63652" y="1798796"/>
              <a:ext cx="212645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使用大模型辅助的环节：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381750" y="2143125"/>
              <a:ext cx="5048250" cy="523875"/>
            </a:xfrm>
            <a:prstGeom prst="roundRect">
              <a:avLst>
                <a:gd name="adj" fmla="val 14545"/>
              </a:avLst>
            </a:prstGeom>
            <a:solidFill>
              <a:srgbClr val="8B6DB0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55105" y="231171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数据源收集和汇总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381750" y="2762250"/>
              <a:ext cx="5048250" cy="523875"/>
            </a:xfrm>
            <a:prstGeom prst="roundRect">
              <a:avLst>
                <a:gd name="adj" fmla="val 14545"/>
              </a:avLst>
            </a:prstGeom>
            <a:solidFill>
              <a:srgbClr val="D46B8C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55105" y="2930842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报告结构整理和辅助编写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381750" y="3381375"/>
              <a:ext cx="5048250" cy="523875"/>
            </a:xfrm>
            <a:prstGeom prst="roundRect">
              <a:avLst>
                <a:gd name="adj" fmla="val 14545"/>
              </a:avLst>
            </a:prstGeom>
            <a:solidFill>
              <a:srgbClr val="E8842A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55105" y="354996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代码注释与编写辅助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381750" y="4000500"/>
              <a:ext cx="5048250" cy="523875"/>
            </a:xfrm>
            <a:prstGeom prst="roundRect">
              <a:avLst>
                <a:gd name="adj" fmla="val 14545"/>
              </a:avLst>
            </a:prstGeom>
            <a:solidFill>
              <a:srgbClr val="2AA3A0">
                <a:alpha val="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55105" y="4169092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2A26"/>
                  </a:solidFill>
                  <a:latin typeface="Arial"/>
                  <a:ea typeface="Microsoft YaHei"/>
                  <a:cs typeface="Arial"/>
                </a:rPr>
                <a:t>可视化表达相关代码编写辅助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381750" y="4714875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rgbClr val="E8E0D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41" name="TextBox 41"/>
            <p:cNvSpPr txBox="1"/>
            <p:nvPr/>
          </p:nvSpPr>
          <p:spPr>
            <a:xfrm>
              <a:off x="560070" y="6475095"/>
              <a:ext cx="3023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基于真实天光数据的自然光光谱估计与室内照明补偿设计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07020" y="64750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0A898"/>
                  </a:solidFill>
                  <a:latin typeface="Arial"/>
                  <a:ea typeface="Microsoft YaHei"/>
                  <a:cs typeface="Arial"/>
                </a:rPr>
                <a:t>15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3068</Words>
  <Application>Microsoft Macintosh PowerPoint</Application>
  <PresentationFormat>宽屏</PresentationFormat>
  <Paragraphs>336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a27237</cp:lastModifiedBy>
  <cp:revision>20</cp:revision>
  <dcterms:created xsi:type="dcterms:W3CDTF">2026-06-15T09:11:17Z</dcterms:created>
  <dcterms:modified xsi:type="dcterms:W3CDTF">2026-06-15T12:03:51Z</dcterms:modified>
  <cp:category/>
  <cp:contentStatus/>
  <dc:languag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1.0.113</vt:lpwstr>
  </property>
  <property fmtid="{D5CDD505-2E9C-101B-9397-08002B2CF9AE}" pid="3" name="OfficeCLI.LastModified">
    <vt:lpwstr>2026-06-15T11:59:08Z</vt:lpwstr>
  </property>
</Properties>
</file>