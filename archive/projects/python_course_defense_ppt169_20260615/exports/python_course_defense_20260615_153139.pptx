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先完成题目说明。我们的课程设计题目是基于真实天光数据的自然光光谱估计与室内照明补偿设计。核心想法是：不是只看室内灯够不够亮，而是进一步关注自然光的光谱形状，并尝试用机器学习估计它，最后把估计结果用于LED补偿。这里强调三个基础数字：四十一个波长点、五千六百六十四条样本、前五个PCA主成分累计解释方差约百分之九十八点三。</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我们看研究背景。人长期在室内，照明对学习、工作和视觉舒适都很重要。传统照明通常关注照度和色温，但这两个指标只是对光的高度压缩。即使两种光亮度和色温相同，实际光谱也可能不同。右侧图展示了不同天气下实测平均相对光谱的差异，说明自然光的光谱会随环境变化，因此有必要从光谱角度研究室内照明质量。</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那么问题来了：光谱虽然有价值，但直接测量成本很高。专业光谱仪难以在普通场景普及。所以我们尝试用更容易获得的环境特征，比如天气、时间、地点和太阳位置，通过机器学习来估计自然光相对光谱。输入是低成本环境特征，输出是自然光相对光谱，并进一步用于LED补偿。</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现在来看数据。项目使用三类公开数据：第一是SKYSPECTRA实测天光光谱数据和元数据，第二是Open-Meteo历史天气API，用来补充云量、湿度、温度和降水，第三是公开LED光谱数据，用在补偿环节。经过文件合并、时间对齐、波长重采样、缺失值处理和特征编码，最终得到五千六百六十四条样本、四十一个波长点。</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看模型的输入特征。我们选择了十二个容易获得的环境特征，包括时间、地点、天气、太阳位置和室外照度。右侧是随机森林特征重要性排序，可以看到室外照度占了百分之五十四，是最关键的特征，云量和太阳方位角也比较重要。</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再看模型的输出。输出目标是三百八十到七百八十纳米范围内的相对光谱，每十纳米一个点，共四十一维。每条光谱除以自身最大值，模型学习的是光谱形状而非绝对强度。由于光谱曲线连续变化，相邻波长高度相关，这为后面的PCA降维做了铺垫。</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现在进入方法部分。原始光谱包含四十一个波长点，直接预测完整光谱会增加模型难度。我们使用PCA把光谱压缩为少量主成分。测试了前一到十个主成分的累计解释方差，发现前五个主成分已经能保留百分之九十八点三五的信息，因此最终选择五个主成分作为模型输出目标。</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是模型训练。本项目不局限于某一种模型，而是把光谱估计作为回归问题，尝试了五种课程中涉及的模型：线性回归作为基准，KNN和决策树作为传统机器学习对比，随机森林作为集成学习模型，MLP作为神经网络对比。所有模型使用相同的数据划分、相同输入特征和相同PCA输出目标。</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来看具体的对比结果。从表中可以看到，随机森林的RMSE最低，为零点零零八六，综合表现最好。MLP的R²略高，为零点九六二，但RMSE更大，训练时间也更长。线性回归明显落后，说明环境特征到光谱变化不是简单线性关系。</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综合考虑，我们选择随机森林作为主模型。不选线性回归是因为误差太大，说明问题不是线性的。关注MLP是因为它代表神经网络路线，但训练成本更高。随机森林在RMSE、稳定性和推理成本上都更均衡，所以最终选择它。</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现在看预测效果。模型预测的不是整条光谱，而是五个PCA主成分系数，再经过逆变换还原为四十一维相对光谱。图中蓝色是实测光谱，红色虚线是预测光谱，两条曲线基本重合，说明模型能够根据环境特征估计自然光光谱的主要形状。这里也说明项目关注的是相对光谱形状，不是绝对辐照度。</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是应用环节。补偿思路是先用目标光谱减去预测的室内自然光贡献，得到需要人工补充的光谱，再用非负最小二乘计算七通道LED的比例。图中包含目标光谱、预测自然光、多通道补偿后光谱和传统双色温方案。可以看到七通道LED有更多自由度，能对蓝光、青绿、黄绿和红光波段做更细的补偿。</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总结。本项目是一个完整但谨慎的课程项目：数据是真实的，流程是可复现的，结果能进入应用演示。同时也承认样本、同步天气和硬件验证上的不足。分工方面，李安逸主要负责报告、方法分析和PPT逻辑，黄奕滔主要负责代码、数据处理和模型训练。大模型在数据收集、报告结构和代码辅助方面提供了帮助，但核心方案和结果由我们团队完成。</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3492feb154da824.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bdb26226f213f13.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26fdc38f8e83a90.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cac50538d2ca456.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76c19fd639afb51e.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549b372da854f2d.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b45d431d6d6e402.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sp>
        <p:nvSpPr>
          <p:cNvPr id="3" name="Ellipse 3"/>
          <p:cNvSpPr/>
          <p:nvPr/>
        </p:nvSpPr>
        <p:spPr>
          <a:xfrm>
            <a:off x="4762500" y="-476250"/>
            <a:ext cx="7620000" cy="6667500"/>
          </a:xfrm>
          <a:prstGeom prst="ellipse">
            <a:avLst/>
          </a:prstGeom>
          <a:gradFill>
            <a:gsLst>
              <a:gs pos="0">
                <a:srgbClr val="E8842A">
                  <a:alpha val="12000"/>
                </a:srgbClr>
              </a:gs>
              <a:gs pos="100000">
                <a:srgbClr val="D4940A">
                  <a:alpha val="4000"/>
                </a:srgbClr>
              </a:gs>
            </a:gsLst>
            <a:lin ang="2700000" scaled="1"/>
          </a:gradFill>
          <a:ln>
            <a:noFill/>
          </a:ln>
        </p:spPr>
      </p:sp>
      <p:sp>
        <p:nvSpPr>
          <p:cNvPr id="4" name="Ellipse 4"/>
          <p:cNvSpPr/>
          <p:nvPr/>
        </p:nvSpPr>
        <p:spPr>
          <a:xfrm>
            <a:off x="-476250" y="3810000"/>
            <a:ext cx="4762500" cy="3810000"/>
          </a:xfrm>
          <a:prstGeom prst="ellipse">
            <a:avLst/>
          </a:prstGeom>
          <a:solidFill>
            <a:srgbClr val="E8842A">
              <a:alpha val="5000"/>
            </a:srgbClr>
          </a:solidFill>
          <a:ln>
            <a:noFill/>
          </a:ln>
        </p:spPr>
      </p:sp>
      <p:sp>
        <p:nvSpPr>
          <p:cNvPr id="5" name="Rectangle 5"/>
          <p:cNvSpPr/>
          <p:nvPr/>
        </p:nvSpPr>
        <p:spPr>
          <a:xfrm>
            <a:off x="762000" y="1905000"/>
            <a:ext cx="57150" cy="1143000"/>
          </a:xfrm>
          <a:prstGeom prst="roundRect">
            <a:avLst>
              <a:gd name="adj" fmla="val 50000"/>
            </a:avLst>
          </a:prstGeom>
          <a:gradFill>
            <a:gsLst>
              <a:gs pos="0">
                <a:srgbClr val="E8842A"/>
              </a:gs>
              <a:gs pos="100000">
                <a:srgbClr val="D4940A"/>
              </a:gs>
            </a:gsLst>
            <a:lin ang="0" scaled="1"/>
          </a:gradFill>
          <a:ln>
            <a:noFill/>
          </a:ln>
        </p:spPr>
      </p:sp>
      <p:sp>
        <p:nvSpPr>
          <p:cNvPr id="6" name="TextBox 6"/>
          <p:cNvSpPr txBox="1"/>
          <p:nvPr/>
        </p:nvSpPr>
        <p:spPr>
          <a:xfrm>
            <a:off x="1003935" y="2008822"/>
            <a:ext cx="4228148" cy="1882140"/>
          </a:xfrm>
          <a:prstGeom prst="rect">
            <a:avLst/>
          </a:prstGeom>
          <a:noFill/>
          <a:ln>
            <a:noFill/>
          </a:ln>
        </p:spPr>
        <p:txBody>
          <a:bodyPr wrap="square" lIns="0" tIns="0" rIns="0" bIns="0" anchor="t" anchorCtr="0"/>
          <a:lstStyle/>
          <a:p>
            <a:pPr algn="l">
              <a:lnSpc>
                <a:spcPts val="4650"/>
              </a:lnSpc>
            </a:pPr>
            <a:r>
              <a:rPr lang="zh-CN" sz="3450" b="1" dirty="0">
                <a:solidFill>
                  <a:srgbClr val="2D2A26"/>
                </a:solidFill>
                <a:latin typeface="Arial"/>
                <a:ea typeface="Microsoft YaHei"/>
                <a:cs typeface="Arial"/>
              </a:rPr>
              <a:t>基于真实天光数据的</a:t>
            </a:r>
            <a:r>
              <a:rPr lang="zh-CN" sz="3450" b="1" dirty="0">
                <a:solidFill>
                  <a:srgbClr val="2D2A26"/>
                </a:solidFill>
                <a:latin typeface="Arial"/>
                <a:ea typeface="Microsoft YaHei"/>
                <a:cs typeface="Arial"/>
              </a:rPr>
              <a:t>自然光光谱估计与</a:t>
            </a:r>
            <a:r>
              <a:rPr lang="zh-CN" sz="3450" b="1" dirty="0">
                <a:solidFill>
                  <a:srgbClr val="2D2A26"/>
                </a:solidFill>
                <a:latin typeface="Arial"/>
                <a:ea typeface="Microsoft YaHei"/>
                <a:cs typeface="Arial"/>
              </a:rPr>
              <a:t>室内照明补偿设计</a:t>
            </a:r>
          </a:p>
        </p:txBody>
      </p:sp>
      <p:sp>
        <p:nvSpPr>
          <p:cNvPr id="7" name="TextBox 7"/>
          <p:cNvSpPr txBox="1"/>
          <p:nvPr/>
        </p:nvSpPr>
        <p:spPr>
          <a:xfrm>
            <a:off x="1028700" y="4314825"/>
            <a:ext cx="6408896" cy="304800"/>
          </a:xfrm>
          <a:prstGeom prst="rect">
            <a:avLst/>
          </a:prstGeom>
          <a:noFill/>
          <a:ln>
            <a:noFill/>
          </a:ln>
        </p:spPr>
        <p:txBody>
          <a:bodyPr wrap="none" lIns="0" tIns="0" rIns="0" bIns="0" anchor="t" anchorCtr="0">
            <a:spAutoFit/>
          </a:bodyPr>
          <a:lstStyle/>
          <a:p>
            <a:pPr algn="l"/>
            <a:r>
              <a:rPr lang="zh-CN" sz="1500" dirty="0">
                <a:solidFill>
                  <a:srgbClr val="8C8578"/>
                </a:solidFill>
                <a:latin typeface="Arial"/>
                <a:ea typeface="Microsoft YaHei"/>
                <a:cs typeface="Arial"/>
              </a:rPr>
              <a:t>使用 Python 数据处理、PCA 降维与机器学习模型，估计自然光相对光谱</a:t>
            </a:r>
          </a:p>
        </p:txBody>
      </p:sp>
      <p:sp>
        <p:nvSpPr>
          <p:cNvPr id="8" name="Line 8"/>
          <p:cNvSpPr/>
          <p:nvPr/>
        </p:nvSpPr>
        <p:spPr>
          <a:xfrm>
            <a:off x="1047750" y="4762500"/>
            <a:ext cx="2762250" cy="9525"/>
          </a:xfrm>
          <a:custGeom>
            <a:avLst/>
            <a:gdLst/>
            <a:ahLst/>
            <a:cxnLst/>
            <a:rect l="l" t="t" r="r" b="b"/>
            <a:pathLst>
              <a:path w="2762250" h="9525">
                <a:moveTo>
                  <a:pt x="0" y="0"/>
                </a:moveTo>
                <a:lnTo>
                  <a:pt x="2762250" y="0"/>
                </a:lnTo>
              </a:path>
            </a:pathLst>
          </a:custGeom>
          <a:noFill/>
          <a:ln w="9525">
            <a:solidFill>
              <a:srgbClr val="E8E0D4"/>
            </a:solidFill>
          </a:ln>
        </p:spPr>
      </p:sp>
      <p:sp>
        <p:nvSpPr>
          <p:cNvPr id="9" name="TextBox 9"/>
          <p:cNvSpPr txBox="1"/>
          <p:nvPr/>
        </p:nvSpPr>
        <p:spPr>
          <a:xfrm>
            <a:off x="1030605" y="4997768"/>
            <a:ext cx="2537460" cy="845820"/>
          </a:xfrm>
          <a:prstGeom prst="rect">
            <a:avLst/>
          </a:prstGeom>
          <a:noFill/>
          <a:ln>
            <a:noFill/>
          </a:ln>
        </p:spPr>
        <p:txBody>
          <a:bodyPr wrap="square" lIns="0" tIns="0" rIns="0" bIns="0" anchor="t" anchorCtr="0"/>
          <a:lstStyle/>
          <a:p>
            <a:pPr algn="l">
              <a:lnSpc>
                <a:spcPts val="2250"/>
              </a:lnSpc>
            </a:pPr>
            <a:r>
              <a:rPr lang="zh-CN" sz="1350" dirty="0">
                <a:solidFill>
                  <a:srgbClr val="8C8578"/>
                </a:solidFill>
                <a:latin typeface="Arial"/>
                <a:ea typeface="Microsoft YaHei"/>
                <a:cs typeface="Arial"/>
              </a:rPr>
              <a:t>第24组</a:t>
            </a:r>
            <a:r>
              <a:rPr lang="zh-CN" sz="1350" dirty="0">
                <a:solidFill>
                  <a:srgbClr val="8C8578"/>
                </a:solidFill>
                <a:latin typeface="Arial"/>
                <a:ea typeface="Microsoft YaHei"/>
                <a:cs typeface="Arial"/>
              </a:rPr>
              <a:t>课程名称：Python 应用开发基础</a:t>
            </a:r>
            <a:r>
              <a:rPr lang="zh-CN" sz="1350" dirty="0">
                <a:solidFill>
                  <a:srgbClr val="8C8578"/>
                </a:solidFill>
                <a:latin typeface="Arial"/>
                <a:ea typeface="Microsoft YaHei"/>
                <a:cs typeface="Arial"/>
              </a:rPr>
              <a:t>小组成员：李安逸、黄奕滔</a:t>
            </a:r>
          </a:p>
        </p:txBody>
      </p:sp>
      <p:sp>
        <p:nvSpPr>
          <p:cNvPr id="10" name="Freeform 10"/>
          <p:cNvSpPr/>
          <p:nvPr/>
        </p:nvSpPr>
        <p:spPr>
          <a:xfrm>
            <a:off x="5715000" y="2413000"/>
            <a:ext cx="5715000" cy="920750"/>
          </a:xfrm>
          <a:custGeom>
            <a:avLst/>
            <a:gdLst/>
            <a:ahLst/>
            <a:cxnLst/>
            <a:rect l="l" t="t" r="r" b="b"/>
            <a:pathLst>
              <a:path w="5715000" h="920750">
                <a:moveTo>
                  <a:pt x="0" y="920750"/>
                </a:moveTo>
                <a:cubicBezTo>
                  <a:pt x="635000" y="476250"/>
                  <a:pt x="1270000" y="381000"/>
                  <a:pt x="1905000" y="635000"/>
                </a:cubicBezTo>
                <a:cubicBezTo>
                  <a:pt x="2540000" y="889000"/>
                  <a:pt x="3175000" y="825500"/>
                  <a:pt x="3810000" y="444500"/>
                </a:cubicBezTo>
                <a:cubicBezTo>
                  <a:pt x="4445000" y="63500"/>
                  <a:pt x="5080000" y="0"/>
                  <a:pt x="5715000" y="254000"/>
                </a:cubicBezTo>
              </a:path>
            </a:pathLst>
          </a:custGeom>
          <a:noFill/>
          <a:ln w="19050">
            <a:solidFill>
              <a:srgbClr val="E8842A">
                <a:alpha val="30000"/>
              </a:srgbClr>
            </a:solidFill>
          </a:ln>
        </p:spPr>
      </p:sp>
      <p:sp>
        <p:nvSpPr>
          <p:cNvPr id="11" name="Freeform 11"/>
          <p:cNvSpPr/>
          <p:nvPr/>
        </p:nvSpPr>
        <p:spPr>
          <a:xfrm>
            <a:off x="5715000" y="2667000"/>
            <a:ext cx="5715000" cy="857250"/>
          </a:xfrm>
          <a:custGeom>
            <a:avLst/>
            <a:gdLst/>
            <a:ahLst/>
            <a:cxnLst/>
            <a:rect l="l" t="t" r="r" b="b"/>
            <a:pathLst>
              <a:path w="5715000" h="857250">
                <a:moveTo>
                  <a:pt x="0" y="857250"/>
                </a:moveTo>
                <a:cubicBezTo>
                  <a:pt x="635000" y="476250"/>
                  <a:pt x="1270000" y="381000"/>
                  <a:pt x="1905000" y="571500"/>
                </a:cubicBezTo>
                <a:cubicBezTo>
                  <a:pt x="2540000" y="762000"/>
                  <a:pt x="3175000" y="698500"/>
                  <a:pt x="3810000" y="381000"/>
                </a:cubicBezTo>
                <a:cubicBezTo>
                  <a:pt x="4445000" y="63500"/>
                  <a:pt x="5080000" y="0"/>
                  <a:pt x="5715000" y="190500"/>
                </a:cubicBezTo>
              </a:path>
            </a:pathLst>
          </a:custGeom>
          <a:noFill/>
          <a:ln w="14288">
            <a:solidFill>
              <a:srgbClr val="D4940A">
                <a:alpha val="20000"/>
              </a:srgbClr>
            </a:solidFill>
          </a:ln>
        </p:spPr>
      </p:sp>
      <p:grpSp>
        <p:nvGrpSpPr>
          <p:cNvPr id="18" name="Group 18"/>
          <p:cNvGrpSpPr/>
          <p:nvPr/>
        </p:nvGrpSpPr>
        <p:grpSpPr>
          <a:xfrm>
            <a:off x="6633210" y="4661535"/>
            <a:ext cx="4517569" cy="615315"/>
            <a:chOff x="6633210" y="4661535"/>
            <a:chExt cx="4517569" cy="615315"/>
          </a:xfrm>
        </p:grpSpPr>
        <p:sp>
          <p:nvSpPr>
            <p:cNvPr id="12" name="TextBox 12"/>
            <p:cNvSpPr txBox="1"/>
            <p:nvPr/>
          </p:nvSpPr>
          <p:spPr>
            <a:xfrm>
              <a:off x="6633210" y="4661535"/>
              <a:ext cx="484432" cy="548640"/>
            </a:xfrm>
            <a:prstGeom prst="rect">
              <a:avLst/>
            </a:prstGeom>
            <a:noFill/>
            <a:ln>
              <a:noFill/>
            </a:ln>
          </p:spPr>
          <p:txBody>
            <a:bodyPr wrap="none" lIns="0" tIns="0" rIns="0" bIns="0" anchor="t" anchorCtr="0">
              <a:spAutoFit/>
            </a:bodyPr>
            <a:lstStyle/>
            <a:p>
              <a:pPr algn="l"/>
              <a:r>
                <a:rPr lang="zh-CN" sz="2700" b="1" dirty="0">
                  <a:solidFill>
                    <a:srgbClr val="E8842A"/>
                  </a:solidFill>
                  <a:latin typeface="Consolas"/>
                  <a:ea typeface="Microsoft YaHei"/>
                  <a:cs typeface="Consolas"/>
                </a:rPr>
                <a:t>41</a:t>
              </a:r>
            </a:p>
          </p:txBody>
        </p:sp>
        <p:sp>
          <p:nvSpPr>
            <p:cNvPr id="13" name="TextBox 13"/>
            <p:cNvSpPr txBox="1"/>
            <p:nvPr/>
          </p:nvSpPr>
          <p:spPr>
            <a:xfrm>
              <a:off x="6656070" y="5093970"/>
              <a:ext cx="382905" cy="182880"/>
            </a:xfrm>
            <a:prstGeom prst="rect">
              <a:avLst/>
            </a:prstGeom>
            <a:noFill/>
            <a:ln>
              <a:noFill/>
            </a:ln>
          </p:spPr>
          <p:txBody>
            <a:bodyPr wrap="none" lIns="0" tIns="0" rIns="0" bIns="0" anchor="t" anchorCtr="0">
              <a:spAutoFit/>
            </a:bodyPr>
            <a:lstStyle/>
            <a:p>
              <a:pPr algn="l"/>
              <a:r>
                <a:rPr lang="zh-CN" sz="900" dirty="0">
                  <a:solidFill>
                    <a:srgbClr val="8C8578"/>
                  </a:solidFill>
                  <a:latin typeface="Arial"/>
                  <a:ea typeface="Microsoft YaHei"/>
                  <a:cs typeface="Arial"/>
                </a:rPr>
                <a:t>波长点</a:t>
              </a:r>
            </a:p>
          </p:txBody>
        </p:sp>
        <p:sp>
          <p:nvSpPr>
            <p:cNvPr id="14" name="TextBox 14"/>
            <p:cNvSpPr txBox="1"/>
            <p:nvPr/>
          </p:nvSpPr>
          <p:spPr>
            <a:xfrm>
              <a:off x="8061960" y="4661535"/>
              <a:ext cx="900284" cy="548640"/>
            </a:xfrm>
            <a:prstGeom prst="rect">
              <a:avLst/>
            </a:prstGeom>
            <a:noFill/>
            <a:ln>
              <a:noFill/>
            </a:ln>
          </p:spPr>
          <p:txBody>
            <a:bodyPr wrap="none" lIns="0" tIns="0" rIns="0" bIns="0" anchor="t" anchorCtr="0">
              <a:spAutoFit/>
            </a:bodyPr>
            <a:lstStyle/>
            <a:p>
              <a:pPr algn="l"/>
              <a:r>
                <a:rPr lang="zh-CN" sz="2700" b="1" dirty="0">
                  <a:solidFill>
                    <a:srgbClr val="E8842A"/>
                  </a:solidFill>
                  <a:latin typeface="Consolas"/>
                  <a:ea typeface="Microsoft YaHei"/>
                  <a:cs typeface="Consolas"/>
                </a:rPr>
                <a:t>5664</a:t>
              </a:r>
            </a:p>
          </p:txBody>
        </p:sp>
        <p:sp>
          <p:nvSpPr>
            <p:cNvPr id="15" name="TextBox 15"/>
            <p:cNvSpPr txBox="1"/>
            <p:nvPr/>
          </p:nvSpPr>
          <p:spPr>
            <a:xfrm>
              <a:off x="8084820" y="5093970"/>
              <a:ext cx="382905" cy="182880"/>
            </a:xfrm>
            <a:prstGeom prst="rect">
              <a:avLst/>
            </a:prstGeom>
            <a:noFill/>
            <a:ln>
              <a:noFill/>
            </a:ln>
          </p:spPr>
          <p:txBody>
            <a:bodyPr wrap="none" lIns="0" tIns="0" rIns="0" bIns="0" anchor="t" anchorCtr="0">
              <a:spAutoFit/>
            </a:bodyPr>
            <a:lstStyle/>
            <a:p>
              <a:pPr algn="l"/>
              <a:r>
                <a:rPr lang="zh-CN" sz="900" dirty="0">
                  <a:solidFill>
                    <a:srgbClr val="8C8578"/>
                  </a:solidFill>
                  <a:latin typeface="Arial"/>
                  <a:ea typeface="Microsoft YaHei"/>
                  <a:cs typeface="Arial"/>
                </a:rPr>
                <a:t>样本量</a:t>
              </a:r>
            </a:p>
          </p:txBody>
        </p:sp>
        <p:sp>
          <p:nvSpPr>
            <p:cNvPr id="16" name="TextBox 16"/>
            <p:cNvSpPr txBox="1"/>
            <p:nvPr/>
          </p:nvSpPr>
          <p:spPr>
            <a:xfrm>
              <a:off x="9966960" y="4661535"/>
              <a:ext cx="1183819" cy="548640"/>
            </a:xfrm>
            <a:prstGeom prst="rect">
              <a:avLst/>
            </a:prstGeom>
            <a:noFill/>
            <a:ln>
              <a:noFill/>
            </a:ln>
          </p:spPr>
          <p:txBody>
            <a:bodyPr wrap="none" lIns="0" tIns="0" rIns="0" bIns="0" anchor="t" anchorCtr="0">
              <a:spAutoFit/>
            </a:bodyPr>
            <a:lstStyle/>
            <a:p>
              <a:pPr algn="l"/>
              <a:r>
                <a:rPr lang="zh-CN" sz="2700" b="1" dirty="0">
                  <a:solidFill>
                    <a:srgbClr val="E8842A"/>
                  </a:solidFill>
                  <a:latin typeface="Consolas"/>
                  <a:ea typeface="Microsoft YaHei"/>
                  <a:cs typeface="Consolas"/>
                </a:rPr>
                <a:t>98.3%</a:t>
              </a:r>
            </a:p>
          </p:txBody>
        </p:sp>
        <p:sp>
          <p:nvSpPr>
            <p:cNvPr id="17" name="TextBox 17"/>
            <p:cNvSpPr txBox="1"/>
            <p:nvPr/>
          </p:nvSpPr>
          <p:spPr>
            <a:xfrm>
              <a:off x="9989820" y="5093970"/>
              <a:ext cx="736949" cy="182880"/>
            </a:xfrm>
            <a:prstGeom prst="rect">
              <a:avLst/>
            </a:prstGeom>
            <a:noFill/>
            <a:ln>
              <a:noFill/>
            </a:ln>
          </p:spPr>
          <p:txBody>
            <a:bodyPr wrap="none" lIns="0" tIns="0" rIns="0" bIns="0" anchor="t" anchorCtr="0">
              <a:spAutoFit/>
            </a:bodyPr>
            <a:lstStyle/>
            <a:p>
              <a:pPr algn="l"/>
              <a:r>
                <a:rPr lang="zh-CN" sz="900" dirty="0">
                  <a:solidFill>
                    <a:srgbClr val="8C8578"/>
                  </a:solidFill>
                  <a:latin typeface="Arial"/>
                  <a:ea typeface="Microsoft YaHei"/>
                  <a:cs typeface="Arial"/>
                </a:rPr>
                <a:t>PCA 累计方差</a:t>
              </a:r>
            </a:p>
          </p:txBody>
        </p:sp>
      </p:grpSp>
      <p:sp>
        <p:nvSpPr>
          <p:cNvPr id="19" name="TextBox 19"/>
          <p:cNvSpPr txBox="1"/>
          <p:nvPr/>
        </p:nvSpPr>
        <p:spPr>
          <a:xfrm>
            <a:off x="11610022" y="6483191"/>
            <a:ext cx="38950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01 / 13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4027965" cy="808197"/>
            <a:chOff x="539115" y="387191"/>
            <a:chExt cx="4027965"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02</a:t>
              </a:r>
            </a:p>
          </p:txBody>
        </p:sp>
        <p:sp>
          <p:nvSpPr>
            <p:cNvPr id="4" name="Rectangle 4"/>
            <p:cNvSpPr/>
            <p:nvPr/>
          </p:nvSpPr>
          <p:spPr>
            <a:xfrm>
              <a:off x="571500" y="619125"/>
              <a:ext cx="476250" cy="28575"/>
            </a:xfrm>
            <a:prstGeom prst="roundRect">
              <a:avLst>
                <a:gd name="adj" fmla="val 50000"/>
              </a:avLst>
            </a:prstGeom>
            <a:solidFill>
              <a:srgbClr val="E06B5E"/>
            </a:solidFill>
            <a:ln>
              <a:noFill/>
            </a:ln>
          </p:spPr>
        </p:sp>
        <p:sp>
          <p:nvSpPr>
            <p:cNvPr id="5" name="TextBox 5"/>
            <p:cNvSpPr txBox="1"/>
            <p:nvPr/>
          </p:nvSpPr>
          <p:spPr>
            <a:xfrm>
              <a:off x="539115" y="677228"/>
              <a:ext cx="4027965"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照明不只关乎"够不够亮"</a:t>
              </a:r>
            </a:p>
          </p:txBody>
        </p:sp>
      </p:grpSp>
      <p:grpSp>
        <p:nvGrpSpPr>
          <p:cNvPr id="18" name="Group 18"/>
          <p:cNvGrpSpPr/>
          <p:nvPr/>
        </p:nvGrpSpPr>
        <p:grpSpPr>
          <a:xfrm>
            <a:off x="571500" y="1333500"/>
            <a:ext cx="7620000" cy="762000"/>
            <a:chOff x="571500" y="1333500"/>
            <a:chExt cx="7620000" cy="762000"/>
          </a:xfrm>
        </p:grpSpPr>
        <p:sp>
          <p:nvSpPr>
            <p:cNvPr id="7" name="Rectangle 7"/>
            <p:cNvSpPr/>
            <p:nvPr/>
          </p:nvSpPr>
          <p:spPr>
            <a:xfrm>
              <a:off x="571500" y="1333500"/>
              <a:ext cx="2095500" cy="762000"/>
            </a:xfrm>
            <a:prstGeom prst="roundRect">
              <a:avLst>
                <a:gd name="adj" fmla="val 15000"/>
              </a:avLst>
            </a:prstGeom>
            <a:solidFill>
              <a:srgbClr val="FFF8EE"/>
            </a:solidFill>
            <a:ln>
              <a:noFill/>
            </a:ln>
          </p:spPr>
        </p:sp>
        <p:sp>
          <p:nvSpPr>
            <p:cNvPr id="8" name="TextBox 8"/>
            <p:cNvSpPr txBox="1"/>
            <p:nvPr/>
          </p:nvSpPr>
          <p:spPr>
            <a:xfrm>
              <a:off x="739140" y="1472565"/>
              <a:ext cx="549783" cy="365760"/>
            </a:xfrm>
            <a:prstGeom prst="rect">
              <a:avLst/>
            </a:prstGeom>
            <a:noFill/>
            <a:ln>
              <a:noFill/>
            </a:ln>
          </p:spPr>
          <p:txBody>
            <a:bodyPr wrap="none" lIns="0" tIns="0" rIns="0" bIns="0" anchor="t" anchorCtr="0">
              <a:spAutoFit/>
            </a:bodyPr>
            <a:lstStyle/>
            <a:p>
              <a:pPr algn="l"/>
              <a:r>
                <a:rPr lang="zh-CN" sz="1800" b="1" dirty="0">
                  <a:solidFill>
                    <a:srgbClr val="E06B5E"/>
                  </a:solidFill>
                  <a:latin typeface="Arial"/>
                  <a:ea typeface="Microsoft YaHei"/>
                  <a:cs typeface="Arial"/>
                </a:rPr>
                <a:t>亮度</a:t>
              </a:r>
            </a:p>
          </p:txBody>
        </p:sp>
        <p:sp>
          <p:nvSpPr>
            <p:cNvPr id="9" name="TextBox 9"/>
            <p:cNvSpPr txBox="1"/>
            <p:nvPr/>
          </p:nvSpPr>
          <p:spPr>
            <a:xfrm>
              <a:off x="747712" y="1783556"/>
              <a:ext cx="1243727" cy="228600"/>
            </a:xfrm>
            <a:prstGeom prst="rect">
              <a:avLst/>
            </a:prstGeom>
            <a:noFill/>
            <a:ln>
              <a:noFill/>
            </a:ln>
          </p:spPr>
          <p:txBody>
            <a:bodyPr wrap="none" lIns="0" tIns="0" rIns="0" bIns="0" anchor="t" anchorCtr="0">
              <a:spAutoFit/>
            </a:bodyPr>
            <a:lstStyle/>
            <a:p>
              <a:pPr algn="l"/>
              <a:r>
                <a:rPr lang="zh-CN" sz="1125" dirty="0">
                  <a:solidFill>
                    <a:srgbClr val="8C8578"/>
                  </a:solidFill>
                  <a:latin typeface="Arial"/>
                  <a:ea typeface="Microsoft YaHei"/>
                  <a:cs typeface="Arial"/>
                </a:rPr>
                <a:t>照度看"够不够亮"</a:t>
              </a:r>
            </a:p>
          </p:txBody>
        </p:sp>
        <p:sp>
          <p:nvSpPr>
            <p:cNvPr id="10" name="TextBox 10"/>
            <p:cNvSpPr txBox="1"/>
            <p:nvPr/>
          </p:nvSpPr>
          <p:spPr>
            <a:xfrm>
              <a:off x="2787015" y="1567815"/>
              <a:ext cx="177737" cy="365760"/>
            </a:xfrm>
            <a:prstGeom prst="rect">
              <a:avLst/>
            </a:prstGeom>
            <a:noFill/>
            <a:ln>
              <a:noFill/>
            </a:ln>
          </p:spPr>
          <p:txBody>
            <a:bodyPr wrap="none" lIns="0" tIns="0" rIns="0" bIns="0" anchor="t" anchorCtr="0">
              <a:spAutoFit/>
            </a:bodyPr>
            <a:lstStyle/>
            <a:p>
              <a:pPr algn="l"/>
              <a:r>
                <a:rPr lang="zh-CN" sz="1800" dirty="0">
                  <a:solidFill>
                    <a:srgbClr val="E8E0D4"/>
                  </a:solidFill>
                  <a:latin typeface="Arial"/>
                  <a:ea typeface="Microsoft YaHei"/>
                  <a:cs typeface="Arial"/>
                </a:rPr>
                <a:t>→</a:t>
              </a:r>
            </a:p>
          </p:txBody>
        </p:sp>
        <p:sp>
          <p:nvSpPr>
            <p:cNvPr id="11" name="Rectangle 11"/>
            <p:cNvSpPr/>
            <p:nvPr/>
          </p:nvSpPr>
          <p:spPr>
            <a:xfrm>
              <a:off x="3143250" y="1333500"/>
              <a:ext cx="2095500" cy="762000"/>
            </a:xfrm>
            <a:prstGeom prst="roundRect">
              <a:avLst>
                <a:gd name="adj" fmla="val 15000"/>
              </a:avLst>
            </a:prstGeom>
            <a:solidFill>
              <a:srgbClr val="FFF8EE"/>
            </a:solidFill>
            <a:ln>
              <a:noFill/>
            </a:ln>
          </p:spPr>
        </p:sp>
        <p:sp>
          <p:nvSpPr>
            <p:cNvPr id="12" name="TextBox 12"/>
            <p:cNvSpPr txBox="1"/>
            <p:nvPr/>
          </p:nvSpPr>
          <p:spPr>
            <a:xfrm>
              <a:off x="3310890" y="1472565"/>
              <a:ext cx="549783" cy="365760"/>
            </a:xfrm>
            <a:prstGeom prst="rect">
              <a:avLst/>
            </a:prstGeom>
            <a:noFill/>
            <a:ln>
              <a:noFill/>
            </a:ln>
          </p:spPr>
          <p:txBody>
            <a:bodyPr wrap="none" lIns="0" tIns="0" rIns="0" bIns="0" anchor="t" anchorCtr="0">
              <a:spAutoFit/>
            </a:bodyPr>
            <a:lstStyle/>
            <a:p>
              <a:pPr algn="l"/>
              <a:r>
                <a:rPr lang="zh-CN" sz="1800" b="1" dirty="0">
                  <a:solidFill>
                    <a:srgbClr val="E06B5E"/>
                  </a:solidFill>
                  <a:latin typeface="Arial"/>
                  <a:ea typeface="Microsoft YaHei"/>
                  <a:cs typeface="Arial"/>
                </a:rPr>
                <a:t>色温</a:t>
              </a:r>
            </a:p>
          </p:txBody>
        </p:sp>
        <p:sp>
          <p:nvSpPr>
            <p:cNvPr id="13" name="TextBox 13"/>
            <p:cNvSpPr txBox="1"/>
            <p:nvPr/>
          </p:nvSpPr>
          <p:spPr>
            <a:xfrm>
              <a:off x="3319462" y="1783556"/>
              <a:ext cx="1378744" cy="228600"/>
            </a:xfrm>
            <a:prstGeom prst="rect">
              <a:avLst/>
            </a:prstGeom>
            <a:noFill/>
            <a:ln>
              <a:noFill/>
            </a:ln>
          </p:spPr>
          <p:txBody>
            <a:bodyPr wrap="none" lIns="0" tIns="0" rIns="0" bIns="0" anchor="t" anchorCtr="0">
              <a:spAutoFit/>
            </a:bodyPr>
            <a:lstStyle/>
            <a:p>
              <a:pPr algn="l"/>
              <a:r>
                <a:rPr lang="zh-CN" sz="1125" dirty="0">
                  <a:solidFill>
                    <a:srgbClr val="8C8578"/>
                  </a:solidFill>
                  <a:latin typeface="Arial"/>
                  <a:ea typeface="Microsoft YaHei"/>
                  <a:cs typeface="Arial"/>
                </a:rPr>
                <a:t>看冷暖，但不够细致</a:t>
              </a:r>
            </a:p>
          </p:txBody>
        </p:sp>
        <p:sp>
          <p:nvSpPr>
            <p:cNvPr id="14" name="TextBox 14"/>
            <p:cNvSpPr txBox="1"/>
            <p:nvPr/>
          </p:nvSpPr>
          <p:spPr>
            <a:xfrm>
              <a:off x="5358765" y="1567815"/>
              <a:ext cx="177737" cy="365760"/>
            </a:xfrm>
            <a:prstGeom prst="rect">
              <a:avLst/>
            </a:prstGeom>
            <a:noFill/>
            <a:ln>
              <a:noFill/>
            </a:ln>
          </p:spPr>
          <p:txBody>
            <a:bodyPr wrap="none" lIns="0" tIns="0" rIns="0" bIns="0" anchor="t" anchorCtr="0">
              <a:spAutoFit/>
            </a:bodyPr>
            <a:lstStyle/>
            <a:p>
              <a:pPr algn="l"/>
              <a:r>
                <a:rPr lang="zh-CN" sz="1800" dirty="0">
                  <a:solidFill>
                    <a:srgbClr val="E8E0D4"/>
                  </a:solidFill>
                  <a:latin typeface="Arial"/>
                  <a:ea typeface="Microsoft YaHei"/>
                  <a:cs typeface="Arial"/>
                </a:rPr>
                <a:t>→</a:t>
              </a:r>
            </a:p>
          </p:txBody>
        </p:sp>
        <p:sp>
          <p:nvSpPr>
            <p:cNvPr id="15" name="Rectangle 15"/>
            <p:cNvSpPr/>
            <p:nvPr/>
          </p:nvSpPr>
          <p:spPr>
            <a:xfrm>
              <a:off x="5715000" y="1333500"/>
              <a:ext cx="2476500" cy="762000"/>
            </a:xfrm>
            <a:prstGeom prst="roundRect">
              <a:avLst>
                <a:gd name="adj" fmla="val 15000"/>
              </a:avLst>
            </a:prstGeom>
            <a:solidFill>
              <a:srgbClr val="E06B5E">
                <a:alpha val="10000"/>
              </a:srgbClr>
            </a:solidFill>
            <a:ln>
              <a:noFill/>
            </a:ln>
          </p:spPr>
        </p:sp>
        <p:sp>
          <p:nvSpPr>
            <p:cNvPr id="16" name="TextBox 16"/>
            <p:cNvSpPr txBox="1"/>
            <p:nvPr/>
          </p:nvSpPr>
          <p:spPr>
            <a:xfrm>
              <a:off x="5882640" y="1472565"/>
              <a:ext cx="549783" cy="365760"/>
            </a:xfrm>
            <a:prstGeom prst="rect">
              <a:avLst/>
            </a:prstGeom>
            <a:noFill/>
            <a:ln>
              <a:noFill/>
            </a:ln>
          </p:spPr>
          <p:txBody>
            <a:bodyPr wrap="none" lIns="0" tIns="0" rIns="0" bIns="0" anchor="t" anchorCtr="0">
              <a:spAutoFit/>
            </a:bodyPr>
            <a:lstStyle/>
            <a:p>
              <a:pPr algn="l"/>
              <a:r>
                <a:rPr lang="zh-CN" sz="1800" b="1" dirty="0">
                  <a:solidFill>
                    <a:srgbClr val="E06B5E"/>
                  </a:solidFill>
                  <a:latin typeface="Arial"/>
                  <a:ea typeface="Microsoft YaHei"/>
                  <a:cs typeface="Arial"/>
                </a:rPr>
                <a:t>光谱</a:t>
              </a:r>
            </a:p>
          </p:txBody>
        </p:sp>
        <p:sp>
          <p:nvSpPr>
            <p:cNvPr id="17" name="TextBox 17"/>
            <p:cNvSpPr txBox="1"/>
            <p:nvPr/>
          </p:nvSpPr>
          <p:spPr>
            <a:xfrm>
              <a:off x="5891212" y="1783556"/>
              <a:ext cx="2278856"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各波长能量分布，更接近光照质量</a:t>
              </a:r>
            </a:p>
          </p:txBody>
        </p:sp>
      </p:grpSp>
      <p:grpSp>
        <p:nvGrpSpPr>
          <p:cNvPr id="22" name="Group 22"/>
          <p:cNvGrpSpPr/>
          <p:nvPr/>
        </p:nvGrpSpPr>
        <p:grpSpPr>
          <a:xfrm>
            <a:off x="554355" y="2426018"/>
            <a:ext cx="6155055" cy="845820"/>
            <a:chOff x="554355" y="2426018"/>
            <a:chExt cx="6155055" cy="845820"/>
          </a:xfrm>
        </p:grpSpPr>
        <p:sp>
          <p:nvSpPr>
            <p:cNvPr id="19" name="TextBox 19"/>
            <p:cNvSpPr txBox="1"/>
            <p:nvPr/>
          </p:nvSpPr>
          <p:spPr>
            <a:xfrm>
              <a:off x="554355" y="2426018"/>
              <a:ext cx="6155055" cy="274320"/>
            </a:xfrm>
            <a:prstGeom prst="rect">
              <a:avLst/>
            </a:prstGeom>
            <a:noFill/>
            <a:ln>
              <a:noFill/>
            </a:ln>
          </p:spPr>
          <p:txBody>
            <a:bodyPr wrap="none" lIns="0" tIns="0" rIns="0" bIns="0" anchor="t" anchorCtr="0">
              <a:spAutoFit/>
            </a:bodyPr>
            <a:lstStyle/>
            <a:p>
              <a:pPr algn="l"/>
              <a:r>
                <a:rPr lang="zh-CN" sz="1350" dirty="0">
                  <a:solidFill>
                    <a:srgbClr val="2D2A26"/>
                  </a:solidFill>
                  <a:latin typeface="Arial"/>
                  <a:ea typeface="Microsoft YaHei"/>
                  <a:cs typeface="Arial"/>
                </a:rPr>
                <a:t>现代人越来越多时间处在室内，人工照明对学习、办公和生活体验都有影响。</a:t>
              </a:r>
            </a:p>
          </p:txBody>
        </p:sp>
        <p:sp>
          <p:nvSpPr>
            <p:cNvPr id="20" name="TextBox 20"/>
            <p:cNvSpPr txBox="1"/>
            <p:nvPr/>
          </p:nvSpPr>
          <p:spPr>
            <a:xfrm>
              <a:off x="554355" y="2711768"/>
              <a:ext cx="5975033" cy="274320"/>
            </a:xfrm>
            <a:prstGeom prst="rect">
              <a:avLst/>
            </a:prstGeom>
            <a:noFill/>
            <a:ln>
              <a:noFill/>
            </a:ln>
          </p:spPr>
          <p:txBody>
            <a:bodyPr wrap="none" lIns="0" tIns="0" rIns="0" bIns="0" anchor="t" anchorCtr="0">
              <a:spAutoFit/>
            </a:bodyPr>
            <a:lstStyle/>
            <a:p>
              <a:pPr algn="l"/>
              <a:r>
                <a:rPr lang="zh-CN" sz="1350" dirty="0">
                  <a:solidFill>
                    <a:srgbClr val="2D2A26"/>
                  </a:solidFill>
                  <a:latin typeface="Arial"/>
                  <a:ea typeface="Microsoft YaHei"/>
                  <a:cs typeface="Arial"/>
                </a:rPr>
                <a:t>常见照明调节主要关注亮度和色温，但这两个指标不能完整描述光的组成。</a:t>
              </a:r>
            </a:p>
          </p:txBody>
        </p:sp>
        <p:sp>
          <p:nvSpPr>
            <p:cNvPr id="21" name="TextBox 21"/>
            <p:cNvSpPr txBox="1"/>
            <p:nvPr/>
          </p:nvSpPr>
          <p:spPr>
            <a:xfrm>
              <a:off x="554355" y="2997518"/>
              <a:ext cx="5074920" cy="274320"/>
            </a:xfrm>
            <a:prstGeom prst="rect">
              <a:avLst/>
            </a:prstGeom>
            <a:noFill/>
            <a:ln>
              <a:noFill/>
            </a:ln>
          </p:spPr>
          <p:txBody>
            <a:bodyPr wrap="none" lIns="0" tIns="0" rIns="0" bIns="0" anchor="t" anchorCtr="0">
              <a:spAutoFit/>
            </a:bodyPr>
            <a:lstStyle/>
            <a:p>
              <a:pPr algn="l"/>
              <a:r>
                <a:rPr lang="zh-CN" sz="1350" dirty="0">
                  <a:solidFill>
                    <a:srgbClr val="2D2A26"/>
                  </a:solidFill>
                  <a:latin typeface="Arial"/>
                  <a:ea typeface="Microsoft YaHei"/>
                  <a:cs typeface="Arial"/>
                </a:rPr>
                <a:t>光谱能表示不同波长上的能量分布，是更细致的光照描述方式。</a:t>
              </a:r>
            </a:p>
          </p:txBody>
        </p:sp>
      </p:grpSp>
      <p:sp>
        <p:nvSpPr>
          <p:cNvPr id="23" name="Rectangle 23"/>
          <p:cNvSpPr/>
          <p:nvPr/>
        </p:nvSpPr>
        <p:spPr>
          <a:xfrm>
            <a:off x="571500" y="3429000"/>
            <a:ext cx="5715000" cy="476250"/>
          </a:xfrm>
          <a:prstGeom prst="roundRect">
            <a:avLst>
              <a:gd name="adj" fmla="val 16000"/>
            </a:avLst>
          </a:prstGeom>
          <a:solidFill>
            <a:srgbClr val="E06B5E">
              <a:alpha val="8000"/>
            </a:srgbClr>
          </a:solidFill>
          <a:ln>
            <a:noFill/>
          </a:ln>
        </p:spPr>
      </p:sp>
      <p:sp>
        <p:nvSpPr>
          <p:cNvPr id="24" name="TextBox 24"/>
          <p:cNvSpPr txBox="1"/>
          <p:nvPr/>
        </p:nvSpPr>
        <p:spPr>
          <a:xfrm>
            <a:off x="745808" y="3577114"/>
            <a:ext cx="5031010" cy="259080"/>
          </a:xfrm>
          <a:prstGeom prst="rect">
            <a:avLst/>
          </a:prstGeom>
          <a:noFill/>
          <a:ln>
            <a:noFill/>
          </a:ln>
        </p:spPr>
        <p:txBody>
          <a:bodyPr wrap="none" lIns="0" tIns="0" rIns="0" bIns="0" anchor="t" anchorCtr="0">
            <a:spAutoFit/>
          </a:bodyPr>
          <a:lstStyle/>
          <a:p>
            <a:pPr algn="l"/>
            <a:r>
              <a:rPr lang="zh-CN" sz="1275" b="1" dirty="0">
                <a:solidFill>
                  <a:srgbClr val="E06B5E"/>
                </a:solidFill>
                <a:latin typeface="Arial"/>
                <a:ea typeface="Microsoft YaHei"/>
                <a:cs typeface="Arial"/>
              </a:rPr>
              <a:t>基于光谱的室内照明调节，是未来高质量照明的一个潜在方向。</a:t>
            </a:r>
          </a:p>
        </p:txBody>
      </p:sp>
      <p:grpSp>
        <p:nvGrpSpPr>
          <p:cNvPr id="28" name="Group 28"/>
          <p:cNvGrpSpPr/>
          <p:nvPr/>
        </p:nvGrpSpPr>
        <p:grpSpPr>
          <a:xfrm>
            <a:off x="6858000" y="1333500"/>
            <a:ext cx="4762500" cy="3521869"/>
            <a:chOff x="6858000" y="1333500"/>
            <a:chExt cx="4762500" cy="3521869"/>
          </a:xfrm>
        </p:grpSpPr>
        <p:sp>
          <p:nvSpPr>
            <p:cNvPr id="25" name="Rectangle 25"/>
            <p:cNvSpPr/>
            <p:nvPr/>
          </p:nvSpPr>
          <p:spPr>
            <a:xfrm>
              <a:off x="6858000" y="1333500"/>
              <a:ext cx="4762500" cy="3238500"/>
            </a:xfrm>
            <a:prstGeom prst="roundRect">
              <a:avLst>
                <a:gd name="adj" fmla="val 3529"/>
              </a:avLst>
            </a:prstGeom>
            <a:solidFill>
              <a:srgbClr val="FFF8EE"/>
            </a:solidFill>
            <a:ln>
              <a:noFill/>
            </a:ln>
          </p:spPr>
        </p:sp>
        <p:pic>
          <p:nvPicPr>
            <p:cNvPr id="26" name="Image 26"/>
            <p:cNvPicPr>
              <a:picLocks noChangeAspect="1"/>
            </p:cNvPicPr>
            <p:nvPr/>
          </p:nvPicPr>
          <p:blipFill>
            <a:blip r:embed="rId2"/>
            <a:stretch>
              <a:fillRect/>
            </a:stretch>
          </p:blipFill>
          <p:spPr>
            <a:xfrm>
              <a:off x="6953250" y="1528938"/>
              <a:ext cx="4572000" cy="2847624"/>
            </a:xfrm>
            <a:prstGeom prst="rect">
              <a:avLst/>
            </a:prstGeom>
          </p:spPr>
        </p:pic>
        <p:sp>
          <p:nvSpPr>
            <p:cNvPr id="27" name="TextBox 27"/>
            <p:cNvSpPr txBox="1"/>
            <p:nvPr/>
          </p:nvSpPr>
          <p:spPr>
            <a:xfrm>
              <a:off x="6940868" y="4657249"/>
              <a:ext cx="1975009" cy="198120"/>
            </a:xfrm>
            <a:prstGeom prst="rect">
              <a:avLst/>
            </a:prstGeom>
            <a:noFill/>
            <a:ln>
              <a:noFill/>
            </a:ln>
          </p:spPr>
          <p:txBody>
            <a:bodyPr wrap="none" lIns="0" tIns="0" rIns="0" bIns="0" anchor="t" anchorCtr="0">
              <a:spAutoFit/>
            </a:bodyPr>
            <a:lstStyle/>
            <a:p>
              <a:pPr algn="l"/>
              <a:r>
                <a:rPr lang="zh-CN" sz="975" dirty="0">
                  <a:solidFill>
                    <a:srgbClr val="8C8578"/>
                  </a:solidFill>
                  <a:latin typeface="Arial"/>
                  <a:ea typeface="Microsoft YaHei"/>
                  <a:cs typeface="Arial"/>
                </a:rPr>
                <a:t>不同天气下平均相对光谱存在差异</a:t>
              </a:r>
            </a:p>
          </p:txBody>
        </p:sp>
      </p:grpSp>
      <p:grpSp>
        <p:nvGrpSpPr>
          <p:cNvPr id="31" name="Group 31"/>
          <p:cNvGrpSpPr/>
          <p:nvPr/>
        </p:nvGrpSpPr>
        <p:grpSpPr>
          <a:xfrm>
            <a:off x="561022" y="6483191"/>
            <a:ext cx="11069955" cy="167640"/>
            <a:chOff x="561022" y="6483191"/>
            <a:chExt cx="11069955" cy="167640"/>
          </a:xfrm>
        </p:grpSpPr>
        <p:sp>
          <p:nvSpPr>
            <p:cNvPr id="29" name="TextBox 29"/>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30" name="TextBox 30"/>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02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400"/>
                                        <p:tgtEl>
                                          <p:spTgt spid="1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slide(fromBottom)">
                                      <p:cBhvr>
                                        <p:cTn id="11" dur="400"/>
                                        <p:tgtEl>
                                          <p:spTgt spid="22"/>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5420439" cy="808197"/>
            <a:chOff x="539115" y="387191"/>
            <a:chExt cx="5420439"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03</a:t>
              </a:r>
            </a:p>
          </p:txBody>
        </p:sp>
        <p:sp>
          <p:nvSpPr>
            <p:cNvPr id="4" name="Rectangle 4"/>
            <p:cNvSpPr/>
            <p:nvPr/>
          </p:nvSpPr>
          <p:spPr>
            <a:xfrm>
              <a:off x="571500" y="619125"/>
              <a:ext cx="476250" cy="28575"/>
            </a:xfrm>
            <a:prstGeom prst="roundRect">
              <a:avLst>
                <a:gd name="adj" fmla="val 50000"/>
              </a:avLst>
            </a:prstGeom>
            <a:solidFill>
              <a:srgbClr val="E06B5E"/>
            </a:solidFill>
            <a:ln>
              <a:noFill/>
            </a:ln>
          </p:spPr>
        </p:sp>
        <p:sp>
          <p:nvSpPr>
            <p:cNvPr id="5" name="TextBox 5"/>
            <p:cNvSpPr txBox="1"/>
            <p:nvPr/>
          </p:nvSpPr>
          <p:spPr>
            <a:xfrm>
              <a:off x="539115" y="677228"/>
              <a:ext cx="5420439"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光谱有价值，但直接测量成本较高</a:t>
              </a:r>
            </a:p>
          </p:txBody>
        </p:sp>
      </p:grpSp>
      <p:grpSp>
        <p:nvGrpSpPr>
          <p:cNvPr id="9" name="Group 9"/>
          <p:cNvGrpSpPr/>
          <p:nvPr/>
        </p:nvGrpSpPr>
        <p:grpSpPr>
          <a:xfrm>
            <a:off x="554355" y="1330642"/>
            <a:ext cx="6875145" cy="560070"/>
            <a:chOff x="554355" y="1330642"/>
            <a:chExt cx="6875145" cy="560070"/>
          </a:xfrm>
        </p:grpSpPr>
        <p:sp>
          <p:nvSpPr>
            <p:cNvPr id="7" name="TextBox 7"/>
            <p:cNvSpPr txBox="1"/>
            <p:nvPr/>
          </p:nvSpPr>
          <p:spPr>
            <a:xfrm>
              <a:off x="554355" y="1330642"/>
              <a:ext cx="6875145" cy="274320"/>
            </a:xfrm>
            <a:prstGeom prst="rect">
              <a:avLst/>
            </a:prstGeom>
            <a:noFill/>
            <a:ln>
              <a:noFill/>
            </a:ln>
          </p:spPr>
          <p:txBody>
            <a:bodyPr wrap="none" lIns="0" tIns="0" rIns="0" bIns="0" anchor="t" anchorCtr="0">
              <a:spAutoFit/>
            </a:bodyPr>
            <a:lstStyle/>
            <a:p>
              <a:pPr algn="l"/>
              <a:r>
                <a:rPr lang="zh-CN" sz="1350" dirty="0">
                  <a:solidFill>
                    <a:srgbClr val="2D2A26"/>
                  </a:solidFill>
                  <a:latin typeface="Arial"/>
                  <a:ea typeface="Microsoft YaHei"/>
                  <a:cs typeface="Arial"/>
                </a:rPr>
                <a:t>如果要获取真实光谱，通常需要专业光谱仪，难以在普通家庭、教室或办公室中普及。</a:t>
              </a:r>
            </a:p>
          </p:txBody>
        </p:sp>
        <p:sp>
          <p:nvSpPr>
            <p:cNvPr id="8" name="TextBox 8"/>
            <p:cNvSpPr txBox="1"/>
            <p:nvPr/>
          </p:nvSpPr>
          <p:spPr>
            <a:xfrm>
              <a:off x="554355" y="1616392"/>
              <a:ext cx="6515100" cy="274320"/>
            </a:xfrm>
            <a:prstGeom prst="rect">
              <a:avLst/>
            </a:prstGeom>
            <a:noFill/>
            <a:ln>
              <a:noFill/>
            </a:ln>
          </p:spPr>
          <p:txBody>
            <a:bodyPr wrap="none" lIns="0" tIns="0" rIns="0" bIns="0" anchor="t" anchorCtr="0">
              <a:spAutoFit/>
            </a:bodyPr>
            <a:lstStyle/>
            <a:p>
              <a:pPr algn="l"/>
              <a:r>
                <a:rPr lang="zh-CN" sz="1350" dirty="0">
                  <a:solidFill>
                    <a:srgbClr val="2D2A26"/>
                  </a:solidFill>
                  <a:latin typeface="Arial"/>
                  <a:ea typeface="Microsoft YaHei"/>
                  <a:cs typeface="Arial"/>
                </a:rPr>
                <a:t>因此，本项目尝试用更容易获得的环境特征，通过机器学习估计自然光相对光谱。</a:t>
              </a:r>
            </a:p>
          </p:txBody>
        </p:sp>
      </p:grpSp>
      <p:grpSp>
        <p:nvGrpSpPr>
          <p:cNvPr id="34" name="Group 34"/>
          <p:cNvGrpSpPr/>
          <p:nvPr/>
        </p:nvGrpSpPr>
        <p:grpSpPr>
          <a:xfrm>
            <a:off x="571500" y="2286000"/>
            <a:ext cx="10001250" cy="1905000"/>
            <a:chOff x="571500" y="2286000"/>
            <a:chExt cx="10001250" cy="1905000"/>
          </a:xfrm>
        </p:grpSpPr>
        <p:sp>
          <p:nvSpPr>
            <p:cNvPr id="10" name="Rectangle 10"/>
            <p:cNvSpPr/>
            <p:nvPr/>
          </p:nvSpPr>
          <p:spPr>
            <a:xfrm>
              <a:off x="571500" y="2286000"/>
              <a:ext cx="2095500" cy="1905000"/>
            </a:xfrm>
            <a:prstGeom prst="roundRect">
              <a:avLst>
                <a:gd name="adj" fmla="val 6000"/>
              </a:avLst>
            </a:prstGeom>
            <a:solidFill>
              <a:srgbClr val="FFF8EE"/>
            </a:solidFill>
            <a:ln>
              <a:noFill/>
            </a:ln>
          </p:spPr>
        </p:sp>
        <p:sp>
          <p:nvSpPr>
            <p:cNvPr id="11" name="TextBox 11"/>
            <p:cNvSpPr txBox="1"/>
            <p:nvPr/>
          </p:nvSpPr>
          <p:spPr>
            <a:xfrm>
              <a:off x="1413081" y="2473642"/>
              <a:ext cx="412337" cy="274320"/>
            </a:xfrm>
            <a:prstGeom prst="rect">
              <a:avLst/>
            </a:prstGeom>
            <a:noFill/>
            <a:ln>
              <a:noFill/>
            </a:ln>
          </p:spPr>
          <p:txBody>
            <a:bodyPr wrap="none" lIns="0" tIns="0" rIns="0" bIns="0" anchor="t" anchorCtr="0">
              <a:spAutoFit/>
            </a:bodyPr>
            <a:lstStyle/>
            <a:p>
              <a:pPr algn="ctr"/>
              <a:r>
                <a:rPr lang="zh-CN" sz="1350" b="1" dirty="0">
                  <a:solidFill>
                    <a:srgbClr val="E06B5E"/>
                  </a:solidFill>
                  <a:latin typeface="Arial"/>
                  <a:ea typeface="Microsoft YaHei"/>
                  <a:cs typeface="Arial"/>
                </a:rPr>
                <a:t>输入</a:t>
              </a:r>
            </a:p>
          </p:txBody>
        </p:sp>
        <p:sp>
          <p:nvSpPr>
            <p:cNvPr id="12" name="TextBox 12"/>
            <p:cNvSpPr txBox="1"/>
            <p:nvPr/>
          </p:nvSpPr>
          <p:spPr>
            <a:xfrm>
              <a:off x="747712" y="2831306"/>
              <a:ext cx="628650"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天气类别</a:t>
              </a:r>
            </a:p>
          </p:txBody>
        </p:sp>
        <p:sp>
          <p:nvSpPr>
            <p:cNvPr id="13" name="TextBox 13"/>
            <p:cNvSpPr txBox="1"/>
            <p:nvPr/>
          </p:nvSpPr>
          <p:spPr>
            <a:xfrm>
              <a:off x="747712" y="3069431"/>
              <a:ext cx="801172"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时间 / 月份</a:t>
              </a:r>
            </a:p>
          </p:txBody>
        </p:sp>
        <p:sp>
          <p:nvSpPr>
            <p:cNvPr id="14" name="TextBox 14"/>
            <p:cNvSpPr txBox="1"/>
            <p:nvPr/>
          </p:nvSpPr>
          <p:spPr>
            <a:xfrm>
              <a:off x="747712" y="3307556"/>
              <a:ext cx="328612"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地点</a:t>
              </a:r>
            </a:p>
          </p:txBody>
        </p:sp>
        <p:sp>
          <p:nvSpPr>
            <p:cNvPr id="15" name="TextBox 15"/>
            <p:cNvSpPr txBox="1"/>
            <p:nvPr/>
          </p:nvSpPr>
          <p:spPr>
            <a:xfrm>
              <a:off x="747712" y="3545681"/>
              <a:ext cx="1401247"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太阳高度角 / 方位角</a:t>
              </a:r>
            </a:p>
          </p:txBody>
        </p:sp>
        <p:sp>
          <p:nvSpPr>
            <p:cNvPr id="16" name="TextBox 16"/>
            <p:cNvSpPr txBox="1"/>
            <p:nvPr/>
          </p:nvSpPr>
          <p:spPr>
            <a:xfrm>
              <a:off x="747712" y="3783806"/>
              <a:ext cx="628650"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室外照度</a:t>
              </a:r>
            </a:p>
          </p:txBody>
        </p:sp>
        <p:sp>
          <p:nvSpPr>
            <p:cNvPr id="17" name="Freeform 17"/>
            <p:cNvSpPr/>
            <p:nvPr/>
          </p:nvSpPr>
          <p:spPr>
            <a:xfrm>
              <a:off x="2762250" y="3238500"/>
              <a:ext cx="476250" cy="9525"/>
            </a:xfrm>
            <a:custGeom>
              <a:avLst/>
              <a:gdLst/>
              <a:ahLst/>
              <a:cxnLst/>
              <a:rect l="l" t="t" r="r" b="b"/>
              <a:pathLst>
                <a:path w="476250" h="9525">
                  <a:moveTo>
                    <a:pt x="0" y="0"/>
                  </a:moveTo>
                  <a:lnTo>
                    <a:pt x="476250" y="0"/>
                  </a:lnTo>
                </a:path>
              </a:pathLst>
            </a:custGeom>
            <a:noFill/>
            <a:ln w="28575">
              <a:gradFill>
                <a:gsLst>
                  <a:gs pos="0">
                    <a:srgbClr val="E06B5E"/>
                  </a:gs>
                  <a:gs pos="100000">
                    <a:srgbClr val="E8842A"/>
                  </a:gs>
                </a:gsLst>
                <a:lin ang="0" scaled="1"/>
              </a:gradFill>
              <a:tailEnd type="triangle" w="lg" len="lg"/>
            </a:ln>
          </p:spPr>
        </p:sp>
        <p:sp>
          <p:nvSpPr>
            <p:cNvPr id="18" name="Rectangle 18"/>
            <p:cNvSpPr/>
            <p:nvPr/>
          </p:nvSpPr>
          <p:spPr>
            <a:xfrm>
              <a:off x="3333750" y="2571750"/>
              <a:ext cx="1905000" cy="1333500"/>
            </a:xfrm>
            <a:prstGeom prst="roundRect">
              <a:avLst>
                <a:gd name="adj" fmla="val 8571"/>
              </a:avLst>
            </a:prstGeom>
            <a:solidFill>
              <a:srgbClr val="E06B5E">
                <a:alpha val="10000"/>
              </a:srgbClr>
            </a:solidFill>
            <a:ln>
              <a:noFill/>
            </a:ln>
          </p:spPr>
        </p:sp>
        <p:sp>
          <p:nvSpPr>
            <p:cNvPr id="19" name="TextBox 19"/>
            <p:cNvSpPr txBox="1"/>
            <p:nvPr/>
          </p:nvSpPr>
          <p:spPr>
            <a:xfrm>
              <a:off x="3891058" y="2902268"/>
              <a:ext cx="790384" cy="274320"/>
            </a:xfrm>
            <a:prstGeom prst="rect">
              <a:avLst/>
            </a:prstGeom>
            <a:noFill/>
            <a:ln>
              <a:noFill/>
            </a:ln>
          </p:spPr>
          <p:txBody>
            <a:bodyPr wrap="none" lIns="0" tIns="0" rIns="0" bIns="0" anchor="t" anchorCtr="0">
              <a:spAutoFit/>
            </a:bodyPr>
            <a:lstStyle/>
            <a:p>
              <a:pPr algn="ctr"/>
              <a:r>
                <a:rPr lang="zh-CN" sz="1350" b="1" dirty="0">
                  <a:solidFill>
                    <a:srgbClr val="E06B5E"/>
                  </a:solidFill>
                  <a:latin typeface="Arial"/>
                  <a:ea typeface="Microsoft YaHei"/>
                  <a:cs typeface="Arial"/>
                </a:rPr>
                <a:t>机器学习</a:t>
              </a:r>
            </a:p>
          </p:txBody>
        </p:sp>
        <p:sp>
          <p:nvSpPr>
            <p:cNvPr id="20" name="TextBox 20"/>
            <p:cNvSpPr txBox="1"/>
            <p:nvPr/>
          </p:nvSpPr>
          <p:spPr>
            <a:xfrm>
              <a:off x="3891058" y="3188018"/>
              <a:ext cx="790384" cy="274320"/>
            </a:xfrm>
            <a:prstGeom prst="rect">
              <a:avLst/>
            </a:prstGeom>
            <a:noFill/>
            <a:ln>
              <a:noFill/>
            </a:ln>
          </p:spPr>
          <p:txBody>
            <a:bodyPr wrap="none" lIns="0" tIns="0" rIns="0" bIns="0" anchor="t" anchorCtr="0">
              <a:spAutoFit/>
            </a:bodyPr>
            <a:lstStyle/>
            <a:p>
              <a:pPr algn="ctr"/>
              <a:r>
                <a:rPr lang="zh-CN" sz="1350" b="1" dirty="0">
                  <a:solidFill>
                    <a:srgbClr val="E06B5E"/>
                  </a:solidFill>
                  <a:latin typeface="Arial"/>
                  <a:ea typeface="Microsoft YaHei"/>
                  <a:cs typeface="Arial"/>
                </a:rPr>
                <a:t>回归模型</a:t>
              </a:r>
            </a:p>
          </p:txBody>
        </p:sp>
        <p:sp>
          <p:nvSpPr>
            <p:cNvPr id="21" name="TextBox 21"/>
            <p:cNvSpPr txBox="1"/>
            <p:nvPr/>
          </p:nvSpPr>
          <p:spPr>
            <a:xfrm>
              <a:off x="3926372" y="3553778"/>
              <a:ext cx="719757" cy="213360"/>
            </a:xfrm>
            <a:prstGeom prst="rect">
              <a:avLst/>
            </a:prstGeom>
            <a:noFill/>
            <a:ln>
              <a:noFill/>
            </a:ln>
          </p:spPr>
          <p:txBody>
            <a:bodyPr wrap="none" lIns="0" tIns="0" rIns="0" bIns="0" anchor="t" anchorCtr="0">
              <a:spAutoFit/>
            </a:bodyPr>
            <a:lstStyle/>
            <a:p>
              <a:pPr algn="ctr"/>
              <a:r>
                <a:rPr lang="zh-CN" sz="1050" dirty="0">
                  <a:solidFill>
                    <a:srgbClr val="8C8578"/>
                  </a:solidFill>
                  <a:latin typeface="Arial"/>
                  <a:ea typeface="Microsoft YaHei"/>
                  <a:cs typeface="Arial"/>
                </a:rPr>
                <a:t>PCA 逆变换</a:t>
              </a:r>
            </a:p>
          </p:txBody>
        </p:sp>
        <p:sp>
          <p:nvSpPr>
            <p:cNvPr id="22" name="Freeform 22"/>
            <p:cNvSpPr/>
            <p:nvPr/>
          </p:nvSpPr>
          <p:spPr>
            <a:xfrm>
              <a:off x="5334000" y="3238500"/>
              <a:ext cx="476250" cy="9525"/>
            </a:xfrm>
            <a:custGeom>
              <a:avLst/>
              <a:gdLst/>
              <a:ahLst/>
              <a:cxnLst/>
              <a:rect l="l" t="t" r="r" b="b"/>
              <a:pathLst>
                <a:path w="476250" h="9525">
                  <a:moveTo>
                    <a:pt x="0" y="0"/>
                  </a:moveTo>
                  <a:lnTo>
                    <a:pt x="476250" y="0"/>
                  </a:lnTo>
                </a:path>
              </a:pathLst>
            </a:custGeom>
            <a:noFill/>
            <a:ln w="28575">
              <a:gradFill>
                <a:gsLst>
                  <a:gs pos="0">
                    <a:srgbClr val="E06B5E"/>
                  </a:gs>
                  <a:gs pos="100000">
                    <a:srgbClr val="E8842A"/>
                  </a:gs>
                </a:gsLst>
                <a:lin ang="0" scaled="1"/>
              </a:gradFill>
              <a:tailEnd type="triangle" w="lg" len="lg"/>
            </a:ln>
          </p:spPr>
        </p:sp>
        <p:sp>
          <p:nvSpPr>
            <p:cNvPr id="23" name="Rectangle 23"/>
            <p:cNvSpPr/>
            <p:nvPr/>
          </p:nvSpPr>
          <p:spPr>
            <a:xfrm>
              <a:off x="5905500" y="2476500"/>
              <a:ext cx="1905000" cy="1524000"/>
            </a:xfrm>
            <a:prstGeom prst="roundRect">
              <a:avLst>
                <a:gd name="adj" fmla="val 7500"/>
              </a:avLst>
            </a:prstGeom>
            <a:solidFill>
              <a:srgbClr val="FFF8EE"/>
            </a:solidFill>
            <a:ln>
              <a:noFill/>
            </a:ln>
          </p:spPr>
        </p:sp>
        <p:sp>
          <p:nvSpPr>
            <p:cNvPr id="24" name="TextBox 24"/>
            <p:cNvSpPr txBox="1"/>
            <p:nvPr/>
          </p:nvSpPr>
          <p:spPr>
            <a:xfrm>
              <a:off x="6651831" y="2711768"/>
              <a:ext cx="412337" cy="274320"/>
            </a:xfrm>
            <a:prstGeom prst="rect">
              <a:avLst/>
            </a:prstGeom>
            <a:noFill/>
            <a:ln>
              <a:noFill/>
            </a:ln>
          </p:spPr>
          <p:txBody>
            <a:bodyPr wrap="none" lIns="0" tIns="0" rIns="0" bIns="0" anchor="t" anchorCtr="0">
              <a:spAutoFit/>
            </a:bodyPr>
            <a:lstStyle/>
            <a:p>
              <a:pPr algn="ctr"/>
              <a:r>
                <a:rPr lang="zh-CN" sz="1350" b="1" dirty="0">
                  <a:solidFill>
                    <a:srgbClr val="E06B5E"/>
                  </a:solidFill>
                  <a:latin typeface="Arial"/>
                  <a:ea typeface="Microsoft YaHei"/>
                  <a:cs typeface="Arial"/>
                </a:rPr>
                <a:t>输出</a:t>
              </a:r>
            </a:p>
          </p:txBody>
        </p:sp>
        <p:sp>
          <p:nvSpPr>
            <p:cNvPr id="25" name="TextBox 25"/>
            <p:cNvSpPr txBox="1"/>
            <p:nvPr/>
          </p:nvSpPr>
          <p:spPr>
            <a:xfrm>
              <a:off x="6081712" y="3069431"/>
              <a:ext cx="1078706"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自然光相对光谱</a:t>
              </a:r>
            </a:p>
          </p:txBody>
        </p:sp>
        <p:sp>
          <p:nvSpPr>
            <p:cNvPr id="26" name="TextBox 26"/>
            <p:cNvSpPr txBox="1"/>
            <p:nvPr/>
          </p:nvSpPr>
          <p:spPr>
            <a:xfrm>
              <a:off x="6081712" y="3307556"/>
              <a:ext cx="846177"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380–780 nm</a:t>
              </a:r>
            </a:p>
          </p:txBody>
        </p:sp>
        <p:sp>
          <p:nvSpPr>
            <p:cNvPr id="27" name="TextBox 27"/>
            <p:cNvSpPr txBox="1"/>
            <p:nvPr/>
          </p:nvSpPr>
          <p:spPr>
            <a:xfrm>
              <a:off x="6081712" y="3545681"/>
              <a:ext cx="838676"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41 个波长点</a:t>
              </a:r>
            </a:p>
          </p:txBody>
        </p:sp>
        <p:sp>
          <p:nvSpPr>
            <p:cNvPr id="28" name="Freeform 28"/>
            <p:cNvSpPr/>
            <p:nvPr/>
          </p:nvSpPr>
          <p:spPr>
            <a:xfrm>
              <a:off x="7905750" y="3238500"/>
              <a:ext cx="476250" cy="9525"/>
            </a:xfrm>
            <a:custGeom>
              <a:avLst/>
              <a:gdLst/>
              <a:ahLst/>
              <a:cxnLst/>
              <a:rect l="l" t="t" r="r" b="b"/>
              <a:pathLst>
                <a:path w="476250" h="9525">
                  <a:moveTo>
                    <a:pt x="0" y="0"/>
                  </a:moveTo>
                  <a:lnTo>
                    <a:pt x="476250" y="0"/>
                  </a:lnTo>
                </a:path>
              </a:pathLst>
            </a:custGeom>
            <a:noFill/>
            <a:ln w="28575">
              <a:gradFill>
                <a:gsLst>
                  <a:gs pos="0">
                    <a:srgbClr val="E06B5E"/>
                  </a:gs>
                  <a:gs pos="100000">
                    <a:srgbClr val="E8842A"/>
                  </a:gs>
                </a:gsLst>
                <a:lin ang="0" scaled="1"/>
              </a:gradFill>
              <a:tailEnd type="triangle" w="lg" len="lg"/>
            </a:ln>
          </p:spPr>
        </p:sp>
        <p:sp>
          <p:nvSpPr>
            <p:cNvPr id="29" name="Rectangle 29"/>
            <p:cNvSpPr/>
            <p:nvPr/>
          </p:nvSpPr>
          <p:spPr>
            <a:xfrm>
              <a:off x="8477250" y="2476500"/>
              <a:ext cx="2095500" cy="1524000"/>
            </a:xfrm>
            <a:prstGeom prst="roundRect">
              <a:avLst>
                <a:gd name="adj" fmla="val 7500"/>
              </a:avLst>
            </a:prstGeom>
            <a:solidFill>
              <a:srgbClr val="FFF8EE"/>
            </a:solidFill>
            <a:ln>
              <a:noFill/>
            </a:ln>
          </p:spPr>
        </p:sp>
        <p:sp>
          <p:nvSpPr>
            <p:cNvPr id="30" name="TextBox 30"/>
            <p:cNvSpPr txBox="1"/>
            <p:nvPr/>
          </p:nvSpPr>
          <p:spPr>
            <a:xfrm>
              <a:off x="9318831" y="2711768"/>
              <a:ext cx="412337" cy="274320"/>
            </a:xfrm>
            <a:prstGeom prst="rect">
              <a:avLst/>
            </a:prstGeom>
            <a:noFill/>
            <a:ln>
              <a:noFill/>
            </a:ln>
          </p:spPr>
          <p:txBody>
            <a:bodyPr wrap="none" lIns="0" tIns="0" rIns="0" bIns="0" anchor="t" anchorCtr="0">
              <a:spAutoFit/>
            </a:bodyPr>
            <a:lstStyle/>
            <a:p>
              <a:pPr algn="ctr"/>
              <a:r>
                <a:rPr lang="zh-CN" sz="1350" b="1" dirty="0">
                  <a:solidFill>
                    <a:srgbClr val="E06B5E"/>
                  </a:solidFill>
                  <a:latin typeface="Arial"/>
                  <a:ea typeface="Microsoft YaHei"/>
                  <a:cs typeface="Arial"/>
                </a:rPr>
                <a:t>应用</a:t>
              </a:r>
            </a:p>
          </p:txBody>
        </p:sp>
        <p:sp>
          <p:nvSpPr>
            <p:cNvPr id="31" name="TextBox 31"/>
            <p:cNvSpPr txBox="1"/>
            <p:nvPr/>
          </p:nvSpPr>
          <p:spPr>
            <a:xfrm>
              <a:off x="8653462" y="3069431"/>
              <a:ext cx="1251228"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目标光谱 − 自然光</a:t>
              </a:r>
            </a:p>
          </p:txBody>
        </p:sp>
        <p:sp>
          <p:nvSpPr>
            <p:cNvPr id="32" name="TextBox 32"/>
            <p:cNvSpPr txBox="1"/>
            <p:nvPr/>
          </p:nvSpPr>
          <p:spPr>
            <a:xfrm>
              <a:off x="8653462" y="3307556"/>
              <a:ext cx="1206222"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 需要补偿的光谱</a:t>
              </a:r>
            </a:p>
          </p:txBody>
        </p:sp>
        <p:sp>
          <p:nvSpPr>
            <p:cNvPr id="33" name="TextBox 33"/>
            <p:cNvSpPr txBox="1"/>
            <p:nvPr/>
          </p:nvSpPr>
          <p:spPr>
            <a:xfrm>
              <a:off x="8653462" y="3593306"/>
              <a:ext cx="1243727"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 七通道 LED 补偿</a:t>
              </a:r>
            </a:p>
          </p:txBody>
        </p:sp>
      </p:grpSp>
      <p:sp>
        <p:nvSpPr>
          <p:cNvPr id="35" name="Rectangle 35"/>
          <p:cNvSpPr/>
          <p:nvPr/>
        </p:nvSpPr>
        <p:spPr>
          <a:xfrm>
            <a:off x="571500" y="4667250"/>
            <a:ext cx="10001250" cy="571500"/>
          </a:xfrm>
          <a:prstGeom prst="roundRect">
            <a:avLst>
              <a:gd name="adj" fmla="val 16667"/>
            </a:avLst>
          </a:prstGeom>
          <a:solidFill>
            <a:srgbClr val="E06B5E">
              <a:alpha val="6000"/>
            </a:srgbClr>
          </a:solidFill>
          <a:ln>
            <a:noFill/>
          </a:ln>
        </p:spPr>
      </p:sp>
      <p:sp>
        <p:nvSpPr>
          <p:cNvPr id="36" name="TextBox 36"/>
          <p:cNvSpPr txBox="1"/>
          <p:nvPr/>
        </p:nvSpPr>
        <p:spPr>
          <a:xfrm>
            <a:off x="742950" y="4838700"/>
            <a:ext cx="7809071" cy="304800"/>
          </a:xfrm>
          <a:prstGeom prst="rect">
            <a:avLst/>
          </a:prstGeom>
          <a:noFill/>
          <a:ln>
            <a:noFill/>
          </a:ln>
        </p:spPr>
        <p:txBody>
          <a:bodyPr wrap="none" lIns="0" tIns="0" rIns="0" bIns="0" anchor="t" anchorCtr="0">
            <a:spAutoFit/>
          </a:bodyPr>
          <a:lstStyle/>
          <a:p>
            <a:pPr algn="l"/>
            <a:r>
              <a:rPr lang="zh-CN" sz="1500" b="1" dirty="0">
                <a:solidFill>
                  <a:srgbClr val="E06B5E"/>
                </a:solidFill>
                <a:latin typeface="Arial"/>
                <a:ea typeface="Microsoft YaHei"/>
                <a:cs typeface="Arial"/>
              </a:rPr>
              <a:t>一句话目标：输入低成本环境特征，输出自然光相对光谱，并进一步用于照明补偿。</a:t>
            </a:r>
          </a:p>
        </p:txBody>
      </p:sp>
      <p:grpSp>
        <p:nvGrpSpPr>
          <p:cNvPr id="39" name="Group 39"/>
          <p:cNvGrpSpPr/>
          <p:nvPr/>
        </p:nvGrpSpPr>
        <p:grpSpPr>
          <a:xfrm>
            <a:off x="561022" y="6483191"/>
            <a:ext cx="11069955" cy="167640"/>
            <a:chOff x="561022" y="6483191"/>
            <a:chExt cx="11069955" cy="167640"/>
          </a:xfrm>
        </p:grpSpPr>
        <p:sp>
          <p:nvSpPr>
            <p:cNvPr id="37" name="TextBox 37"/>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38" name="TextBox 38"/>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03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6134529" cy="808197"/>
            <a:chOff x="539115" y="387191"/>
            <a:chExt cx="6134529"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04</a:t>
              </a:r>
            </a:p>
          </p:txBody>
        </p:sp>
        <p:sp>
          <p:nvSpPr>
            <p:cNvPr id="4" name="Rectangle 4"/>
            <p:cNvSpPr/>
            <p:nvPr/>
          </p:nvSpPr>
          <p:spPr>
            <a:xfrm>
              <a:off x="571500" y="619125"/>
              <a:ext cx="476250" cy="28575"/>
            </a:xfrm>
            <a:prstGeom prst="roundRect">
              <a:avLst>
                <a:gd name="adj" fmla="val 50000"/>
              </a:avLst>
            </a:prstGeom>
            <a:solidFill>
              <a:srgbClr val="3D8B5E"/>
            </a:solidFill>
            <a:ln>
              <a:noFill/>
            </a:ln>
          </p:spPr>
        </p:sp>
        <p:sp>
          <p:nvSpPr>
            <p:cNvPr id="5" name="TextBox 5"/>
            <p:cNvSpPr txBox="1"/>
            <p:nvPr/>
          </p:nvSpPr>
          <p:spPr>
            <a:xfrm>
              <a:off x="539115" y="677228"/>
              <a:ext cx="6134529"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把真实观测数据整理成可训练的数据表</a:t>
              </a:r>
            </a:p>
          </p:txBody>
        </p:sp>
      </p:grpSp>
      <p:grpSp>
        <p:nvGrpSpPr>
          <p:cNvPr id="26" name="Group 26"/>
          <p:cNvGrpSpPr/>
          <p:nvPr/>
        </p:nvGrpSpPr>
        <p:grpSpPr>
          <a:xfrm>
            <a:off x="571500" y="1333500"/>
            <a:ext cx="11049000" cy="1905000"/>
            <a:chOff x="571500" y="1333500"/>
            <a:chExt cx="11049000" cy="1905000"/>
          </a:xfrm>
        </p:grpSpPr>
        <p:sp>
          <p:nvSpPr>
            <p:cNvPr id="7" name="Rectangle 7"/>
            <p:cNvSpPr/>
            <p:nvPr/>
          </p:nvSpPr>
          <p:spPr>
            <a:xfrm>
              <a:off x="571500" y="1333500"/>
              <a:ext cx="3524250" cy="1905000"/>
            </a:xfrm>
            <a:prstGeom prst="roundRect">
              <a:avLst>
                <a:gd name="adj" fmla="val 6000"/>
              </a:avLst>
            </a:prstGeom>
            <a:solidFill>
              <a:srgbClr val="FFF8EE"/>
            </a:solidFill>
            <a:ln>
              <a:noFill/>
            </a:ln>
          </p:spPr>
        </p:sp>
        <p:sp>
          <p:nvSpPr>
            <p:cNvPr id="8" name="Rectangle 8"/>
            <p:cNvSpPr/>
            <p:nvPr/>
          </p:nvSpPr>
          <p:spPr>
            <a:xfrm>
              <a:off x="571500" y="1333500"/>
              <a:ext cx="3524250" cy="38100"/>
            </a:xfrm>
            <a:prstGeom prst="roundRect">
              <a:avLst>
                <a:gd name="adj" fmla="val 50000"/>
              </a:avLst>
            </a:prstGeom>
            <a:solidFill>
              <a:srgbClr val="3D8B5E"/>
            </a:solidFill>
            <a:ln>
              <a:noFill/>
            </a:ln>
          </p:spPr>
        </p:sp>
        <p:sp>
          <p:nvSpPr>
            <p:cNvPr id="9" name="TextBox 9"/>
            <p:cNvSpPr txBox="1"/>
            <p:nvPr/>
          </p:nvSpPr>
          <p:spPr>
            <a:xfrm>
              <a:off x="744855" y="1568768"/>
              <a:ext cx="2264769" cy="274320"/>
            </a:xfrm>
            <a:prstGeom prst="rect">
              <a:avLst/>
            </a:prstGeom>
            <a:noFill/>
            <a:ln>
              <a:noFill/>
            </a:ln>
          </p:spPr>
          <p:txBody>
            <a:bodyPr wrap="none" lIns="0" tIns="0" rIns="0" bIns="0" anchor="t" anchorCtr="0">
              <a:spAutoFit/>
            </a:bodyPr>
            <a:lstStyle/>
            <a:p>
              <a:pPr algn="l"/>
              <a:r>
                <a:rPr lang="zh-CN" sz="1350" b="1" dirty="0">
                  <a:solidFill>
                    <a:srgbClr val="3D8B5E"/>
                  </a:solidFill>
                  <a:latin typeface="Arial"/>
                  <a:ea typeface="Microsoft YaHei"/>
                  <a:cs typeface="Arial"/>
                </a:rPr>
                <a:t>SKYSPECTRA 实测天光光谱</a:t>
              </a:r>
            </a:p>
          </p:txBody>
        </p:sp>
        <p:sp>
          <p:nvSpPr>
            <p:cNvPr id="10" name="TextBox 10"/>
            <p:cNvSpPr txBox="1"/>
            <p:nvPr/>
          </p:nvSpPr>
          <p:spPr>
            <a:xfrm>
              <a:off x="747712" y="1878806"/>
              <a:ext cx="1686282"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Zenodo record 8147546</a:t>
              </a:r>
            </a:p>
          </p:txBody>
        </p:sp>
        <p:sp>
          <p:nvSpPr>
            <p:cNvPr id="11" name="TextBox 11"/>
            <p:cNvSpPr txBox="1"/>
            <p:nvPr/>
          </p:nvSpPr>
          <p:spPr>
            <a:xfrm>
              <a:off x="747712" y="2116931"/>
              <a:ext cx="2001322"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水平天光光谱 + 站点、时间、</a:t>
              </a:r>
            </a:p>
          </p:txBody>
        </p:sp>
        <p:sp>
          <p:nvSpPr>
            <p:cNvPr id="12" name="TextBox 12"/>
            <p:cNvSpPr txBox="1"/>
            <p:nvPr/>
          </p:nvSpPr>
          <p:spPr>
            <a:xfrm>
              <a:off x="747712" y="2355056"/>
              <a:ext cx="1828800"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天空状况、太阳位置元数据</a:t>
              </a:r>
            </a:p>
          </p:txBody>
        </p:sp>
        <p:sp>
          <p:nvSpPr>
            <p:cNvPr id="13" name="TextBox 13"/>
            <p:cNvSpPr txBox="1"/>
            <p:nvPr/>
          </p:nvSpPr>
          <p:spPr>
            <a:xfrm>
              <a:off x="748665" y="2648902"/>
              <a:ext cx="1930908" cy="213360"/>
            </a:xfrm>
            <a:prstGeom prst="rect">
              <a:avLst/>
            </a:prstGeom>
            <a:noFill/>
            <a:ln>
              <a:noFill/>
            </a:ln>
          </p:spPr>
          <p:txBody>
            <a:bodyPr wrap="none" lIns="0" tIns="0" rIns="0" bIns="0" anchor="t" anchorCtr="0">
              <a:spAutoFit/>
            </a:bodyPr>
            <a:lstStyle/>
            <a:p>
              <a:pPr algn="l"/>
              <a:r>
                <a:rPr lang="zh-CN" sz="1050" dirty="0">
                  <a:solidFill>
                    <a:srgbClr val="8C8578"/>
                  </a:solidFill>
                  <a:latin typeface="Arial"/>
                  <a:ea typeface="Microsoft YaHei"/>
                  <a:cs typeface="Arial"/>
                </a:rPr>
                <a:t>重采样到 380–780 nm / 10 nm</a:t>
              </a:r>
            </a:p>
          </p:txBody>
        </p:sp>
        <p:sp>
          <p:nvSpPr>
            <p:cNvPr id="14" name="Rectangle 14"/>
            <p:cNvSpPr/>
            <p:nvPr/>
          </p:nvSpPr>
          <p:spPr>
            <a:xfrm>
              <a:off x="4333875" y="1333500"/>
              <a:ext cx="3524250" cy="1905000"/>
            </a:xfrm>
            <a:prstGeom prst="roundRect">
              <a:avLst>
                <a:gd name="adj" fmla="val 6000"/>
              </a:avLst>
            </a:prstGeom>
            <a:solidFill>
              <a:srgbClr val="FFF8EE"/>
            </a:solidFill>
            <a:ln>
              <a:noFill/>
            </a:ln>
          </p:spPr>
        </p:sp>
        <p:sp>
          <p:nvSpPr>
            <p:cNvPr id="15" name="Rectangle 15"/>
            <p:cNvSpPr/>
            <p:nvPr/>
          </p:nvSpPr>
          <p:spPr>
            <a:xfrm>
              <a:off x="4333875" y="1333500"/>
              <a:ext cx="3524250" cy="38100"/>
            </a:xfrm>
            <a:prstGeom prst="roundRect">
              <a:avLst>
                <a:gd name="adj" fmla="val 50000"/>
              </a:avLst>
            </a:prstGeom>
            <a:solidFill>
              <a:srgbClr val="3D8B5E"/>
            </a:solidFill>
            <a:ln>
              <a:noFill/>
            </a:ln>
          </p:spPr>
        </p:sp>
        <p:sp>
          <p:nvSpPr>
            <p:cNvPr id="16" name="TextBox 16"/>
            <p:cNvSpPr txBox="1"/>
            <p:nvPr/>
          </p:nvSpPr>
          <p:spPr>
            <a:xfrm>
              <a:off x="4507230" y="1568768"/>
              <a:ext cx="2283671" cy="274320"/>
            </a:xfrm>
            <a:prstGeom prst="rect">
              <a:avLst/>
            </a:prstGeom>
            <a:noFill/>
            <a:ln>
              <a:noFill/>
            </a:ln>
          </p:spPr>
          <p:txBody>
            <a:bodyPr wrap="none" lIns="0" tIns="0" rIns="0" bIns="0" anchor="t" anchorCtr="0">
              <a:spAutoFit/>
            </a:bodyPr>
            <a:lstStyle/>
            <a:p>
              <a:pPr algn="l"/>
              <a:r>
                <a:rPr lang="zh-CN" sz="1350" b="1" dirty="0">
                  <a:solidFill>
                    <a:srgbClr val="3D8B5E"/>
                  </a:solidFill>
                  <a:latin typeface="Arial"/>
                  <a:ea typeface="Microsoft YaHei"/>
                  <a:cs typeface="Arial"/>
                </a:rPr>
                <a:t>Open-Meteo 历史天气 API</a:t>
              </a:r>
            </a:p>
          </p:txBody>
        </p:sp>
        <p:sp>
          <p:nvSpPr>
            <p:cNvPr id="17" name="TextBox 17"/>
            <p:cNvSpPr txBox="1"/>
            <p:nvPr/>
          </p:nvSpPr>
          <p:spPr>
            <a:xfrm>
              <a:off x="4510088" y="1878806"/>
              <a:ext cx="2128838"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按观测站经纬度和日期范围查询</a:t>
              </a:r>
            </a:p>
          </p:txBody>
        </p:sp>
        <p:sp>
          <p:nvSpPr>
            <p:cNvPr id="18" name="TextBox 18"/>
            <p:cNvSpPr txBox="1"/>
            <p:nvPr/>
          </p:nvSpPr>
          <p:spPr>
            <a:xfrm>
              <a:off x="4510088" y="2116931"/>
              <a:ext cx="1678781"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云量、湿度、温度、降水</a:t>
              </a:r>
            </a:p>
          </p:txBody>
        </p:sp>
        <p:sp>
          <p:nvSpPr>
            <p:cNvPr id="19" name="TextBox 19"/>
            <p:cNvSpPr txBox="1"/>
            <p:nvPr/>
          </p:nvSpPr>
          <p:spPr>
            <a:xfrm>
              <a:off x="4510088" y="2355056"/>
              <a:ext cx="1828800"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按最近整点与光谱测量对齐</a:t>
              </a:r>
            </a:p>
          </p:txBody>
        </p:sp>
        <p:sp>
          <p:nvSpPr>
            <p:cNvPr id="20" name="Rectangle 20"/>
            <p:cNvSpPr/>
            <p:nvPr/>
          </p:nvSpPr>
          <p:spPr>
            <a:xfrm>
              <a:off x="8096250" y="1333500"/>
              <a:ext cx="3524250" cy="1905000"/>
            </a:xfrm>
            <a:prstGeom prst="roundRect">
              <a:avLst>
                <a:gd name="adj" fmla="val 6000"/>
              </a:avLst>
            </a:prstGeom>
            <a:solidFill>
              <a:srgbClr val="FFF8EE"/>
            </a:solidFill>
            <a:ln>
              <a:noFill/>
            </a:ln>
          </p:spPr>
        </p:sp>
        <p:sp>
          <p:nvSpPr>
            <p:cNvPr id="21" name="Rectangle 21"/>
            <p:cNvSpPr/>
            <p:nvPr/>
          </p:nvSpPr>
          <p:spPr>
            <a:xfrm>
              <a:off x="8096250" y="1333500"/>
              <a:ext cx="3524250" cy="38100"/>
            </a:xfrm>
            <a:prstGeom prst="roundRect">
              <a:avLst>
                <a:gd name="adj" fmla="val 50000"/>
              </a:avLst>
            </a:prstGeom>
            <a:solidFill>
              <a:srgbClr val="3D8B5E"/>
            </a:solidFill>
            <a:ln>
              <a:noFill/>
            </a:ln>
          </p:spPr>
        </p:sp>
        <p:sp>
          <p:nvSpPr>
            <p:cNvPr id="22" name="TextBox 22"/>
            <p:cNvSpPr txBox="1"/>
            <p:nvPr/>
          </p:nvSpPr>
          <p:spPr>
            <a:xfrm>
              <a:off x="8269605" y="1568768"/>
              <a:ext cx="1593735" cy="274320"/>
            </a:xfrm>
            <a:prstGeom prst="rect">
              <a:avLst/>
            </a:prstGeom>
            <a:noFill/>
            <a:ln>
              <a:noFill/>
            </a:ln>
          </p:spPr>
          <p:txBody>
            <a:bodyPr wrap="none" lIns="0" tIns="0" rIns="0" bIns="0" anchor="t" anchorCtr="0">
              <a:spAutoFit/>
            </a:bodyPr>
            <a:lstStyle/>
            <a:p>
              <a:pPr algn="l"/>
              <a:r>
                <a:rPr lang="zh-CN" sz="1350" b="1" dirty="0">
                  <a:solidFill>
                    <a:srgbClr val="3D8B5E"/>
                  </a:solidFill>
                  <a:latin typeface="Arial"/>
                  <a:ea typeface="Microsoft YaHei"/>
                  <a:cs typeface="Arial"/>
                </a:rPr>
                <a:t>公开 LED 光谱数据</a:t>
              </a:r>
            </a:p>
          </p:txBody>
        </p:sp>
        <p:sp>
          <p:nvSpPr>
            <p:cNvPr id="23" name="TextBox 23"/>
            <p:cNvSpPr txBox="1"/>
            <p:nvPr/>
          </p:nvSpPr>
          <p:spPr>
            <a:xfrm>
              <a:off x="8272462" y="1878806"/>
              <a:ext cx="2016323"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用于构造七通道 LED 补偿模型</a:t>
              </a:r>
            </a:p>
          </p:txBody>
        </p:sp>
        <p:sp>
          <p:nvSpPr>
            <p:cNvPr id="24" name="TextBox 24"/>
            <p:cNvSpPr txBox="1"/>
            <p:nvPr/>
          </p:nvSpPr>
          <p:spPr>
            <a:xfrm>
              <a:off x="8272462" y="2116931"/>
              <a:ext cx="2578894"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深蓝、青、绿、琥珀、红、暖白、冷白</a:t>
              </a:r>
            </a:p>
          </p:txBody>
        </p:sp>
        <p:sp>
          <p:nvSpPr>
            <p:cNvPr id="25" name="TextBox 25"/>
            <p:cNvSpPr txBox="1"/>
            <p:nvPr/>
          </p:nvSpPr>
          <p:spPr>
            <a:xfrm>
              <a:off x="8273415" y="2363152"/>
              <a:ext cx="2126932" cy="213360"/>
            </a:xfrm>
            <a:prstGeom prst="rect">
              <a:avLst/>
            </a:prstGeom>
            <a:noFill/>
            <a:ln>
              <a:noFill/>
            </a:ln>
          </p:spPr>
          <p:txBody>
            <a:bodyPr wrap="none" lIns="0" tIns="0" rIns="0" bIns="0" anchor="t" anchorCtr="0">
              <a:spAutoFit/>
            </a:bodyPr>
            <a:lstStyle/>
            <a:p>
              <a:pPr algn="l"/>
              <a:r>
                <a:rPr lang="zh-CN" sz="1050" dirty="0">
                  <a:solidFill>
                    <a:srgbClr val="8C8578"/>
                  </a:solidFill>
                  <a:latin typeface="Arial"/>
                  <a:ea typeface="Microsoft YaHei"/>
                  <a:cs typeface="Arial"/>
                </a:rPr>
                <a:t>只用于应用补偿，不参与模型训练</a:t>
              </a:r>
            </a:p>
          </p:txBody>
        </p:sp>
      </p:grpSp>
      <p:grpSp>
        <p:nvGrpSpPr>
          <p:cNvPr id="45" name="Group 45"/>
          <p:cNvGrpSpPr/>
          <p:nvPr/>
        </p:nvGrpSpPr>
        <p:grpSpPr>
          <a:xfrm>
            <a:off x="552450" y="3457575"/>
            <a:ext cx="10591800" cy="828675"/>
            <a:chOff x="552450" y="3457575"/>
            <a:chExt cx="10591800" cy="828675"/>
          </a:xfrm>
        </p:grpSpPr>
        <p:sp>
          <p:nvSpPr>
            <p:cNvPr id="27" name="TextBox 27"/>
            <p:cNvSpPr txBox="1"/>
            <p:nvPr/>
          </p:nvSpPr>
          <p:spPr>
            <a:xfrm>
              <a:off x="552450" y="3457575"/>
              <a:ext cx="878205" cy="304800"/>
            </a:xfrm>
            <a:prstGeom prst="rect">
              <a:avLst/>
            </a:prstGeom>
            <a:noFill/>
            <a:ln>
              <a:noFill/>
            </a:ln>
          </p:spPr>
          <p:txBody>
            <a:bodyPr wrap="none" lIns="0" tIns="0" rIns="0" bIns="0" anchor="t" anchorCtr="0">
              <a:spAutoFit/>
            </a:bodyPr>
            <a:lstStyle/>
            <a:p>
              <a:pPr algn="l"/>
              <a:r>
                <a:rPr lang="zh-CN" sz="1500" b="1" dirty="0">
                  <a:solidFill>
                    <a:srgbClr val="2D2A26"/>
                  </a:solidFill>
                  <a:latin typeface="Arial"/>
                  <a:ea typeface="Microsoft YaHei"/>
                  <a:cs typeface="Arial"/>
                </a:rPr>
                <a:t>处理流程</a:t>
              </a:r>
            </a:p>
          </p:txBody>
        </p:sp>
        <p:sp>
          <p:nvSpPr>
            <p:cNvPr id="28" name="Rectangle 28"/>
            <p:cNvSpPr/>
            <p:nvPr/>
          </p:nvSpPr>
          <p:spPr>
            <a:xfrm>
              <a:off x="571500" y="3810000"/>
              <a:ext cx="1524000" cy="476250"/>
            </a:xfrm>
            <a:prstGeom prst="roundRect">
              <a:avLst>
                <a:gd name="adj" fmla="val 16000"/>
              </a:avLst>
            </a:prstGeom>
            <a:solidFill>
              <a:srgbClr val="3D8B5E">
                <a:alpha val="10000"/>
              </a:srgbClr>
            </a:solidFill>
            <a:ln>
              <a:noFill/>
            </a:ln>
          </p:spPr>
        </p:sp>
        <p:sp>
          <p:nvSpPr>
            <p:cNvPr id="29" name="TextBox 29"/>
            <p:cNvSpPr txBox="1"/>
            <p:nvPr/>
          </p:nvSpPr>
          <p:spPr>
            <a:xfrm>
              <a:off x="1019175" y="3974306"/>
              <a:ext cx="628650" cy="228600"/>
            </a:xfrm>
            <a:prstGeom prst="rect">
              <a:avLst/>
            </a:prstGeom>
            <a:noFill/>
            <a:ln>
              <a:noFill/>
            </a:ln>
          </p:spPr>
          <p:txBody>
            <a:bodyPr wrap="none" lIns="0" tIns="0" rIns="0" bIns="0" anchor="t" anchorCtr="0">
              <a:spAutoFit/>
            </a:bodyPr>
            <a:lstStyle/>
            <a:p>
              <a:pPr algn="ctr"/>
              <a:r>
                <a:rPr lang="zh-CN" sz="1125" dirty="0">
                  <a:solidFill>
                    <a:srgbClr val="3D8B5E"/>
                  </a:solidFill>
                  <a:latin typeface="Arial"/>
                  <a:ea typeface="Microsoft YaHei"/>
                  <a:cs typeface="Arial"/>
                </a:rPr>
                <a:t>文件合并</a:t>
              </a:r>
            </a:p>
          </p:txBody>
        </p:sp>
        <p:sp>
          <p:nvSpPr>
            <p:cNvPr id="30" name="TextBox 30"/>
            <p:cNvSpPr txBox="1"/>
            <p:nvPr/>
          </p:nvSpPr>
          <p:spPr>
            <a:xfrm>
              <a:off x="2173605" y="3950018"/>
              <a:ext cx="133302" cy="274320"/>
            </a:xfrm>
            <a:prstGeom prst="rect">
              <a:avLst/>
            </a:prstGeom>
            <a:noFill/>
            <a:ln>
              <a:noFill/>
            </a:ln>
          </p:spPr>
          <p:txBody>
            <a:bodyPr wrap="none" lIns="0" tIns="0" rIns="0" bIns="0" anchor="t" anchorCtr="0">
              <a:spAutoFit/>
            </a:bodyPr>
            <a:lstStyle/>
            <a:p>
              <a:pPr algn="l"/>
              <a:r>
                <a:rPr lang="zh-CN" sz="1350" dirty="0">
                  <a:solidFill>
                    <a:srgbClr val="E8E0D4"/>
                  </a:solidFill>
                  <a:latin typeface="Arial"/>
                  <a:ea typeface="Microsoft YaHei"/>
                  <a:cs typeface="Arial"/>
                </a:rPr>
                <a:t>→</a:t>
              </a:r>
            </a:p>
          </p:txBody>
        </p:sp>
        <p:sp>
          <p:nvSpPr>
            <p:cNvPr id="31" name="Rectangle 31"/>
            <p:cNvSpPr/>
            <p:nvPr/>
          </p:nvSpPr>
          <p:spPr>
            <a:xfrm>
              <a:off x="2381250" y="3810000"/>
              <a:ext cx="1524000" cy="476250"/>
            </a:xfrm>
            <a:prstGeom prst="roundRect">
              <a:avLst>
                <a:gd name="adj" fmla="val 16000"/>
              </a:avLst>
            </a:prstGeom>
            <a:solidFill>
              <a:srgbClr val="3D8B5E">
                <a:alpha val="10000"/>
              </a:srgbClr>
            </a:solidFill>
            <a:ln>
              <a:noFill/>
            </a:ln>
          </p:spPr>
        </p:sp>
        <p:sp>
          <p:nvSpPr>
            <p:cNvPr id="32" name="TextBox 32"/>
            <p:cNvSpPr txBox="1"/>
            <p:nvPr/>
          </p:nvSpPr>
          <p:spPr>
            <a:xfrm>
              <a:off x="2828925" y="3974306"/>
              <a:ext cx="628650" cy="228600"/>
            </a:xfrm>
            <a:prstGeom prst="rect">
              <a:avLst/>
            </a:prstGeom>
            <a:noFill/>
            <a:ln>
              <a:noFill/>
            </a:ln>
          </p:spPr>
          <p:txBody>
            <a:bodyPr wrap="none" lIns="0" tIns="0" rIns="0" bIns="0" anchor="t" anchorCtr="0">
              <a:spAutoFit/>
            </a:bodyPr>
            <a:lstStyle/>
            <a:p>
              <a:pPr algn="ctr"/>
              <a:r>
                <a:rPr lang="zh-CN" sz="1125" dirty="0">
                  <a:solidFill>
                    <a:srgbClr val="3D8B5E"/>
                  </a:solidFill>
                  <a:latin typeface="Arial"/>
                  <a:ea typeface="Microsoft YaHei"/>
                  <a:cs typeface="Arial"/>
                </a:rPr>
                <a:t>时间对齐</a:t>
              </a:r>
            </a:p>
          </p:txBody>
        </p:sp>
        <p:sp>
          <p:nvSpPr>
            <p:cNvPr id="33" name="TextBox 33"/>
            <p:cNvSpPr txBox="1"/>
            <p:nvPr/>
          </p:nvSpPr>
          <p:spPr>
            <a:xfrm>
              <a:off x="3983355" y="3950018"/>
              <a:ext cx="133302" cy="274320"/>
            </a:xfrm>
            <a:prstGeom prst="rect">
              <a:avLst/>
            </a:prstGeom>
            <a:noFill/>
            <a:ln>
              <a:noFill/>
            </a:ln>
          </p:spPr>
          <p:txBody>
            <a:bodyPr wrap="none" lIns="0" tIns="0" rIns="0" bIns="0" anchor="t" anchorCtr="0">
              <a:spAutoFit/>
            </a:bodyPr>
            <a:lstStyle/>
            <a:p>
              <a:pPr algn="l"/>
              <a:r>
                <a:rPr lang="zh-CN" sz="1350" dirty="0">
                  <a:solidFill>
                    <a:srgbClr val="E8E0D4"/>
                  </a:solidFill>
                  <a:latin typeface="Arial"/>
                  <a:ea typeface="Microsoft YaHei"/>
                  <a:cs typeface="Arial"/>
                </a:rPr>
                <a:t>→</a:t>
              </a:r>
            </a:p>
          </p:txBody>
        </p:sp>
        <p:sp>
          <p:nvSpPr>
            <p:cNvPr id="34" name="Rectangle 34"/>
            <p:cNvSpPr/>
            <p:nvPr/>
          </p:nvSpPr>
          <p:spPr>
            <a:xfrm>
              <a:off x="4191000" y="3810000"/>
              <a:ext cx="1524000" cy="476250"/>
            </a:xfrm>
            <a:prstGeom prst="roundRect">
              <a:avLst>
                <a:gd name="adj" fmla="val 16000"/>
              </a:avLst>
            </a:prstGeom>
            <a:solidFill>
              <a:srgbClr val="3D8B5E">
                <a:alpha val="10000"/>
              </a:srgbClr>
            </a:solidFill>
            <a:ln>
              <a:noFill/>
            </a:ln>
          </p:spPr>
        </p:sp>
        <p:sp>
          <p:nvSpPr>
            <p:cNvPr id="35" name="TextBox 35"/>
            <p:cNvSpPr txBox="1"/>
            <p:nvPr/>
          </p:nvSpPr>
          <p:spPr>
            <a:xfrm>
              <a:off x="4563666" y="3974306"/>
              <a:ext cx="778669" cy="228600"/>
            </a:xfrm>
            <a:prstGeom prst="rect">
              <a:avLst/>
            </a:prstGeom>
            <a:noFill/>
            <a:ln>
              <a:noFill/>
            </a:ln>
          </p:spPr>
          <p:txBody>
            <a:bodyPr wrap="none" lIns="0" tIns="0" rIns="0" bIns="0" anchor="t" anchorCtr="0">
              <a:spAutoFit/>
            </a:bodyPr>
            <a:lstStyle/>
            <a:p>
              <a:pPr algn="ctr"/>
              <a:r>
                <a:rPr lang="zh-CN" sz="1125" dirty="0">
                  <a:solidFill>
                    <a:srgbClr val="3D8B5E"/>
                  </a:solidFill>
                  <a:latin typeface="Arial"/>
                  <a:ea typeface="Microsoft YaHei"/>
                  <a:cs typeface="Arial"/>
                </a:rPr>
                <a:t>波长重采样</a:t>
              </a:r>
            </a:p>
          </p:txBody>
        </p:sp>
        <p:sp>
          <p:nvSpPr>
            <p:cNvPr id="36" name="TextBox 36"/>
            <p:cNvSpPr txBox="1"/>
            <p:nvPr/>
          </p:nvSpPr>
          <p:spPr>
            <a:xfrm>
              <a:off x="5793105" y="3950018"/>
              <a:ext cx="133302" cy="274320"/>
            </a:xfrm>
            <a:prstGeom prst="rect">
              <a:avLst/>
            </a:prstGeom>
            <a:noFill/>
            <a:ln>
              <a:noFill/>
            </a:ln>
          </p:spPr>
          <p:txBody>
            <a:bodyPr wrap="none" lIns="0" tIns="0" rIns="0" bIns="0" anchor="t" anchorCtr="0">
              <a:spAutoFit/>
            </a:bodyPr>
            <a:lstStyle/>
            <a:p>
              <a:pPr algn="l"/>
              <a:r>
                <a:rPr lang="zh-CN" sz="1350" dirty="0">
                  <a:solidFill>
                    <a:srgbClr val="E8E0D4"/>
                  </a:solidFill>
                  <a:latin typeface="Arial"/>
                  <a:ea typeface="Microsoft YaHei"/>
                  <a:cs typeface="Arial"/>
                </a:rPr>
                <a:t>→</a:t>
              </a:r>
            </a:p>
          </p:txBody>
        </p:sp>
        <p:sp>
          <p:nvSpPr>
            <p:cNvPr id="37" name="Rectangle 37"/>
            <p:cNvSpPr/>
            <p:nvPr/>
          </p:nvSpPr>
          <p:spPr>
            <a:xfrm>
              <a:off x="6000750" y="3810000"/>
              <a:ext cx="1524000" cy="476250"/>
            </a:xfrm>
            <a:prstGeom prst="roundRect">
              <a:avLst>
                <a:gd name="adj" fmla="val 16000"/>
              </a:avLst>
            </a:prstGeom>
            <a:solidFill>
              <a:srgbClr val="3D8B5E">
                <a:alpha val="10000"/>
              </a:srgbClr>
            </a:solidFill>
            <a:ln>
              <a:noFill/>
            </a:ln>
          </p:spPr>
        </p:sp>
        <p:sp>
          <p:nvSpPr>
            <p:cNvPr id="38" name="TextBox 38"/>
            <p:cNvSpPr txBox="1"/>
            <p:nvPr/>
          </p:nvSpPr>
          <p:spPr>
            <a:xfrm>
              <a:off x="6373416" y="3974306"/>
              <a:ext cx="778669" cy="228600"/>
            </a:xfrm>
            <a:prstGeom prst="rect">
              <a:avLst/>
            </a:prstGeom>
            <a:noFill/>
            <a:ln>
              <a:noFill/>
            </a:ln>
          </p:spPr>
          <p:txBody>
            <a:bodyPr wrap="none" lIns="0" tIns="0" rIns="0" bIns="0" anchor="t" anchorCtr="0">
              <a:spAutoFit/>
            </a:bodyPr>
            <a:lstStyle/>
            <a:p>
              <a:pPr algn="ctr"/>
              <a:r>
                <a:rPr lang="zh-CN" sz="1125" dirty="0">
                  <a:solidFill>
                    <a:srgbClr val="3D8B5E"/>
                  </a:solidFill>
                  <a:latin typeface="Arial"/>
                  <a:ea typeface="Microsoft YaHei"/>
                  <a:cs typeface="Arial"/>
                </a:rPr>
                <a:t>缺失值处理</a:t>
              </a:r>
            </a:p>
          </p:txBody>
        </p:sp>
        <p:sp>
          <p:nvSpPr>
            <p:cNvPr id="39" name="TextBox 39"/>
            <p:cNvSpPr txBox="1"/>
            <p:nvPr/>
          </p:nvSpPr>
          <p:spPr>
            <a:xfrm>
              <a:off x="7602855" y="3950018"/>
              <a:ext cx="133302" cy="274320"/>
            </a:xfrm>
            <a:prstGeom prst="rect">
              <a:avLst/>
            </a:prstGeom>
            <a:noFill/>
            <a:ln>
              <a:noFill/>
            </a:ln>
          </p:spPr>
          <p:txBody>
            <a:bodyPr wrap="none" lIns="0" tIns="0" rIns="0" bIns="0" anchor="t" anchorCtr="0">
              <a:spAutoFit/>
            </a:bodyPr>
            <a:lstStyle/>
            <a:p>
              <a:pPr algn="l"/>
              <a:r>
                <a:rPr lang="zh-CN" sz="1350" dirty="0">
                  <a:solidFill>
                    <a:srgbClr val="E8E0D4"/>
                  </a:solidFill>
                  <a:latin typeface="Arial"/>
                  <a:ea typeface="Microsoft YaHei"/>
                  <a:cs typeface="Arial"/>
                </a:rPr>
                <a:t>→</a:t>
              </a:r>
            </a:p>
          </p:txBody>
        </p:sp>
        <p:sp>
          <p:nvSpPr>
            <p:cNvPr id="40" name="Rectangle 40"/>
            <p:cNvSpPr/>
            <p:nvPr/>
          </p:nvSpPr>
          <p:spPr>
            <a:xfrm>
              <a:off x="7810500" y="3810000"/>
              <a:ext cx="1524000" cy="476250"/>
            </a:xfrm>
            <a:prstGeom prst="roundRect">
              <a:avLst>
                <a:gd name="adj" fmla="val 16000"/>
              </a:avLst>
            </a:prstGeom>
            <a:solidFill>
              <a:srgbClr val="3D8B5E">
                <a:alpha val="10000"/>
              </a:srgbClr>
            </a:solidFill>
            <a:ln>
              <a:noFill/>
            </a:ln>
          </p:spPr>
        </p:sp>
        <p:sp>
          <p:nvSpPr>
            <p:cNvPr id="41" name="TextBox 41"/>
            <p:cNvSpPr txBox="1"/>
            <p:nvPr/>
          </p:nvSpPr>
          <p:spPr>
            <a:xfrm>
              <a:off x="8258175" y="3974306"/>
              <a:ext cx="628650" cy="228600"/>
            </a:xfrm>
            <a:prstGeom prst="rect">
              <a:avLst/>
            </a:prstGeom>
            <a:noFill/>
            <a:ln>
              <a:noFill/>
            </a:ln>
          </p:spPr>
          <p:txBody>
            <a:bodyPr wrap="none" lIns="0" tIns="0" rIns="0" bIns="0" anchor="t" anchorCtr="0">
              <a:spAutoFit/>
            </a:bodyPr>
            <a:lstStyle/>
            <a:p>
              <a:pPr algn="ctr"/>
              <a:r>
                <a:rPr lang="zh-CN" sz="1125" dirty="0">
                  <a:solidFill>
                    <a:srgbClr val="3D8B5E"/>
                  </a:solidFill>
                  <a:latin typeface="Arial"/>
                  <a:ea typeface="Microsoft YaHei"/>
                  <a:cs typeface="Arial"/>
                </a:rPr>
                <a:t>特征编码</a:t>
              </a:r>
            </a:p>
          </p:txBody>
        </p:sp>
        <p:sp>
          <p:nvSpPr>
            <p:cNvPr id="42" name="TextBox 42"/>
            <p:cNvSpPr txBox="1"/>
            <p:nvPr/>
          </p:nvSpPr>
          <p:spPr>
            <a:xfrm>
              <a:off x="9412605" y="3950018"/>
              <a:ext cx="133302" cy="274320"/>
            </a:xfrm>
            <a:prstGeom prst="rect">
              <a:avLst/>
            </a:prstGeom>
            <a:noFill/>
            <a:ln>
              <a:noFill/>
            </a:ln>
          </p:spPr>
          <p:txBody>
            <a:bodyPr wrap="none" lIns="0" tIns="0" rIns="0" bIns="0" anchor="t" anchorCtr="0">
              <a:spAutoFit/>
            </a:bodyPr>
            <a:lstStyle/>
            <a:p>
              <a:pPr algn="l"/>
              <a:r>
                <a:rPr lang="zh-CN" sz="1350" dirty="0">
                  <a:solidFill>
                    <a:srgbClr val="E8E0D4"/>
                  </a:solidFill>
                  <a:latin typeface="Arial"/>
                  <a:ea typeface="Microsoft YaHei"/>
                  <a:cs typeface="Arial"/>
                </a:rPr>
                <a:t>→</a:t>
              </a:r>
            </a:p>
          </p:txBody>
        </p:sp>
        <p:sp>
          <p:nvSpPr>
            <p:cNvPr id="43" name="Rectangle 43"/>
            <p:cNvSpPr/>
            <p:nvPr/>
          </p:nvSpPr>
          <p:spPr>
            <a:xfrm>
              <a:off x="9620250" y="3810000"/>
              <a:ext cx="1524000" cy="476250"/>
            </a:xfrm>
            <a:prstGeom prst="roundRect">
              <a:avLst>
                <a:gd name="adj" fmla="val 16000"/>
              </a:avLst>
            </a:prstGeom>
            <a:solidFill>
              <a:srgbClr val="3D8B5E">
                <a:alpha val="15000"/>
              </a:srgbClr>
            </a:solidFill>
            <a:ln>
              <a:noFill/>
            </a:ln>
          </p:spPr>
        </p:sp>
        <p:sp>
          <p:nvSpPr>
            <p:cNvPr id="44" name="TextBox 44"/>
            <p:cNvSpPr txBox="1"/>
            <p:nvPr/>
          </p:nvSpPr>
          <p:spPr>
            <a:xfrm>
              <a:off x="9974163" y="3974306"/>
              <a:ext cx="816173" cy="228600"/>
            </a:xfrm>
            <a:prstGeom prst="rect">
              <a:avLst/>
            </a:prstGeom>
            <a:noFill/>
            <a:ln>
              <a:noFill/>
            </a:ln>
          </p:spPr>
          <p:txBody>
            <a:bodyPr wrap="none" lIns="0" tIns="0" rIns="0" bIns="0" anchor="t" anchorCtr="0">
              <a:spAutoFit/>
            </a:bodyPr>
            <a:lstStyle/>
            <a:p>
              <a:pPr algn="ctr"/>
              <a:r>
                <a:rPr lang="zh-CN" sz="1125" b="1" dirty="0">
                  <a:solidFill>
                    <a:srgbClr val="3D8B5E"/>
                  </a:solidFill>
                  <a:latin typeface="Arial"/>
                  <a:ea typeface="Microsoft YaHei"/>
                  <a:cs typeface="Arial"/>
                </a:rPr>
                <a:t>建模数据表</a:t>
              </a:r>
            </a:p>
          </p:txBody>
        </p:sp>
      </p:grpSp>
      <p:grpSp>
        <p:nvGrpSpPr>
          <p:cNvPr id="57" name="Group 57"/>
          <p:cNvGrpSpPr/>
          <p:nvPr/>
        </p:nvGrpSpPr>
        <p:grpSpPr>
          <a:xfrm>
            <a:off x="571500" y="4667250"/>
            <a:ext cx="11049000" cy="952500"/>
            <a:chOff x="571500" y="4667250"/>
            <a:chExt cx="11049000" cy="952500"/>
          </a:xfrm>
        </p:grpSpPr>
        <p:sp>
          <p:nvSpPr>
            <p:cNvPr id="46" name="Rectangle 46"/>
            <p:cNvSpPr/>
            <p:nvPr/>
          </p:nvSpPr>
          <p:spPr>
            <a:xfrm>
              <a:off x="571500" y="4667250"/>
              <a:ext cx="11049000" cy="952500"/>
            </a:xfrm>
            <a:prstGeom prst="roundRect">
              <a:avLst>
                <a:gd name="adj" fmla="val 12000"/>
              </a:avLst>
            </a:prstGeom>
            <a:solidFill>
              <a:srgbClr val="FFF8EE"/>
            </a:solidFill>
            <a:ln>
              <a:noFill/>
            </a:ln>
          </p:spPr>
        </p:sp>
        <p:sp>
          <p:nvSpPr>
            <p:cNvPr id="47" name="TextBox 47"/>
            <p:cNvSpPr txBox="1"/>
            <p:nvPr/>
          </p:nvSpPr>
          <p:spPr>
            <a:xfrm>
              <a:off x="1404842" y="4819650"/>
              <a:ext cx="1000316" cy="609600"/>
            </a:xfrm>
            <a:prstGeom prst="rect">
              <a:avLst/>
            </a:prstGeom>
            <a:noFill/>
            <a:ln>
              <a:noFill/>
            </a:ln>
          </p:spPr>
          <p:txBody>
            <a:bodyPr wrap="none" lIns="0" tIns="0" rIns="0" bIns="0" anchor="t" anchorCtr="0">
              <a:spAutoFit/>
            </a:bodyPr>
            <a:lstStyle/>
            <a:p>
              <a:pPr algn="ctr"/>
              <a:r>
                <a:rPr lang="zh-CN" sz="3000" b="1" dirty="0">
                  <a:solidFill>
                    <a:srgbClr val="3D8B5E"/>
                  </a:solidFill>
                  <a:latin typeface="Consolas"/>
                  <a:ea typeface="Microsoft YaHei"/>
                  <a:cs typeface="Consolas"/>
                </a:rPr>
                <a:t>5664</a:t>
              </a:r>
            </a:p>
          </p:txBody>
        </p:sp>
        <p:sp>
          <p:nvSpPr>
            <p:cNvPr id="48" name="TextBox 48"/>
            <p:cNvSpPr txBox="1"/>
            <p:nvPr/>
          </p:nvSpPr>
          <p:spPr>
            <a:xfrm>
              <a:off x="1681639" y="5268278"/>
              <a:ext cx="446722" cy="213360"/>
            </a:xfrm>
            <a:prstGeom prst="rect">
              <a:avLst/>
            </a:prstGeom>
            <a:noFill/>
            <a:ln>
              <a:noFill/>
            </a:ln>
          </p:spPr>
          <p:txBody>
            <a:bodyPr wrap="none" lIns="0" tIns="0" rIns="0" bIns="0" anchor="t" anchorCtr="0">
              <a:spAutoFit/>
            </a:bodyPr>
            <a:lstStyle/>
            <a:p>
              <a:pPr algn="ctr"/>
              <a:r>
                <a:rPr lang="zh-CN" sz="1050" dirty="0">
                  <a:solidFill>
                    <a:srgbClr val="8C8578"/>
                  </a:solidFill>
                  <a:latin typeface="Arial"/>
                  <a:ea typeface="Microsoft YaHei"/>
                  <a:cs typeface="Arial"/>
                </a:rPr>
                <a:t>样本量</a:t>
              </a:r>
            </a:p>
          </p:txBody>
        </p:sp>
        <p:sp>
          <p:nvSpPr>
            <p:cNvPr id="49" name="TextBox 49"/>
            <p:cNvSpPr txBox="1"/>
            <p:nvPr/>
          </p:nvSpPr>
          <p:spPr>
            <a:xfrm>
              <a:off x="3731371" y="4819650"/>
              <a:ext cx="538258" cy="609600"/>
            </a:xfrm>
            <a:prstGeom prst="rect">
              <a:avLst/>
            </a:prstGeom>
            <a:noFill/>
            <a:ln>
              <a:noFill/>
            </a:ln>
          </p:spPr>
          <p:txBody>
            <a:bodyPr wrap="none" lIns="0" tIns="0" rIns="0" bIns="0" anchor="t" anchorCtr="0">
              <a:spAutoFit/>
            </a:bodyPr>
            <a:lstStyle/>
            <a:p>
              <a:pPr algn="ctr"/>
              <a:r>
                <a:rPr lang="zh-CN" sz="3000" b="1" dirty="0">
                  <a:solidFill>
                    <a:srgbClr val="3D8B5E"/>
                  </a:solidFill>
                  <a:latin typeface="Consolas"/>
                  <a:ea typeface="Microsoft YaHei"/>
                  <a:cs typeface="Consolas"/>
                </a:rPr>
                <a:t>41</a:t>
              </a:r>
            </a:p>
          </p:txBody>
        </p:sp>
        <p:sp>
          <p:nvSpPr>
            <p:cNvPr id="50" name="TextBox 50"/>
            <p:cNvSpPr txBox="1"/>
            <p:nvPr/>
          </p:nvSpPr>
          <p:spPr>
            <a:xfrm>
              <a:off x="3707130" y="5268278"/>
              <a:ext cx="586740" cy="213360"/>
            </a:xfrm>
            <a:prstGeom prst="rect">
              <a:avLst/>
            </a:prstGeom>
            <a:noFill/>
            <a:ln>
              <a:noFill/>
            </a:ln>
          </p:spPr>
          <p:txBody>
            <a:bodyPr wrap="none" lIns="0" tIns="0" rIns="0" bIns="0" anchor="t" anchorCtr="0">
              <a:spAutoFit/>
            </a:bodyPr>
            <a:lstStyle/>
            <a:p>
              <a:pPr algn="ctr"/>
              <a:r>
                <a:rPr lang="zh-CN" sz="1050" dirty="0">
                  <a:solidFill>
                    <a:srgbClr val="8C8578"/>
                  </a:solidFill>
                  <a:latin typeface="Arial"/>
                  <a:ea typeface="Microsoft YaHei"/>
                  <a:cs typeface="Arial"/>
                </a:rPr>
                <a:t>光谱维度</a:t>
              </a:r>
            </a:p>
          </p:txBody>
        </p:sp>
        <p:sp>
          <p:nvSpPr>
            <p:cNvPr id="51" name="TextBox 51"/>
            <p:cNvSpPr txBox="1"/>
            <p:nvPr/>
          </p:nvSpPr>
          <p:spPr>
            <a:xfrm>
              <a:off x="5018270" y="4819650"/>
              <a:ext cx="2155460" cy="609600"/>
            </a:xfrm>
            <a:prstGeom prst="rect">
              <a:avLst/>
            </a:prstGeom>
            <a:noFill/>
            <a:ln>
              <a:noFill/>
            </a:ln>
          </p:spPr>
          <p:txBody>
            <a:bodyPr wrap="none" lIns="0" tIns="0" rIns="0" bIns="0" anchor="t" anchorCtr="0">
              <a:spAutoFit/>
            </a:bodyPr>
            <a:lstStyle/>
            <a:p>
              <a:pPr algn="ctr"/>
              <a:r>
                <a:rPr lang="zh-CN" sz="3000" b="1" dirty="0">
                  <a:solidFill>
                    <a:srgbClr val="3D8B5E"/>
                  </a:solidFill>
                  <a:latin typeface="Consolas"/>
                  <a:ea typeface="Microsoft YaHei"/>
                  <a:cs typeface="Consolas"/>
                </a:rPr>
                <a:t>2016–2018</a:t>
              </a:r>
            </a:p>
          </p:txBody>
        </p:sp>
        <p:sp>
          <p:nvSpPr>
            <p:cNvPr id="52" name="TextBox 52"/>
            <p:cNvSpPr txBox="1"/>
            <p:nvPr/>
          </p:nvSpPr>
          <p:spPr>
            <a:xfrm>
              <a:off x="5802630" y="5268278"/>
              <a:ext cx="586740" cy="213360"/>
            </a:xfrm>
            <a:prstGeom prst="rect">
              <a:avLst/>
            </a:prstGeom>
            <a:noFill/>
            <a:ln>
              <a:noFill/>
            </a:ln>
          </p:spPr>
          <p:txBody>
            <a:bodyPr wrap="none" lIns="0" tIns="0" rIns="0" bIns="0" anchor="t" anchorCtr="0">
              <a:spAutoFit/>
            </a:bodyPr>
            <a:lstStyle/>
            <a:p>
              <a:pPr algn="ctr"/>
              <a:r>
                <a:rPr lang="zh-CN" sz="1050" dirty="0">
                  <a:solidFill>
                    <a:srgbClr val="8C8578"/>
                  </a:solidFill>
                  <a:latin typeface="Arial"/>
                  <a:ea typeface="Microsoft YaHei"/>
                  <a:cs typeface="Arial"/>
                </a:rPr>
                <a:t>时间范围</a:t>
              </a:r>
            </a:p>
          </p:txBody>
        </p:sp>
        <p:sp>
          <p:nvSpPr>
            <p:cNvPr id="53" name="TextBox 53"/>
            <p:cNvSpPr txBox="1"/>
            <p:nvPr/>
          </p:nvSpPr>
          <p:spPr>
            <a:xfrm>
              <a:off x="8228386" y="4819650"/>
              <a:ext cx="307229" cy="609600"/>
            </a:xfrm>
            <a:prstGeom prst="rect">
              <a:avLst/>
            </a:prstGeom>
            <a:noFill/>
            <a:ln>
              <a:noFill/>
            </a:ln>
          </p:spPr>
          <p:txBody>
            <a:bodyPr wrap="none" lIns="0" tIns="0" rIns="0" bIns="0" anchor="t" anchorCtr="0">
              <a:spAutoFit/>
            </a:bodyPr>
            <a:lstStyle/>
            <a:p>
              <a:pPr algn="ctr"/>
              <a:r>
                <a:rPr lang="zh-CN" sz="3000" b="1" dirty="0">
                  <a:solidFill>
                    <a:srgbClr val="3D8B5E"/>
                  </a:solidFill>
                  <a:latin typeface="Consolas"/>
                  <a:ea typeface="Microsoft YaHei"/>
                  <a:cs typeface="Consolas"/>
                </a:rPr>
                <a:t>2</a:t>
              </a:r>
            </a:p>
          </p:txBody>
        </p:sp>
        <p:sp>
          <p:nvSpPr>
            <p:cNvPr id="54" name="TextBox 54"/>
            <p:cNvSpPr txBox="1"/>
            <p:nvPr/>
          </p:nvSpPr>
          <p:spPr>
            <a:xfrm>
              <a:off x="8158639" y="5268278"/>
              <a:ext cx="446722" cy="213360"/>
            </a:xfrm>
            <a:prstGeom prst="rect">
              <a:avLst/>
            </a:prstGeom>
            <a:noFill/>
            <a:ln>
              <a:noFill/>
            </a:ln>
          </p:spPr>
          <p:txBody>
            <a:bodyPr wrap="none" lIns="0" tIns="0" rIns="0" bIns="0" anchor="t" anchorCtr="0">
              <a:spAutoFit/>
            </a:bodyPr>
            <a:lstStyle/>
            <a:p>
              <a:pPr algn="ctr"/>
              <a:r>
                <a:rPr lang="zh-CN" sz="1050" dirty="0">
                  <a:solidFill>
                    <a:srgbClr val="8C8578"/>
                  </a:solidFill>
                  <a:latin typeface="Arial"/>
                  <a:ea typeface="Microsoft YaHei"/>
                  <a:cs typeface="Arial"/>
                </a:rPr>
                <a:t>观测站</a:t>
              </a:r>
            </a:p>
          </p:txBody>
        </p:sp>
        <p:sp>
          <p:nvSpPr>
            <p:cNvPr id="55" name="TextBox 55"/>
            <p:cNvSpPr txBox="1"/>
            <p:nvPr/>
          </p:nvSpPr>
          <p:spPr>
            <a:xfrm>
              <a:off x="9791700" y="5013960"/>
              <a:ext cx="990600" cy="243840"/>
            </a:xfrm>
            <a:prstGeom prst="rect">
              <a:avLst/>
            </a:prstGeom>
            <a:noFill/>
            <a:ln>
              <a:noFill/>
            </a:ln>
          </p:spPr>
          <p:txBody>
            <a:bodyPr wrap="none" lIns="0" tIns="0" rIns="0" bIns="0" anchor="t" anchorCtr="0">
              <a:spAutoFit/>
            </a:bodyPr>
            <a:lstStyle/>
            <a:p>
              <a:pPr algn="ctr"/>
              <a:r>
                <a:rPr lang="zh-CN" sz="1200" dirty="0">
                  <a:solidFill>
                    <a:srgbClr val="2D2A26"/>
                  </a:solidFill>
                  <a:latin typeface="Arial"/>
                  <a:ea typeface="Microsoft YaHei"/>
                  <a:cs typeface="Arial"/>
                </a:rPr>
                <a:t>法国沃昂夫兰</a:t>
              </a:r>
            </a:p>
          </p:txBody>
        </p:sp>
        <p:sp>
          <p:nvSpPr>
            <p:cNvPr id="56" name="TextBox 56"/>
            <p:cNvSpPr txBox="1"/>
            <p:nvPr/>
          </p:nvSpPr>
          <p:spPr>
            <a:xfrm>
              <a:off x="9993630" y="5268278"/>
              <a:ext cx="586740" cy="213360"/>
            </a:xfrm>
            <a:prstGeom prst="rect">
              <a:avLst/>
            </a:prstGeom>
            <a:noFill/>
            <a:ln>
              <a:noFill/>
            </a:ln>
          </p:spPr>
          <p:txBody>
            <a:bodyPr wrap="none" lIns="0" tIns="0" rIns="0" bIns="0" anchor="t" anchorCtr="0">
              <a:spAutoFit/>
            </a:bodyPr>
            <a:lstStyle/>
            <a:p>
              <a:pPr algn="ctr"/>
              <a:r>
                <a:rPr lang="zh-CN" sz="1050" dirty="0">
                  <a:solidFill>
                    <a:srgbClr val="8C8578"/>
                  </a:solidFill>
                  <a:latin typeface="Arial"/>
                  <a:ea typeface="Microsoft YaHei"/>
                  <a:cs typeface="Arial"/>
                </a:rPr>
                <a:t>主要站点</a:t>
              </a:r>
            </a:p>
          </p:txBody>
        </p:sp>
      </p:grpSp>
      <p:grpSp>
        <p:nvGrpSpPr>
          <p:cNvPr id="60" name="Group 60"/>
          <p:cNvGrpSpPr/>
          <p:nvPr/>
        </p:nvGrpSpPr>
        <p:grpSpPr>
          <a:xfrm>
            <a:off x="561022" y="6483191"/>
            <a:ext cx="11069955" cy="167640"/>
            <a:chOff x="561022" y="6483191"/>
            <a:chExt cx="11069955" cy="167640"/>
          </a:xfrm>
        </p:grpSpPr>
        <p:sp>
          <p:nvSpPr>
            <p:cNvPr id="58" name="TextBox 58"/>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59" name="TextBox 59"/>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04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image">
                                      <p:cBhvr>
                                        <p:cTn id="11" dur="400"/>
                                        <p:tgtEl>
                                          <p:spTgt spid="45"/>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fade">
                                      <p:cBhvr>
                                        <p:cTn id="15"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5" grpId="0"/>
      <p:bldP spid="5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4349306" cy="808197"/>
            <a:chOff x="539115" y="387191"/>
            <a:chExt cx="4349306"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05</a:t>
              </a:r>
            </a:p>
          </p:txBody>
        </p:sp>
        <p:sp>
          <p:nvSpPr>
            <p:cNvPr id="4" name="Rectangle 4"/>
            <p:cNvSpPr/>
            <p:nvPr/>
          </p:nvSpPr>
          <p:spPr>
            <a:xfrm>
              <a:off x="571500" y="619125"/>
              <a:ext cx="476250" cy="28575"/>
            </a:xfrm>
            <a:prstGeom prst="roundRect">
              <a:avLst>
                <a:gd name="adj" fmla="val 50000"/>
              </a:avLst>
            </a:prstGeom>
            <a:solidFill>
              <a:srgbClr val="2AA3A0"/>
            </a:solidFill>
            <a:ln>
              <a:noFill/>
            </a:ln>
          </p:spPr>
        </p:sp>
        <p:sp>
          <p:nvSpPr>
            <p:cNvPr id="5" name="TextBox 5"/>
            <p:cNvSpPr txBox="1"/>
            <p:nvPr/>
          </p:nvSpPr>
          <p:spPr>
            <a:xfrm>
              <a:off x="539115" y="677228"/>
              <a:ext cx="4349306"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模型输入：低成本环境特征</a:t>
              </a:r>
            </a:p>
          </p:txBody>
        </p:sp>
      </p:grpSp>
      <p:grpSp>
        <p:nvGrpSpPr>
          <p:cNvPr id="21" name="Group 21"/>
          <p:cNvGrpSpPr/>
          <p:nvPr/>
        </p:nvGrpSpPr>
        <p:grpSpPr>
          <a:xfrm>
            <a:off x="571500" y="1238250"/>
            <a:ext cx="4953000" cy="4000500"/>
            <a:chOff x="571500" y="1238250"/>
            <a:chExt cx="4953000" cy="4000500"/>
          </a:xfrm>
        </p:grpSpPr>
        <p:sp>
          <p:nvSpPr>
            <p:cNvPr id="7" name="Rectangle 7"/>
            <p:cNvSpPr/>
            <p:nvPr/>
          </p:nvSpPr>
          <p:spPr>
            <a:xfrm>
              <a:off x="571500" y="1238250"/>
              <a:ext cx="4953000" cy="4000500"/>
            </a:xfrm>
            <a:prstGeom prst="roundRect">
              <a:avLst>
                <a:gd name="adj" fmla="val 2857"/>
              </a:avLst>
            </a:prstGeom>
            <a:solidFill>
              <a:srgbClr val="FFF8EE"/>
            </a:solidFill>
            <a:ln>
              <a:noFill/>
            </a:ln>
          </p:spPr>
        </p:sp>
        <p:sp>
          <p:nvSpPr>
            <p:cNvPr id="8" name="TextBox 8"/>
            <p:cNvSpPr txBox="1"/>
            <p:nvPr/>
          </p:nvSpPr>
          <p:spPr>
            <a:xfrm>
              <a:off x="744855" y="1425892"/>
              <a:ext cx="1622088" cy="274320"/>
            </a:xfrm>
            <a:prstGeom prst="rect">
              <a:avLst/>
            </a:prstGeom>
            <a:noFill/>
            <a:ln>
              <a:noFill/>
            </a:ln>
          </p:spPr>
          <p:txBody>
            <a:bodyPr wrap="none" lIns="0" tIns="0" rIns="0" bIns="0" anchor="t" anchorCtr="0">
              <a:spAutoFit/>
            </a:bodyPr>
            <a:lstStyle/>
            <a:p>
              <a:pPr algn="l"/>
              <a:r>
                <a:rPr lang="zh-CN" sz="1350" b="1" dirty="0">
                  <a:solidFill>
                    <a:srgbClr val="2AA3A0"/>
                  </a:solidFill>
                  <a:latin typeface="Arial"/>
                  <a:ea typeface="Microsoft YaHei"/>
                  <a:cs typeface="Arial"/>
                </a:rPr>
                <a:t>输入特征（12 个）</a:t>
              </a:r>
            </a:p>
          </p:txBody>
        </p:sp>
        <p:sp>
          <p:nvSpPr>
            <p:cNvPr id="9" name="TextBox 9"/>
            <p:cNvSpPr txBox="1"/>
            <p:nvPr/>
          </p:nvSpPr>
          <p:spPr>
            <a:xfrm>
              <a:off x="746760" y="1823085"/>
              <a:ext cx="702564" cy="243840"/>
            </a:xfrm>
            <a:prstGeom prst="rect">
              <a:avLst/>
            </a:prstGeom>
            <a:noFill/>
            <a:ln>
              <a:noFill/>
            </a:ln>
          </p:spPr>
          <p:txBody>
            <a:bodyPr wrap="none" lIns="0" tIns="0" rIns="0" bIns="0" anchor="t" anchorCtr="0">
              <a:spAutoFit/>
            </a:bodyPr>
            <a:lstStyle/>
            <a:p>
              <a:pPr algn="l"/>
              <a:r>
                <a:rPr lang="zh-CN" sz="1200" b="1" dirty="0">
                  <a:solidFill>
                    <a:srgbClr val="2D2A26"/>
                  </a:solidFill>
                  <a:latin typeface="Arial"/>
                  <a:ea typeface="Microsoft YaHei"/>
                  <a:cs typeface="Arial"/>
                </a:rPr>
                <a:t>数值特征</a:t>
              </a:r>
            </a:p>
          </p:txBody>
        </p:sp>
        <p:sp>
          <p:nvSpPr>
            <p:cNvPr id="10" name="TextBox 10"/>
            <p:cNvSpPr txBox="1"/>
            <p:nvPr/>
          </p:nvSpPr>
          <p:spPr>
            <a:xfrm>
              <a:off x="747712" y="2069306"/>
              <a:ext cx="928688"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hour, month</a:t>
              </a:r>
            </a:p>
          </p:txBody>
        </p:sp>
        <p:sp>
          <p:nvSpPr>
            <p:cNvPr id="11" name="TextBox 11"/>
            <p:cNvSpPr txBox="1"/>
            <p:nvPr/>
          </p:nvSpPr>
          <p:spPr>
            <a:xfrm>
              <a:off x="747712" y="2307431"/>
              <a:ext cx="2226350"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solar_altitude, solar_azimuth</a:t>
              </a:r>
            </a:p>
          </p:txBody>
        </p:sp>
        <p:sp>
          <p:nvSpPr>
            <p:cNvPr id="12" name="TextBox 12"/>
            <p:cNvSpPr txBox="1"/>
            <p:nvPr/>
          </p:nvSpPr>
          <p:spPr>
            <a:xfrm>
              <a:off x="747712" y="2545556"/>
              <a:ext cx="2706410"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cloud_cover, humidity, temperature</a:t>
              </a:r>
            </a:p>
          </p:txBody>
        </p:sp>
        <p:sp>
          <p:nvSpPr>
            <p:cNvPr id="13" name="TextBox 13"/>
            <p:cNvSpPr txBox="1"/>
            <p:nvPr/>
          </p:nvSpPr>
          <p:spPr>
            <a:xfrm>
              <a:off x="747712" y="2783681"/>
              <a:ext cx="1986320"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precipitation, outdoor_lux</a:t>
              </a:r>
            </a:p>
          </p:txBody>
        </p:sp>
        <p:sp>
          <p:nvSpPr>
            <p:cNvPr id="14" name="Line 14"/>
            <p:cNvSpPr/>
            <p:nvPr/>
          </p:nvSpPr>
          <p:spPr>
            <a:xfrm>
              <a:off x="762000" y="3095625"/>
              <a:ext cx="4476750" cy="9525"/>
            </a:xfrm>
            <a:custGeom>
              <a:avLst/>
              <a:gdLst/>
              <a:ahLst/>
              <a:cxnLst/>
              <a:rect l="l" t="t" r="r" b="b"/>
              <a:pathLst>
                <a:path w="4476750" h="9525">
                  <a:moveTo>
                    <a:pt x="0" y="0"/>
                  </a:moveTo>
                  <a:lnTo>
                    <a:pt x="4476750" y="0"/>
                  </a:lnTo>
                </a:path>
              </a:pathLst>
            </a:custGeom>
            <a:noFill/>
            <a:ln w="9525">
              <a:solidFill>
                <a:srgbClr val="E8E0D4"/>
              </a:solidFill>
            </a:ln>
          </p:spPr>
        </p:sp>
        <p:sp>
          <p:nvSpPr>
            <p:cNvPr id="15" name="TextBox 15"/>
            <p:cNvSpPr txBox="1"/>
            <p:nvPr/>
          </p:nvSpPr>
          <p:spPr>
            <a:xfrm>
              <a:off x="746760" y="3251835"/>
              <a:ext cx="1710690" cy="243840"/>
            </a:xfrm>
            <a:prstGeom prst="rect">
              <a:avLst/>
            </a:prstGeom>
            <a:noFill/>
            <a:ln>
              <a:noFill/>
            </a:ln>
          </p:spPr>
          <p:txBody>
            <a:bodyPr wrap="none" lIns="0" tIns="0" rIns="0" bIns="0" anchor="t" anchorCtr="0">
              <a:spAutoFit/>
            </a:bodyPr>
            <a:lstStyle/>
            <a:p>
              <a:pPr algn="l"/>
              <a:r>
                <a:rPr lang="zh-CN" sz="1200" b="1" dirty="0">
                  <a:solidFill>
                    <a:srgbClr val="2D2A26"/>
                  </a:solidFill>
                  <a:latin typeface="Arial"/>
                  <a:ea typeface="Microsoft YaHei"/>
                  <a:cs typeface="Arial"/>
                </a:rPr>
                <a:t>类别特征（独热编码）</a:t>
              </a:r>
            </a:p>
          </p:txBody>
        </p:sp>
        <p:sp>
          <p:nvSpPr>
            <p:cNvPr id="16" name="TextBox 16"/>
            <p:cNvSpPr txBox="1"/>
            <p:nvPr/>
          </p:nvSpPr>
          <p:spPr>
            <a:xfrm>
              <a:off x="747712" y="3498056"/>
              <a:ext cx="1536263"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weather（天气类别）</a:t>
              </a:r>
            </a:p>
          </p:txBody>
        </p:sp>
        <p:sp>
          <p:nvSpPr>
            <p:cNvPr id="17" name="TextBox 17"/>
            <p:cNvSpPr txBox="1"/>
            <p:nvPr/>
          </p:nvSpPr>
          <p:spPr>
            <a:xfrm>
              <a:off x="747712" y="3736181"/>
              <a:ext cx="1926312"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sky_condition（天空状况）</a:t>
              </a:r>
            </a:p>
          </p:txBody>
        </p:sp>
        <p:sp>
          <p:nvSpPr>
            <p:cNvPr id="18" name="TextBox 18"/>
            <p:cNvSpPr txBox="1"/>
            <p:nvPr/>
          </p:nvSpPr>
          <p:spPr>
            <a:xfrm>
              <a:off x="747712" y="3974306"/>
              <a:ext cx="2076331"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location_code（观测站编号）</a:t>
              </a:r>
            </a:p>
          </p:txBody>
        </p:sp>
        <p:sp>
          <p:nvSpPr>
            <p:cNvPr id="19" name="Line 19"/>
            <p:cNvSpPr/>
            <p:nvPr/>
          </p:nvSpPr>
          <p:spPr>
            <a:xfrm>
              <a:off x="762000" y="4286250"/>
              <a:ext cx="4476750" cy="9525"/>
            </a:xfrm>
            <a:custGeom>
              <a:avLst/>
              <a:gdLst/>
              <a:ahLst/>
              <a:cxnLst/>
              <a:rect l="l" t="t" r="r" b="b"/>
              <a:pathLst>
                <a:path w="4476750" h="9525">
                  <a:moveTo>
                    <a:pt x="0" y="0"/>
                  </a:moveTo>
                  <a:lnTo>
                    <a:pt x="4476750" y="0"/>
                  </a:lnTo>
                </a:path>
              </a:pathLst>
            </a:custGeom>
            <a:noFill/>
            <a:ln w="9525">
              <a:solidFill>
                <a:srgbClr val="E8E0D4"/>
              </a:solidFill>
            </a:ln>
          </p:spPr>
        </p:sp>
        <p:sp>
          <p:nvSpPr>
            <p:cNvPr id="20" name="TextBox 20"/>
            <p:cNvSpPr txBox="1"/>
            <p:nvPr/>
          </p:nvSpPr>
          <p:spPr>
            <a:xfrm>
              <a:off x="748665" y="4458652"/>
              <a:ext cx="2287953" cy="213360"/>
            </a:xfrm>
            <a:prstGeom prst="rect">
              <a:avLst/>
            </a:prstGeom>
            <a:noFill/>
            <a:ln>
              <a:noFill/>
            </a:ln>
          </p:spPr>
          <p:txBody>
            <a:bodyPr wrap="none" lIns="0" tIns="0" rIns="0" bIns="0" anchor="t" anchorCtr="0">
              <a:spAutoFit/>
            </a:bodyPr>
            <a:lstStyle/>
            <a:p>
              <a:pPr algn="l"/>
              <a:r>
                <a:rPr lang="zh-CN" sz="1050" dirty="0">
                  <a:solidFill>
                    <a:srgbClr val="8C8578"/>
                  </a:solidFill>
                  <a:latin typeface="Arial"/>
                  <a:ea typeface="Microsoft YaHei"/>
                  <a:cs typeface="Arial"/>
                </a:rPr>
                <a:t>数值特征标准化 + 类别特征独热编码</a:t>
              </a:r>
            </a:p>
          </p:txBody>
        </p:sp>
      </p:grpSp>
      <p:grpSp>
        <p:nvGrpSpPr>
          <p:cNvPr id="26" name="Group 26"/>
          <p:cNvGrpSpPr/>
          <p:nvPr/>
        </p:nvGrpSpPr>
        <p:grpSpPr>
          <a:xfrm>
            <a:off x="5810250" y="1238250"/>
            <a:ext cx="5810250" cy="4000500"/>
            <a:chOff x="5810250" y="1238250"/>
            <a:chExt cx="5810250" cy="4000500"/>
          </a:xfrm>
        </p:grpSpPr>
        <p:sp>
          <p:nvSpPr>
            <p:cNvPr id="22" name="Rectangle 22"/>
            <p:cNvSpPr/>
            <p:nvPr/>
          </p:nvSpPr>
          <p:spPr>
            <a:xfrm>
              <a:off x="5810250" y="1238250"/>
              <a:ext cx="5810250" cy="4000500"/>
            </a:xfrm>
            <a:prstGeom prst="roundRect">
              <a:avLst>
                <a:gd name="adj" fmla="val 2857"/>
              </a:avLst>
            </a:prstGeom>
            <a:solidFill>
              <a:srgbClr val="FFF8EE"/>
            </a:solidFill>
            <a:ln>
              <a:noFill/>
            </a:ln>
          </p:spPr>
        </p:sp>
        <p:sp>
          <p:nvSpPr>
            <p:cNvPr id="23" name="TextBox 23"/>
            <p:cNvSpPr txBox="1"/>
            <p:nvPr/>
          </p:nvSpPr>
          <p:spPr>
            <a:xfrm>
              <a:off x="5983605" y="1425892"/>
              <a:ext cx="1735503" cy="274320"/>
            </a:xfrm>
            <a:prstGeom prst="rect">
              <a:avLst/>
            </a:prstGeom>
            <a:noFill/>
            <a:ln>
              <a:noFill/>
            </a:ln>
          </p:spPr>
          <p:txBody>
            <a:bodyPr wrap="none" lIns="0" tIns="0" rIns="0" bIns="0" anchor="t" anchorCtr="0">
              <a:spAutoFit/>
            </a:bodyPr>
            <a:lstStyle/>
            <a:p>
              <a:pPr algn="l"/>
              <a:r>
                <a:rPr lang="zh-CN" sz="1350" b="1" dirty="0">
                  <a:solidFill>
                    <a:srgbClr val="2AA3A0"/>
                  </a:solidFill>
                  <a:latin typeface="Arial"/>
                  <a:ea typeface="Microsoft YaHei"/>
                  <a:cs typeface="Arial"/>
                </a:rPr>
                <a:t>随机森林特征重要性</a:t>
              </a:r>
            </a:p>
          </p:txBody>
        </p:sp>
        <p:pic>
          <p:nvPicPr>
            <p:cNvPr id="24" name="Image 24"/>
            <p:cNvPicPr>
              <a:picLocks noChangeAspect="1"/>
            </p:cNvPicPr>
            <p:nvPr/>
          </p:nvPicPr>
          <p:blipFill>
            <a:blip r:embed="rId2"/>
            <a:stretch>
              <a:fillRect/>
            </a:stretch>
          </p:blipFill>
          <p:spPr>
            <a:xfrm>
              <a:off x="5905500" y="1727776"/>
              <a:ext cx="5619750" cy="3307198"/>
            </a:xfrm>
            <a:prstGeom prst="rect">
              <a:avLst/>
            </a:prstGeom>
          </p:spPr>
        </p:pic>
        <p:sp>
          <p:nvSpPr>
            <p:cNvPr id="25" name="TextBox 25"/>
            <p:cNvSpPr txBox="1"/>
            <p:nvPr/>
          </p:nvSpPr>
          <p:spPr>
            <a:xfrm>
              <a:off x="5988368" y="5038249"/>
              <a:ext cx="3886248" cy="198120"/>
            </a:xfrm>
            <a:prstGeom prst="rect">
              <a:avLst/>
            </a:prstGeom>
            <a:noFill/>
            <a:ln>
              <a:noFill/>
            </a:ln>
          </p:spPr>
          <p:txBody>
            <a:bodyPr wrap="none" lIns="0" tIns="0" rIns="0" bIns="0" anchor="t" anchorCtr="0">
              <a:spAutoFit/>
            </a:bodyPr>
            <a:lstStyle/>
            <a:p>
              <a:pPr algn="l"/>
              <a:r>
                <a:rPr lang="zh-CN" sz="975" dirty="0">
                  <a:solidFill>
                    <a:srgbClr val="8C8578"/>
                  </a:solidFill>
                  <a:latin typeface="Arial"/>
                  <a:ea typeface="Microsoft YaHei"/>
                  <a:cs typeface="Arial"/>
                </a:rPr>
                <a:t>outdoor_lux 占 54%，cloud_cover 占 9%，solar_azimuth 占 6%</a:t>
              </a:r>
            </a:p>
          </p:txBody>
        </p:sp>
      </p:grpSp>
      <p:grpSp>
        <p:nvGrpSpPr>
          <p:cNvPr id="29" name="Group 29"/>
          <p:cNvGrpSpPr/>
          <p:nvPr/>
        </p:nvGrpSpPr>
        <p:grpSpPr>
          <a:xfrm>
            <a:off x="561022" y="6483191"/>
            <a:ext cx="11069955" cy="167640"/>
            <a:chOff x="561022" y="6483191"/>
            <a:chExt cx="11069955" cy="167640"/>
          </a:xfrm>
        </p:grpSpPr>
        <p:sp>
          <p:nvSpPr>
            <p:cNvPr id="27" name="TextBox 27"/>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28" name="TextBox 28"/>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05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400"/>
                                        <p:tgtEl>
                                          <p:spTgt spid="21"/>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slide(fromBottom)">
                                      <p:cBhvr>
                                        <p:cTn id="11"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4135079" cy="808197"/>
            <a:chOff x="539115" y="387191"/>
            <a:chExt cx="4135079"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06</a:t>
              </a:r>
            </a:p>
          </p:txBody>
        </p:sp>
        <p:sp>
          <p:nvSpPr>
            <p:cNvPr id="4" name="Rectangle 4"/>
            <p:cNvSpPr/>
            <p:nvPr/>
          </p:nvSpPr>
          <p:spPr>
            <a:xfrm>
              <a:off x="571500" y="619125"/>
              <a:ext cx="476250" cy="28575"/>
            </a:xfrm>
            <a:prstGeom prst="roundRect">
              <a:avLst>
                <a:gd name="adj" fmla="val 50000"/>
              </a:avLst>
            </a:prstGeom>
            <a:solidFill>
              <a:srgbClr val="2AA3A0"/>
            </a:solidFill>
            <a:ln>
              <a:noFill/>
            </a:ln>
          </p:spPr>
        </p:sp>
        <p:sp>
          <p:nvSpPr>
            <p:cNvPr id="5" name="TextBox 5"/>
            <p:cNvSpPr txBox="1"/>
            <p:nvPr/>
          </p:nvSpPr>
          <p:spPr>
            <a:xfrm>
              <a:off x="539115" y="677228"/>
              <a:ext cx="4135079"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模型输出：41 维相对光谱</a:t>
              </a:r>
            </a:p>
          </p:txBody>
        </p:sp>
      </p:grpSp>
      <p:grpSp>
        <p:nvGrpSpPr>
          <p:cNvPr id="10" name="Group 10"/>
          <p:cNvGrpSpPr/>
          <p:nvPr/>
        </p:nvGrpSpPr>
        <p:grpSpPr>
          <a:xfrm>
            <a:off x="571500" y="1238250"/>
            <a:ext cx="5334000" cy="3810000"/>
            <a:chOff x="571500" y="1238250"/>
            <a:chExt cx="5334000" cy="3810000"/>
          </a:xfrm>
        </p:grpSpPr>
        <p:sp>
          <p:nvSpPr>
            <p:cNvPr id="7" name="Rectangle 7"/>
            <p:cNvSpPr/>
            <p:nvPr/>
          </p:nvSpPr>
          <p:spPr>
            <a:xfrm>
              <a:off x="571500" y="1238250"/>
              <a:ext cx="5334000" cy="3810000"/>
            </a:xfrm>
            <a:prstGeom prst="roundRect">
              <a:avLst>
                <a:gd name="adj" fmla="val 3000"/>
              </a:avLst>
            </a:prstGeom>
            <a:solidFill>
              <a:srgbClr val="FFF8EE"/>
            </a:solidFill>
            <a:ln>
              <a:noFill/>
            </a:ln>
          </p:spPr>
        </p:sp>
        <p:pic>
          <p:nvPicPr>
            <p:cNvPr id="8" name="Image 8"/>
            <p:cNvPicPr>
              <a:picLocks noChangeAspect="1"/>
            </p:cNvPicPr>
            <p:nvPr/>
          </p:nvPicPr>
          <p:blipFill>
            <a:blip r:embed="rId2"/>
            <a:stretch>
              <a:fillRect/>
            </a:stretch>
          </p:blipFill>
          <p:spPr>
            <a:xfrm>
              <a:off x="666750" y="1333500"/>
              <a:ext cx="5143500" cy="3238500"/>
            </a:xfrm>
            <a:prstGeom prst="rect">
              <a:avLst/>
            </a:prstGeom>
          </p:spPr>
        </p:pic>
        <p:sp>
          <p:nvSpPr>
            <p:cNvPr id="9" name="TextBox 9"/>
            <p:cNvSpPr txBox="1"/>
            <p:nvPr/>
          </p:nvSpPr>
          <p:spPr>
            <a:xfrm>
              <a:off x="749618" y="4752499"/>
              <a:ext cx="2722602" cy="198120"/>
            </a:xfrm>
            <a:prstGeom prst="rect">
              <a:avLst/>
            </a:prstGeom>
            <a:noFill/>
            <a:ln>
              <a:noFill/>
            </a:ln>
          </p:spPr>
          <p:txBody>
            <a:bodyPr wrap="none" lIns="0" tIns="0" rIns="0" bIns="0" anchor="t" anchorCtr="0">
              <a:spAutoFit/>
            </a:bodyPr>
            <a:lstStyle/>
            <a:p>
              <a:pPr algn="l"/>
              <a:r>
                <a:rPr lang="zh-CN" sz="975" dirty="0">
                  <a:solidFill>
                    <a:srgbClr val="8C8578"/>
                  </a:solidFill>
                  <a:latin typeface="Arial"/>
                  <a:ea typeface="Microsoft YaHei"/>
                  <a:cs typeface="Arial"/>
                </a:rPr>
                <a:t>光谱曲线示例：380–780 nm 范围内的相对光谱</a:t>
              </a:r>
            </a:p>
          </p:txBody>
        </p:sp>
      </p:grpSp>
      <p:grpSp>
        <p:nvGrpSpPr>
          <p:cNvPr id="19" name="Group 19"/>
          <p:cNvGrpSpPr/>
          <p:nvPr/>
        </p:nvGrpSpPr>
        <p:grpSpPr>
          <a:xfrm>
            <a:off x="6191250" y="1238250"/>
            <a:ext cx="5429250" cy="3810000"/>
            <a:chOff x="6191250" y="1238250"/>
            <a:chExt cx="5429250" cy="3810000"/>
          </a:xfrm>
        </p:grpSpPr>
        <p:sp>
          <p:nvSpPr>
            <p:cNvPr id="11" name="Rectangle 11"/>
            <p:cNvSpPr/>
            <p:nvPr/>
          </p:nvSpPr>
          <p:spPr>
            <a:xfrm>
              <a:off x="6191250" y="1238250"/>
              <a:ext cx="5429250" cy="3810000"/>
            </a:xfrm>
            <a:prstGeom prst="roundRect">
              <a:avLst>
                <a:gd name="adj" fmla="val 3000"/>
              </a:avLst>
            </a:prstGeom>
            <a:solidFill>
              <a:srgbClr val="FFF8EE"/>
            </a:solidFill>
            <a:ln>
              <a:noFill/>
            </a:ln>
          </p:spPr>
        </p:sp>
        <p:sp>
          <p:nvSpPr>
            <p:cNvPr id="12" name="TextBox 12"/>
            <p:cNvSpPr txBox="1"/>
            <p:nvPr/>
          </p:nvSpPr>
          <p:spPr>
            <a:xfrm>
              <a:off x="6362700" y="1504950"/>
              <a:ext cx="878205" cy="304800"/>
            </a:xfrm>
            <a:prstGeom prst="rect">
              <a:avLst/>
            </a:prstGeom>
            <a:noFill/>
            <a:ln>
              <a:noFill/>
            </a:ln>
          </p:spPr>
          <p:txBody>
            <a:bodyPr wrap="none" lIns="0" tIns="0" rIns="0" bIns="0" anchor="t" anchorCtr="0">
              <a:spAutoFit/>
            </a:bodyPr>
            <a:lstStyle/>
            <a:p>
              <a:pPr algn="l"/>
              <a:r>
                <a:rPr lang="zh-CN" sz="1500" b="1" dirty="0">
                  <a:solidFill>
                    <a:srgbClr val="2AA3A0"/>
                  </a:solidFill>
                  <a:latin typeface="Arial"/>
                  <a:ea typeface="Microsoft YaHei"/>
                  <a:cs typeface="Arial"/>
                </a:rPr>
                <a:t>输出目标</a:t>
              </a:r>
            </a:p>
          </p:txBody>
        </p:sp>
        <p:sp>
          <p:nvSpPr>
            <p:cNvPr id="13" name="TextBox 13"/>
            <p:cNvSpPr txBox="1"/>
            <p:nvPr/>
          </p:nvSpPr>
          <p:spPr>
            <a:xfrm>
              <a:off x="6365558" y="1862614"/>
              <a:ext cx="1975485" cy="792480"/>
            </a:xfrm>
            <a:prstGeom prst="rect">
              <a:avLst/>
            </a:prstGeom>
            <a:noFill/>
            <a:ln>
              <a:noFill/>
            </a:ln>
          </p:spPr>
          <p:txBody>
            <a:bodyPr wrap="square" lIns="0" tIns="0" rIns="0" bIns="0" anchor="t" anchorCtr="0"/>
            <a:lstStyle/>
            <a:p>
              <a:pPr algn="l">
                <a:lnSpc>
                  <a:spcPts val="2100"/>
                </a:lnSpc>
              </a:pPr>
              <a:r>
                <a:rPr lang="zh-CN" sz="1275" dirty="0">
                  <a:solidFill>
                    <a:srgbClr val="2D2A26"/>
                  </a:solidFill>
                  <a:latin typeface="Arial"/>
                  <a:ea typeface="Microsoft YaHei"/>
                  <a:cs typeface="Arial"/>
                </a:rPr>
                <a:t>380–780 nm 可见光范围</a:t>
              </a:r>
              <a:r>
                <a:rPr lang="zh-CN" sz="1275" dirty="0">
                  <a:solidFill>
                    <a:srgbClr val="2D2A26"/>
                  </a:solidFill>
                  <a:latin typeface="Arial"/>
                  <a:ea typeface="Microsoft YaHei"/>
                  <a:cs typeface="Arial"/>
                </a:rPr>
                <a:t>每 10 nm 一个点，共 41 维</a:t>
              </a:r>
              <a:r>
                <a:rPr lang="zh-CN" sz="1275" dirty="0">
                  <a:solidFill>
                    <a:srgbClr val="2D2A26"/>
                  </a:solidFill>
                  <a:latin typeface="Arial"/>
                  <a:ea typeface="Microsoft YaHei"/>
                  <a:cs typeface="Arial"/>
                </a:rPr>
                <a:t>关注相对光谱形状</a:t>
              </a:r>
            </a:p>
          </p:txBody>
        </p:sp>
        <p:sp>
          <p:nvSpPr>
            <p:cNvPr id="14" name="Line 14"/>
            <p:cNvSpPr/>
            <p:nvPr/>
          </p:nvSpPr>
          <p:spPr>
            <a:xfrm>
              <a:off x="6381750" y="2952750"/>
              <a:ext cx="4857750" cy="9525"/>
            </a:xfrm>
            <a:custGeom>
              <a:avLst/>
              <a:gdLst/>
              <a:ahLst/>
              <a:cxnLst/>
              <a:rect l="l" t="t" r="r" b="b"/>
              <a:pathLst>
                <a:path w="4857750" h="9525">
                  <a:moveTo>
                    <a:pt x="0" y="0"/>
                  </a:moveTo>
                  <a:lnTo>
                    <a:pt x="4857750" y="0"/>
                  </a:lnTo>
                </a:path>
              </a:pathLst>
            </a:custGeom>
            <a:noFill/>
            <a:ln w="9525">
              <a:solidFill>
                <a:srgbClr val="E8E0D4"/>
              </a:solidFill>
            </a:ln>
          </p:spPr>
        </p:sp>
        <p:sp>
          <p:nvSpPr>
            <p:cNvPr id="15" name="TextBox 15"/>
            <p:cNvSpPr txBox="1"/>
            <p:nvPr/>
          </p:nvSpPr>
          <p:spPr>
            <a:xfrm>
              <a:off x="6362700" y="3124200"/>
              <a:ext cx="1497782" cy="304800"/>
            </a:xfrm>
            <a:prstGeom prst="rect">
              <a:avLst/>
            </a:prstGeom>
            <a:noFill/>
            <a:ln>
              <a:noFill/>
            </a:ln>
          </p:spPr>
          <p:txBody>
            <a:bodyPr wrap="none" lIns="0" tIns="0" rIns="0" bIns="0" anchor="t" anchorCtr="0">
              <a:spAutoFit/>
            </a:bodyPr>
            <a:lstStyle/>
            <a:p>
              <a:pPr algn="l"/>
              <a:r>
                <a:rPr lang="zh-CN" sz="1500" b="1" dirty="0">
                  <a:solidFill>
                    <a:srgbClr val="2AA3A0"/>
                  </a:solidFill>
                  <a:latin typeface="Arial"/>
                  <a:ea typeface="Microsoft YaHei"/>
                  <a:cs typeface="Arial"/>
                </a:rPr>
                <a:t>为什么需要 PCA</a:t>
              </a:r>
            </a:p>
          </p:txBody>
        </p:sp>
        <p:sp>
          <p:nvSpPr>
            <p:cNvPr id="16" name="TextBox 16"/>
            <p:cNvSpPr txBox="1"/>
            <p:nvPr/>
          </p:nvSpPr>
          <p:spPr>
            <a:xfrm>
              <a:off x="6365558" y="3481864"/>
              <a:ext cx="2250758" cy="792480"/>
            </a:xfrm>
            <a:prstGeom prst="rect">
              <a:avLst/>
            </a:prstGeom>
            <a:noFill/>
            <a:ln>
              <a:noFill/>
            </a:ln>
          </p:spPr>
          <p:txBody>
            <a:bodyPr wrap="square" lIns="0" tIns="0" rIns="0" bIns="0" anchor="t" anchorCtr="0"/>
            <a:lstStyle/>
            <a:p>
              <a:pPr algn="l">
                <a:lnSpc>
                  <a:spcPts val="2100"/>
                </a:lnSpc>
              </a:pPr>
              <a:r>
                <a:rPr lang="zh-CN" sz="1275" dirty="0">
                  <a:solidFill>
                    <a:srgbClr val="2D2A26"/>
                  </a:solidFill>
                  <a:latin typeface="Arial"/>
                  <a:ea typeface="Microsoft YaHei"/>
                  <a:cs typeface="Arial"/>
                </a:rPr>
                <a:t>光谱曲线连续变化，相邻波长</a:t>
              </a:r>
              <a:r>
                <a:rPr lang="zh-CN" sz="1275" dirty="0">
                  <a:solidFill>
                    <a:srgbClr val="2D2A26"/>
                  </a:solidFill>
                  <a:latin typeface="Arial"/>
                  <a:ea typeface="Microsoft YaHei"/>
                  <a:cs typeface="Arial"/>
                </a:rPr>
                <a:t>高度相关 → 适合 PCA 压缩</a:t>
              </a:r>
              <a:r>
                <a:rPr lang="zh-CN" sz="1275" dirty="0">
                  <a:solidFill>
                    <a:srgbClr val="2D2A26"/>
                  </a:solidFill>
                  <a:latin typeface="Arial"/>
                  <a:ea typeface="Microsoft YaHei"/>
                  <a:cs typeface="Arial"/>
                </a:rPr>
                <a:t>直接预测 41 维会增加模型难度</a:t>
              </a:r>
            </a:p>
          </p:txBody>
        </p:sp>
        <p:sp>
          <p:nvSpPr>
            <p:cNvPr id="17" name="Line 17"/>
            <p:cNvSpPr/>
            <p:nvPr/>
          </p:nvSpPr>
          <p:spPr>
            <a:xfrm>
              <a:off x="6381750" y="4524375"/>
              <a:ext cx="4857750" cy="9525"/>
            </a:xfrm>
            <a:custGeom>
              <a:avLst/>
              <a:gdLst/>
              <a:ahLst/>
              <a:cxnLst/>
              <a:rect l="l" t="t" r="r" b="b"/>
              <a:pathLst>
                <a:path w="4857750" h="9525">
                  <a:moveTo>
                    <a:pt x="0" y="0"/>
                  </a:moveTo>
                  <a:lnTo>
                    <a:pt x="4857750" y="0"/>
                  </a:lnTo>
                </a:path>
              </a:pathLst>
            </a:custGeom>
            <a:noFill/>
            <a:ln w="9525">
              <a:solidFill>
                <a:srgbClr val="E8E0D4"/>
              </a:solidFill>
            </a:ln>
          </p:spPr>
        </p:sp>
        <p:sp>
          <p:nvSpPr>
            <p:cNvPr id="18" name="TextBox 18"/>
            <p:cNvSpPr txBox="1"/>
            <p:nvPr/>
          </p:nvSpPr>
          <p:spPr>
            <a:xfrm>
              <a:off x="6367462" y="4688681"/>
              <a:ext cx="3929062" cy="228600"/>
            </a:xfrm>
            <a:prstGeom prst="rect">
              <a:avLst/>
            </a:prstGeom>
            <a:noFill/>
            <a:ln>
              <a:noFill/>
            </a:ln>
          </p:spPr>
          <p:txBody>
            <a:bodyPr wrap="none" lIns="0" tIns="0" rIns="0" bIns="0" anchor="t" anchorCtr="0">
              <a:spAutoFit/>
            </a:bodyPr>
            <a:lstStyle/>
            <a:p>
              <a:pPr algn="l"/>
              <a:r>
                <a:rPr lang="zh-CN" sz="1125" dirty="0">
                  <a:solidFill>
                    <a:srgbClr val="8C8578"/>
                  </a:solidFill>
                  <a:latin typeface="Arial"/>
                  <a:ea typeface="Microsoft YaHei"/>
                  <a:cs typeface="Arial"/>
                </a:rPr>
                <a:t>每条光谱除以自身最大值，模型学习光谱形状而非绝对强度</a:t>
              </a:r>
            </a:p>
          </p:txBody>
        </p:sp>
      </p:grpSp>
      <p:grpSp>
        <p:nvGrpSpPr>
          <p:cNvPr id="22" name="Group 22"/>
          <p:cNvGrpSpPr/>
          <p:nvPr/>
        </p:nvGrpSpPr>
        <p:grpSpPr>
          <a:xfrm>
            <a:off x="561022" y="6483191"/>
            <a:ext cx="11069955" cy="167640"/>
            <a:chOff x="561022" y="6483191"/>
            <a:chExt cx="11069955" cy="167640"/>
          </a:xfrm>
        </p:grpSpPr>
        <p:sp>
          <p:nvSpPr>
            <p:cNvPr id="20" name="TextBox 20"/>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21" name="TextBox 21"/>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06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400"/>
                                        <p:tgtEl>
                                          <p:spTgt spid="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5866745" cy="808197"/>
            <a:chOff x="539115" y="387191"/>
            <a:chExt cx="5866745"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07</a:t>
              </a:r>
            </a:p>
          </p:txBody>
        </p:sp>
        <p:sp>
          <p:nvSpPr>
            <p:cNvPr id="4" name="Rectangle 4"/>
            <p:cNvSpPr/>
            <p:nvPr/>
          </p:nvSpPr>
          <p:spPr>
            <a:xfrm>
              <a:off x="571500" y="619125"/>
              <a:ext cx="476250" cy="28575"/>
            </a:xfrm>
            <a:prstGeom prst="roundRect">
              <a:avLst>
                <a:gd name="adj" fmla="val 50000"/>
              </a:avLst>
            </a:prstGeom>
            <a:solidFill>
              <a:srgbClr val="8B6DB0"/>
            </a:solidFill>
            <a:ln>
              <a:noFill/>
            </a:ln>
          </p:spPr>
        </p:sp>
        <p:sp>
          <p:nvSpPr>
            <p:cNvPr id="5" name="TextBox 5"/>
            <p:cNvSpPr txBox="1"/>
            <p:nvPr/>
          </p:nvSpPr>
          <p:spPr>
            <a:xfrm>
              <a:off x="539115" y="677228"/>
              <a:ext cx="5866745"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用 PCA 压缩光谱，保留主要变化信息</a:t>
              </a:r>
            </a:p>
          </p:txBody>
        </p:sp>
      </p:grpSp>
      <p:grpSp>
        <p:nvGrpSpPr>
          <p:cNvPr id="25" name="Group 25"/>
          <p:cNvGrpSpPr/>
          <p:nvPr/>
        </p:nvGrpSpPr>
        <p:grpSpPr>
          <a:xfrm>
            <a:off x="571500" y="1238250"/>
            <a:ext cx="11049000" cy="952500"/>
            <a:chOff x="571500" y="1238250"/>
            <a:chExt cx="11049000" cy="952500"/>
          </a:xfrm>
        </p:grpSpPr>
        <p:sp>
          <p:nvSpPr>
            <p:cNvPr id="7" name="Rectangle 7"/>
            <p:cNvSpPr/>
            <p:nvPr/>
          </p:nvSpPr>
          <p:spPr>
            <a:xfrm>
              <a:off x="571500" y="1238250"/>
              <a:ext cx="11049000" cy="952500"/>
            </a:xfrm>
            <a:prstGeom prst="roundRect">
              <a:avLst>
                <a:gd name="adj" fmla="val 12000"/>
              </a:avLst>
            </a:prstGeom>
            <a:solidFill>
              <a:srgbClr val="FFF8EE"/>
            </a:solidFill>
            <a:ln>
              <a:noFill/>
            </a:ln>
          </p:spPr>
        </p:sp>
        <p:sp>
          <p:nvSpPr>
            <p:cNvPr id="8" name="Rectangle 8"/>
            <p:cNvSpPr/>
            <p:nvPr/>
          </p:nvSpPr>
          <p:spPr>
            <a:xfrm>
              <a:off x="762000" y="1428750"/>
              <a:ext cx="1333500" cy="571500"/>
            </a:xfrm>
            <a:prstGeom prst="roundRect">
              <a:avLst>
                <a:gd name="adj" fmla="val 13333"/>
              </a:avLst>
            </a:prstGeom>
            <a:solidFill>
              <a:srgbClr val="8B6DB0">
                <a:alpha val="15000"/>
              </a:srgbClr>
            </a:solidFill>
            <a:ln>
              <a:noFill/>
            </a:ln>
          </p:spPr>
        </p:sp>
        <p:sp>
          <p:nvSpPr>
            <p:cNvPr id="9" name="TextBox 9"/>
            <p:cNvSpPr txBox="1"/>
            <p:nvPr/>
          </p:nvSpPr>
          <p:spPr>
            <a:xfrm>
              <a:off x="1114425" y="1640681"/>
              <a:ext cx="628650" cy="228600"/>
            </a:xfrm>
            <a:prstGeom prst="rect">
              <a:avLst/>
            </a:prstGeom>
            <a:noFill/>
            <a:ln>
              <a:noFill/>
            </a:ln>
          </p:spPr>
          <p:txBody>
            <a:bodyPr wrap="none" lIns="0" tIns="0" rIns="0" bIns="0" anchor="t" anchorCtr="0">
              <a:spAutoFit/>
            </a:bodyPr>
            <a:lstStyle/>
            <a:p>
              <a:pPr algn="ctr"/>
              <a:r>
                <a:rPr lang="zh-CN" sz="1125" dirty="0">
                  <a:solidFill>
                    <a:srgbClr val="8B6DB0"/>
                  </a:solidFill>
                  <a:latin typeface="Arial"/>
                  <a:ea typeface="Microsoft YaHei"/>
                  <a:cs typeface="Arial"/>
                </a:rPr>
                <a:t>原始光谱</a:t>
              </a:r>
            </a:p>
          </p:txBody>
        </p:sp>
        <p:sp>
          <p:nvSpPr>
            <p:cNvPr id="10" name="TextBox 10"/>
            <p:cNvSpPr txBox="1"/>
            <p:nvPr/>
          </p:nvSpPr>
          <p:spPr>
            <a:xfrm>
              <a:off x="2219325" y="1600200"/>
              <a:ext cx="148114" cy="304800"/>
            </a:xfrm>
            <a:prstGeom prst="rect">
              <a:avLst/>
            </a:prstGeom>
            <a:noFill/>
            <a:ln>
              <a:noFill/>
            </a:ln>
          </p:spPr>
          <p:txBody>
            <a:bodyPr wrap="none" lIns="0" tIns="0" rIns="0" bIns="0" anchor="t" anchorCtr="0">
              <a:spAutoFit/>
            </a:bodyPr>
            <a:lstStyle/>
            <a:p>
              <a:pPr algn="l"/>
              <a:r>
                <a:rPr lang="zh-CN" sz="1500" dirty="0">
                  <a:solidFill>
                    <a:srgbClr val="E8E0D4"/>
                  </a:solidFill>
                  <a:latin typeface="Arial"/>
                  <a:ea typeface="Microsoft YaHei"/>
                  <a:cs typeface="Arial"/>
                </a:rPr>
                <a:t>→</a:t>
              </a:r>
            </a:p>
          </p:txBody>
        </p:sp>
        <p:sp>
          <p:nvSpPr>
            <p:cNvPr id="11" name="Rectangle 11"/>
            <p:cNvSpPr/>
            <p:nvPr/>
          </p:nvSpPr>
          <p:spPr>
            <a:xfrm>
              <a:off x="2476500" y="1428750"/>
              <a:ext cx="1143000" cy="571500"/>
            </a:xfrm>
            <a:prstGeom prst="roundRect">
              <a:avLst>
                <a:gd name="adj" fmla="val 13333"/>
              </a:avLst>
            </a:prstGeom>
            <a:solidFill>
              <a:srgbClr val="8B6DB0">
                <a:alpha val="15000"/>
              </a:srgbClr>
            </a:solidFill>
            <a:ln>
              <a:noFill/>
            </a:ln>
          </p:spPr>
        </p:sp>
        <p:sp>
          <p:nvSpPr>
            <p:cNvPr id="12" name="TextBox 12"/>
            <p:cNvSpPr txBox="1"/>
            <p:nvPr/>
          </p:nvSpPr>
          <p:spPr>
            <a:xfrm>
              <a:off x="2737425" y="1640681"/>
              <a:ext cx="621149" cy="228600"/>
            </a:xfrm>
            <a:prstGeom prst="rect">
              <a:avLst/>
            </a:prstGeom>
            <a:noFill/>
            <a:ln>
              <a:noFill/>
            </a:ln>
          </p:spPr>
          <p:txBody>
            <a:bodyPr wrap="none" lIns="0" tIns="0" rIns="0" bIns="0" anchor="t" anchorCtr="0">
              <a:spAutoFit/>
            </a:bodyPr>
            <a:lstStyle/>
            <a:p>
              <a:pPr algn="ctr"/>
              <a:r>
                <a:rPr lang="zh-CN" sz="1125" dirty="0">
                  <a:solidFill>
                    <a:srgbClr val="8B6DB0"/>
                  </a:solidFill>
                  <a:latin typeface="Arial"/>
                  <a:ea typeface="Microsoft YaHei"/>
                  <a:cs typeface="Arial"/>
                </a:rPr>
                <a:t>PCA 降维</a:t>
              </a:r>
            </a:p>
          </p:txBody>
        </p:sp>
        <p:sp>
          <p:nvSpPr>
            <p:cNvPr id="13" name="TextBox 13"/>
            <p:cNvSpPr txBox="1"/>
            <p:nvPr/>
          </p:nvSpPr>
          <p:spPr>
            <a:xfrm>
              <a:off x="3743325" y="1600200"/>
              <a:ext cx="148114" cy="304800"/>
            </a:xfrm>
            <a:prstGeom prst="rect">
              <a:avLst/>
            </a:prstGeom>
            <a:noFill/>
            <a:ln>
              <a:noFill/>
            </a:ln>
          </p:spPr>
          <p:txBody>
            <a:bodyPr wrap="none" lIns="0" tIns="0" rIns="0" bIns="0" anchor="t" anchorCtr="0">
              <a:spAutoFit/>
            </a:bodyPr>
            <a:lstStyle/>
            <a:p>
              <a:pPr algn="l"/>
              <a:r>
                <a:rPr lang="zh-CN" sz="1500" dirty="0">
                  <a:solidFill>
                    <a:srgbClr val="E8E0D4"/>
                  </a:solidFill>
                  <a:latin typeface="Arial"/>
                  <a:ea typeface="Microsoft YaHei"/>
                  <a:cs typeface="Arial"/>
                </a:rPr>
                <a:t>→</a:t>
              </a:r>
            </a:p>
          </p:txBody>
        </p:sp>
        <p:sp>
          <p:nvSpPr>
            <p:cNvPr id="14" name="Rectangle 14"/>
            <p:cNvSpPr/>
            <p:nvPr/>
          </p:nvSpPr>
          <p:spPr>
            <a:xfrm>
              <a:off x="4000500" y="1428750"/>
              <a:ext cx="1524000" cy="571500"/>
            </a:xfrm>
            <a:prstGeom prst="roundRect">
              <a:avLst>
                <a:gd name="adj" fmla="val 13333"/>
              </a:avLst>
            </a:prstGeom>
            <a:solidFill>
              <a:srgbClr val="8B6DB0">
                <a:alpha val="15000"/>
              </a:srgbClr>
            </a:solidFill>
            <a:ln>
              <a:noFill/>
            </a:ln>
          </p:spPr>
        </p:sp>
        <p:sp>
          <p:nvSpPr>
            <p:cNvPr id="15" name="TextBox 15"/>
            <p:cNvSpPr txBox="1"/>
            <p:nvPr/>
          </p:nvSpPr>
          <p:spPr>
            <a:xfrm>
              <a:off x="4234398" y="1640681"/>
              <a:ext cx="1056203" cy="228600"/>
            </a:xfrm>
            <a:prstGeom prst="rect">
              <a:avLst/>
            </a:prstGeom>
            <a:noFill/>
            <a:ln>
              <a:noFill/>
            </a:ln>
          </p:spPr>
          <p:txBody>
            <a:bodyPr wrap="none" lIns="0" tIns="0" rIns="0" bIns="0" anchor="t" anchorCtr="0">
              <a:spAutoFit/>
            </a:bodyPr>
            <a:lstStyle/>
            <a:p>
              <a:pPr algn="ctr"/>
              <a:r>
                <a:rPr lang="zh-CN" sz="1125" dirty="0">
                  <a:solidFill>
                    <a:srgbClr val="8B6DB0"/>
                  </a:solidFill>
                  <a:latin typeface="Arial"/>
                  <a:ea typeface="Microsoft YaHei"/>
                  <a:cs typeface="Arial"/>
                </a:rPr>
                <a:t>5 个主成分系数</a:t>
              </a:r>
            </a:p>
          </p:txBody>
        </p:sp>
        <p:sp>
          <p:nvSpPr>
            <p:cNvPr id="16" name="TextBox 16"/>
            <p:cNvSpPr txBox="1"/>
            <p:nvPr/>
          </p:nvSpPr>
          <p:spPr>
            <a:xfrm>
              <a:off x="5648325" y="1600200"/>
              <a:ext cx="148114" cy="304800"/>
            </a:xfrm>
            <a:prstGeom prst="rect">
              <a:avLst/>
            </a:prstGeom>
            <a:noFill/>
            <a:ln>
              <a:noFill/>
            </a:ln>
          </p:spPr>
          <p:txBody>
            <a:bodyPr wrap="none" lIns="0" tIns="0" rIns="0" bIns="0" anchor="t" anchorCtr="0">
              <a:spAutoFit/>
            </a:bodyPr>
            <a:lstStyle/>
            <a:p>
              <a:pPr algn="l"/>
              <a:r>
                <a:rPr lang="zh-CN" sz="1500" dirty="0">
                  <a:solidFill>
                    <a:srgbClr val="E8E0D4"/>
                  </a:solidFill>
                  <a:latin typeface="Arial"/>
                  <a:ea typeface="Microsoft YaHei"/>
                  <a:cs typeface="Arial"/>
                </a:rPr>
                <a:t>→</a:t>
              </a:r>
            </a:p>
          </p:txBody>
        </p:sp>
        <p:sp>
          <p:nvSpPr>
            <p:cNvPr id="17" name="Rectangle 17"/>
            <p:cNvSpPr/>
            <p:nvPr/>
          </p:nvSpPr>
          <p:spPr>
            <a:xfrm>
              <a:off x="5905500" y="1428750"/>
              <a:ext cx="1143000" cy="571500"/>
            </a:xfrm>
            <a:prstGeom prst="roundRect">
              <a:avLst>
                <a:gd name="adj" fmla="val 13333"/>
              </a:avLst>
            </a:prstGeom>
            <a:solidFill>
              <a:srgbClr val="8B6DB0">
                <a:alpha val="15000"/>
              </a:srgbClr>
            </a:solidFill>
            <a:ln>
              <a:noFill/>
            </a:ln>
          </p:spPr>
        </p:sp>
        <p:sp>
          <p:nvSpPr>
            <p:cNvPr id="18" name="TextBox 18"/>
            <p:cNvSpPr txBox="1"/>
            <p:nvPr/>
          </p:nvSpPr>
          <p:spPr>
            <a:xfrm>
              <a:off x="6162675" y="1640681"/>
              <a:ext cx="628650" cy="228600"/>
            </a:xfrm>
            <a:prstGeom prst="rect">
              <a:avLst/>
            </a:prstGeom>
            <a:noFill/>
            <a:ln>
              <a:noFill/>
            </a:ln>
          </p:spPr>
          <p:txBody>
            <a:bodyPr wrap="none" lIns="0" tIns="0" rIns="0" bIns="0" anchor="t" anchorCtr="0">
              <a:spAutoFit/>
            </a:bodyPr>
            <a:lstStyle/>
            <a:p>
              <a:pPr algn="ctr"/>
              <a:r>
                <a:rPr lang="zh-CN" sz="1125" dirty="0">
                  <a:solidFill>
                    <a:srgbClr val="8B6DB0"/>
                  </a:solidFill>
                  <a:latin typeface="Arial"/>
                  <a:ea typeface="Microsoft YaHei"/>
                  <a:cs typeface="Arial"/>
                </a:rPr>
                <a:t>模型预测</a:t>
              </a:r>
            </a:p>
          </p:txBody>
        </p:sp>
        <p:sp>
          <p:nvSpPr>
            <p:cNvPr id="19" name="TextBox 19"/>
            <p:cNvSpPr txBox="1"/>
            <p:nvPr/>
          </p:nvSpPr>
          <p:spPr>
            <a:xfrm>
              <a:off x="7172325" y="1600200"/>
              <a:ext cx="148114" cy="304800"/>
            </a:xfrm>
            <a:prstGeom prst="rect">
              <a:avLst/>
            </a:prstGeom>
            <a:noFill/>
            <a:ln>
              <a:noFill/>
            </a:ln>
          </p:spPr>
          <p:txBody>
            <a:bodyPr wrap="none" lIns="0" tIns="0" rIns="0" bIns="0" anchor="t" anchorCtr="0">
              <a:spAutoFit/>
            </a:bodyPr>
            <a:lstStyle/>
            <a:p>
              <a:pPr algn="l"/>
              <a:r>
                <a:rPr lang="zh-CN" sz="1500" dirty="0">
                  <a:solidFill>
                    <a:srgbClr val="E8E0D4"/>
                  </a:solidFill>
                  <a:latin typeface="Arial"/>
                  <a:ea typeface="Microsoft YaHei"/>
                  <a:cs typeface="Arial"/>
                </a:rPr>
                <a:t>→</a:t>
              </a:r>
            </a:p>
          </p:txBody>
        </p:sp>
        <p:sp>
          <p:nvSpPr>
            <p:cNvPr id="20" name="Rectangle 20"/>
            <p:cNvSpPr/>
            <p:nvPr/>
          </p:nvSpPr>
          <p:spPr>
            <a:xfrm>
              <a:off x="7429500" y="1428750"/>
              <a:ext cx="1524000" cy="571500"/>
            </a:xfrm>
            <a:prstGeom prst="roundRect">
              <a:avLst>
                <a:gd name="adj" fmla="val 13333"/>
              </a:avLst>
            </a:prstGeom>
            <a:solidFill>
              <a:srgbClr val="8B6DB0">
                <a:alpha val="15000"/>
              </a:srgbClr>
            </a:solidFill>
            <a:ln>
              <a:noFill/>
            </a:ln>
          </p:spPr>
        </p:sp>
        <p:sp>
          <p:nvSpPr>
            <p:cNvPr id="21" name="TextBox 21"/>
            <p:cNvSpPr txBox="1"/>
            <p:nvPr/>
          </p:nvSpPr>
          <p:spPr>
            <a:xfrm>
              <a:off x="7805916" y="1640681"/>
              <a:ext cx="771168" cy="228600"/>
            </a:xfrm>
            <a:prstGeom prst="rect">
              <a:avLst/>
            </a:prstGeom>
            <a:noFill/>
            <a:ln>
              <a:noFill/>
            </a:ln>
          </p:spPr>
          <p:txBody>
            <a:bodyPr wrap="none" lIns="0" tIns="0" rIns="0" bIns="0" anchor="t" anchorCtr="0">
              <a:spAutoFit/>
            </a:bodyPr>
            <a:lstStyle/>
            <a:p>
              <a:pPr algn="ctr"/>
              <a:r>
                <a:rPr lang="zh-CN" sz="1125" dirty="0">
                  <a:solidFill>
                    <a:srgbClr val="8B6DB0"/>
                  </a:solidFill>
                  <a:latin typeface="Arial"/>
                  <a:ea typeface="Microsoft YaHei"/>
                  <a:cs typeface="Arial"/>
                </a:rPr>
                <a:t>PCA 逆变换</a:t>
              </a:r>
            </a:p>
          </p:txBody>
        </p:sp>
        <p:sp>
          <p:nvSpPr>
            <p:cNvPr id="22" name="TextBox 22"/>
            <p:cNvSpPr txBox="1"/>
            <p:nvPr/>
          </p:nvSpPr>
          <p:spPr>
            <a:xfrm>
              <a:off x="9077325" y="1600200"/>
              <a:ext cx="148114" cy="304800"/>
            </a:xfrm>
            <a:prstGeom prst="rect">
              <a:avLst/>
            </a:prstGeom>
            <a:noFill/>
            <a:ln>
              <a:noFill/>
            </a:ln>
          </p:spPr>
          <p:txBody>
            <a:bodyPr wrap="none" lIns="0" tIns="0" rIns="0" bIns="0" anchor="t" anchorCtr="0">
              <a:spAutoFit/>
            </a:bodyPr>
            <a:lstStyle/>
            <a:p>
              <a:pPr algn="l"/>
              <a:r>
                <a:rPr lang="zh-CN" sz="1500" dirty="0">
                  <a:solidFill>
                    <a:srgbClr val="E8E0D4"/>
                  </a:solidFill>
                  <a:latin typeface="Arial"/>
                  <a:ea typeface="Microsoft YaHei"/>
                  <a:cs typeface="Arial"/>
                </a:rPr>
                <a:t>→</a:t>
              </a:r>
            </a:p>
          </p:txBody>
        </p:sp>
        <p:sp>
          <p:nvSpPr>
            <p:cNvPr id="23" name="Rectangle 23"/>
            <p:cNvSpPr/>
            <p:nvPr/>
          </p:nvSpPr>
          <p:spPr>
            <a:xfrm>
              <a:off x="9334500" y="1428750"/>
              <a:ext cx="1333500" cy="571500"/>
            </a:xfrm>
            <a:prstGeom prst="roundRect">
              <a:avLst>
                <a:gd name="adj" fmla="val 13333"/>
              </a:avLst>
            </a:prstGeom>
            <a:solidFill>
              <a:srgbClr val="8B6DB0">
                <a:alpha val="20000"/>
              </a:srgbClr>
            </a:solidFill>
            <a:ln>
              <a:noFill/>
            </a:ln>
          </p:spPr>
        </p:sp>
        <p:sp>
          <p:nvSpPr>
            <p:cNvPr id="24" name="TextBox 24"/>
            <p:cNvSpPr txBox="1"/>
            <p:nvPr/>
          </p:nvSpPr>
          <p:spPr>
            <a:xfrm>
              <a:off x="9671923" y="1640681"/>
              <a:ext cx="658654" cy="228600"/>
            </a:xfrm>
            <a:prstGeom prst="rect">
              <a:avLst/>
            </a:prstGeom>
            <a:noFill/>
            <a:ln>
              <a:noFill/>
            </a:ln>
          </p:spPr>
          <p:txBody>
            <a:bodyPr wrap="none" lIns="0" tIns="0" rIns="0" bIns="0" anchor="t" anchorCtr="0">
              <a:spAutoFit/>
            </a:bodyPr>
            <a:lstStyle/>
            <a:p>
              <a:pPr algn="ctr"/>
              <a:r>
                <a:rPr lang="zh-CN" sz="1125" b="1" dirty="0">
                  <a:solidFill>
                    <a:srgbClr val="8B6DB0"/>
                  </a:solidFill>
                  <a:latin typeface="Arial"/>
                  <a:ea typeface="Microsoft YaHei"/>
                  <a:cs typeface="Arial"/>
                </a:rPr>
                <a:t>还原光谱</a:t>
              </a:r>
            </a:p>
          </p:txBody>
        </p:sp>
      </p:grpSp>
      <p:grpSp>
        <p:nvGrpSpPr>
          <p:cNvPr id="29" name="Group 29"/>
          <p:cNvGrpSpPr/>
          <p:nvPr/>
        </p:nvGrpSpPr>
        <p:grpSpPr>
          <a:xfrm>
            <a:off x="571500" y="2476500"/>
            <a:ext cx="5715000" cy="3238500"/>
            <a:chOff x="571500" y="2476500"/>
            <a:chExt cx="5715000" cy="3238500"/>
          </a:xfrm>
        </p:grpSpPr>
        <p:sp>
          <p:nvSpPr>
            <p:cNvPr id="26" name="Rectangle 26"/>
            <p:cNvSpPr/>
            <p:nvPr/>
          </p:nvSpPr>
          <p:spPr>
            <a:xfrm>
              <a:off x="571500" y="2476500"/>
              <a:ext cx="5715000" cy="3238500"/>
            </a:xfrm>
            <a:prstGeom prst="roundRect">
              <a:avLst>
                <a:gd name="adj" fmla="val 3529"/>
              </a:avLst>
            </a:prstGeom>
            <a:solidFill>
              <a:srgbClr val="FFF8EE"/>
            </a:solidFill>
            <a:ln>
              <a:noFill/>
            </a:ln>
          </p:spPr>
        </p:sp>
        <p:sp>
          <p:nvSpPr>
            <p:cNvPr id="27" name="TextBox 27"/>
            <p:cNvSpPr txBox="1"/>
            <p:nvPr/>
          </p:nvSpPr>
          <p:spPr>
            <a:xfrm>
              <a:off x="744855" y="2664142"/>
              <a:ext cx="1158981" cy="274320"/>
            </a:xfrm>
            <a:prstGeom prst="rect">
              <a:avLst/>
            </a:prstGeom>
            <a:noFill/>
            <a:ln>
              <a:noFill/>
            </a:ln>
          </p:spPr>
          <p:txBody>
            <a:bodyPr wrap="none" lIns="0" tIns="0" rIns="0" bIns="0" anchor="t" anchorCtr="0">
              <a:spAutoFit/>
            </a:bodyPr>
            <a:lstStyle/>
            <a:p>
              <a:pPr algn="l"/>
              <a:r>
                <a:rPr lang="zh-CN" sz="1350" b="1" dirty="0">
                  <a:solidFill>
                    <a:srgbClr val="8B6DB0"/>
                  </a:solidFill>
                  <a:latin typeface="Arial"/>
                  <a:ea typeface="Microsoft YaHei"/>
                  <a:cs typeface="Arial"/>
                </a:rPr>
                <a:t>PCA 解释方差</a:t>
              </a:r>
            </a:p>
          </p:txBody>
        </p:sp>
        <p:pic>
          <p:nvPicPr>
            <p:cNvPr id="28" name="Image 28"/>
            <p:cNvPicPr>
              <a:picLocks noChangeAspect="1"/>
            </p:cNvPicPr>
            <p:nvPr/>
          </p:nvPicPr>
          <p:blipFill>
            <a:blip r:embed="rId2"/>
            <a:stretch>
              <a:fillRect/>
            </a:stretch>
          </p:blipFill>
          <p:spPr>
            <a:xfrm>
              <a:off x="1396858" y="2952750"/>
              <a:ext cx="4064283" cy="2571750"/>
            </a:xfrm>
            <a:prstGeom prst="rect">
              <a:avLst/>
            </a:prstGeom>
          </p:spPr>
        </p:pic>
      </p:grpSp>
      <p:grpSp>
        <p:nvGrpSpPr>
          <p:cNvPr id="55" name="Group 55"/>
          <p:cNvGrpSpPr/>
          <p:nvPr/>
        </p:nvGrpSpPr>
        <p:grpSpPr>
          <a:xfrm>
            <a:off x="6572250" y="2476500"/>
            <a:ext cx="5048250" cy="3633788"/>
            <a:chOff x="6572250" y="2476500"/>
            <a:chExt cx="5048250" cy="3633788"/>
          </a:xfrm>
        </p:grpSpPr>
        <p:sp>
          <p:nvSpPr>
            <p:cNvPr id="30" name="Rectangle 30"/>
            <p:cNvSpPr/>
            <p:nvPr/>
          </p:nvSpPr>
          <p:spPr>
            <a:xfrm>
              <a:off x="6572250" y="2476500"/>
              <a:ext cx="5048250" cy="3238500"/>
            </a:xfrm>
            <a:prstGeom prst="roundRect">
              <a:avLst>
                <a:gd name="adj" fmla="val 3529"/>
              </a:avLst>
            </a:prstGeom>
            <a:solidFill>
              <a:srgbClr val="FFF8EE"/>
            </a:solidFill>
            <a:ln>
              <a:noFill/>
            </a:ln>
          </p:spPr>
        </p:sp>
        <p:sp>
          <p:nvSpPr>
            <p:cNvPr id="31" name="TextBox 31"/>
            <p:cNvSpPr txBox="1"/>
            <p:nvPr/>
          </p:nvSpPr>
          <p:spPr>
            <a:xfrm>
              <a:off x="6745605" y="2759392"/>
              <a:ext cx="1196785" cy="274320"/>
            </a:xfrm>
            <a:prstGeom prst="rect">
              <a:avLst/>
            </a:prstGeom>
            <a:noFill/>
            <a:ln>
              <a:noFill/>
            </a:ln>
          </p:spPr>
          <p:txBody>
            <a:bodyPr wrap="none" lIns="0" tIns="0" rIns="0" bIns="0" anchor="t" anchorCtr="0">
              <a:spAutoFit/>
            </a:bodyPr>
            <a:lstStyle/>
            <a:p>
              <a:pPr algn="l"/>
              <a:r>
                <a:rPr lang="zh-CN" sz="1350" b="1" dirty="0">
                  <a:solidFill>
                    <a:srgbClr val="8B6DB0"/>
                  </a:solidFill>
                  <a:latin typeface="Arial"/>
                  <a:ea typeface="Microsoft YaHei"/>
                  <a:cs typeface="Arial"/>
                </a:rPr>
                <a:t>前 5 个主成分</a:t>
              </a:r>
            </a:p>
          </p:txBody>
        </p:sp>
        <p:sp>
          <p:nvSpPr>
            <p:cNvPr id="32" name="Rectangle 32"/>
            <p:cNvSpPr/>
            <p:nvPr/>
          </p:nvSpPr>
          <p:spPr>
            <a:xfrm>
              <a:off x="6762750" y="3095625"/>
              <a:ext cx="4667250" cy="428625"/>
            </a:xfrm>
            <a:prstGeom prst="roundRect">
              <a:avLst>
                <a:gd name="adj" fmla="val 13333"/>
              </a:avLst>
            </a:prstGeom>
            <a:solidFill>
              <a:srgbClr val="8B6DB0">
                <a:alpha val="10000"/>
              </a:srgbClr>
            </a:solidFill>
            <a:ln>
              <a:noFill/>
            </a:ln>
          </p:spPr>
        </p:sp>
        <p:sp>
          <p:nvSpPr>
            <p:cNvPr id="33" name="TextBox 33"/>
            <p:cNvSpPr txBox="1"/>
            <p:nvPr/>
          </p:nvSpPr>
          <p:spPr>
            <a:xfrm>
              <a:off x="6938962" y="3240881"/>
              <a:ext cx="276106"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PC1</a:t>
              </a:r>
            </a:p>
          </p:txBody>
        </p:sp>
        <p:sp>
          <p:nvSpPr>
            <p:cNvPr id="34" name="Rectangle 34"/>
            <p:cNvSpPr/>
            <p:nvPr/>
          </p:nvSpPr>
          <p:spPr>
            <a:xfrm>
              <a:off x="7524750" y="3190875"/>
              <a:ext cx="3333750" cy="238125"/>
            </a:xfrm>
            <a:prstGeom prst="roundRect">
              <a:avLst>
                <a:gd name="adj" fmla="val 16000"/>
              </a:avLst>
            </a:prstGeom>
            <a:solidFill>
              <a:srgbClr val="8B6DB0">
                <a:alpha val="30000"/>
              </a:srgbClr>
            </a:solidFill>
            <a:ln>
              <a:noFill/>
            </a:ln>
          </p:spPr>
        </p:sp>
        <p:sp>
          <p:nvSpPr>
            <p:cNvPr id="35" name="TextBox 35"/>
            <p:cNvSpPr txBox="1"/>
            <p:nvPr/>
          </p:nvSpPr>
          <p:spPr>
            <a:xfrm>
              <a:off x="10388144" y="3240881"/>
              <a:ext cx="579894" cy="228600"/>
            </a:xfrm>
            <a:prstGeom prst="rect">
              <a:avLst/>
            </a:prstGeom>
            <a:noFill/>
            <a:ln>
              <a:noFill/>
            </a:ln>
          </p:spPr>
          <p:txBody>
            <a:bodyPr wrap="none" lIns="0" tIns="0" rIns="0" bIns="0" anchor="t" anchorCtr="0">
              <a:spAutoFit/>
            </a:bodyPr>
            <a:lstStyle/>
            <a:p>
              <a:pPr algn="r"/>
              <a:r>
                <a:rPr lang="zh-CN" sz="1125" b="1" dirty="0">
                  <a:solidFill>
                    <a:srgbClr val="8B6DB0"/>
                  </a:solidFill>
                  <a:latin typeface="Consolas"/>
                  <a:ea typeface="Microsoft YaHei"/>
                  <a:cs typeface="Consolas"/>
                </a:rPr>
                <a:t>84.03%</a:t>
              </a:r>
            </a:p>
          </p:txBody>
        </p:sp>
        <p:sp>
          <p:nvSpPr>
            <p:cNvPr id="36" name="Rectangle 36"/>
            <p:cNvSpPr/>
            <p:nvPr/>
          </p:nvSpPr>
          <p:spPr>
            <a:xfrm>
              <a:off x="6762750" y="3619500"/>
              <a:ext cx="4667250" cy="428625"/>
            </a:xfrm>
            <a:prstGeom prst="roundRect">
              <a:avLst>
                <a:gd name="adj" fmla="val 13333"/>
              </a:avLst>
            </a:prstGeom>
            <a:solidFill>
              <a:srgbClr val="8B6DB0">
                <a:alpha val="10000"/>
              </a:srgbClr>
            </a:solidFill>
            <a:ln>
              <a:noFill/>
            </a:ln>
          </p:spPr>
        </p:sp>
        <p:sp>
          <p:nvSpPr>
            <p:cNvPr id="37" name="TextBox 37"/>
            <p:cNvSpPr txBox="1"/>
            <p:nvPr/>
          </p:nvSpPr>
          <p:spPr>
            <a:xfrm>
              <a:off x="6938962" y="3764756"/>
              <a:ext cx="276106"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PC2</a:t>
              </a:r>
            </a:p>
          </p:txBody>
        </p:sp>
        <p:sp>
          <p:nvSpPr>
            <p:cNvPr id="38" name="Rectangle 38"/>
            <p:cNvSpPr/>
            <p:nvPr/>
          </p:nvSpPr>
          <p:spPr>
            <a:xfrm>
              <a:off x="7524750" y="3714750"/>
              <a:ext cx="381000" cy="238125"/>
            </a:xfrm>
            <a:prstGeom prst="roundRect">
              <a:avLst>
                <a:gd name="adj" fmla="val 16000"/>
              </a:avLst>
            </a:prstGeom>
            <a:solidFill>
              <a:srgbClr val="8B6DB0">
                <a:alpha val="30000"/>
              </a:srgbClr>
            </a:solidFill>
            <a:ln>
              <a:noFill/>
            </a:ln>
          </p:spPr>
        </p:sp>
        <p:sp>
          <p:nvSpPr>
            <p:cNvPr id="39" name="TextBox 39"/>
            <p:cNvSpPr txBox="1"/>
            <p:nvPr/>
          </p:nvSpPr>
          <p:spPr>
            <a:xfrm>
              <a:off x="10474779" y="3764756"/>
              <a:ext cx="493258" cy="228600"/>
            </a:xfrm>
            <a:prstGeom prst="rect">
              <a:avLst/>
            </a:prstGeom>
            <a:noFill/>
            <a:ln>
              <a:noFill/>
            </a:ln>
          </p:spPr>
          <p:txBody>
            <a:bodyPr wrap="none" lIns="0" tIns="0" rIns="0" bIns="0" anchor="t" anchorCtr="0">
              <a:spAutoFit/>
            </a:bodyPr>
            <a:lstStyle/>
            <a:p>
              <a:pPr algn="r"/>
              <a:r>
                <a:rPr lang="zh-CN" sz="1125" b="1" dirty="0">
                  <a:solidFill>
                    <a:srgbClr val="8B6DB0"/>
                  </a:solidFill>
                  <a:latin typeface="Consolas"/>
                  <a:ea typeface="Microsoft YaHei"/>
                  <a:cs typeface="Consolas"/>
                </a:rPr>
                <a:t>6.64%</a:t>
              </a:r>
            </a:p>
          </p:txBody>
        </p:sp>
        <p:sp>
          <p:nvSpPr>
            <p:cNvPr id="40" name="Rectangle 40"/>
            <p:cNvSpPr/>
            <p:nvPr/>
          </p:nvSpPr>
          <p:spPr>
            <a:xfrm>
              <a:off x="6762750" y="4143375"/>
              <a:ext cx="4667250" cy="428625"/>
            </a:xfrm>
            <a:prstGeom prst="roundRect">
              <a:avLst>
                <a:gd name="adj" fmla="val 13333"/>
              </a:avLst>
            </a:prstGeom>
            <a:solidFill>
              <a:srgbClr val="8B6DB0">
                <a:alpha val="10000"/>
              </a:srgbClr>
            </a:solidFill>
            <a:ln>
              <a:noFill/>
            </a:ln>
          </p:spPr>
        </p:sp>
        <p:sp>
          <p:nvSpPr>
            <p:cNvPr id="41" name="TextBox 41"/>
            <p:cNvSpPr txBox="1"/>
            <p:nvPr/>
          </p:nvSpPr>
          <p:spPr>
            <a:xfrm>
              <a:off x="6938962" y="4288631"/>
              <a:ext cx="276106"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PC3</a:t>
              </a:r>
            </a:p>
          </p:txBody>
        </p:sp>
        <p:sp>
          <p:nvSpPr>
            <p:cNvPr id="42" name="Rectangle 42"/>
            <p:cNvSpPr/>
            <p:nvPr/>
          </p:nvSpPr>
          <p:spPr>
            <a:xfrm>
              <a:off x="7524750" y="4238625"/>
              <a:ext cx="209550" cy="238125"/>
            </a:xfrm>
            <a:prstGeom prst="roundRect">
              <a:avLst>
                <a:gd name="adj" fmla="val 18182"/>
              </a:avLst>
            </a:prstGeom>
            <a:solidFill>
              <a:srgbClr val="8B6DB0">
                <a:alpha val="30000"/>
              </a:srgbClr>
            </a:solidFill>
            <a:ln>
              <a:noFill/>
            </a:ln>
          </p:spPr>
        </p:sp>
        <p:sp>
          <p:nvSpPr>
            <p:cNvPr id="43" name="TextBox 43"/>
            <p:cNvSpPr txBox="1"/>
            <p:nvPr/>
          </p:nvSpPr>
          <p:spPr>
            <a:xfrm>
              <a:off x="10474779" y="4288631"/>
              <a:ext cx="493258" cy="228600"/>
            </a:xfrm>
            <a:prstGeom prst="rect">
              <a:avLst/>
            </a:prstGeom>
            <a:noFill/>
            <a:ln>
              <a:noFill/>
            </a:ln>
          </p:spPr>
          <p:txBody>
            <a:bodyPr wrap="none" lIns="0" tIns="0" rIns="0" bIns="0" anchor="t" anchorCtr="0">
              <a:spAutoFit/>
            </a:bodyPr>
            <a:lstStyle/>
            <a:p>
              <a:pPr algn="r"/>
              <a:r>
                <a:rPr lang="zh-CN" sz="1125" b="1" dirty="0">
                  <a:solidFill>
                    <a:srgbClr val="8B6DB0"/>
                  </a:solidFill>
                  <a:latin typeface="Consolas"/>
                  <a:ea typeface="Microsoft YaHei"/>
                  <a:cs typeface="Consolas"/>
                </a:rPr>
                <a:t>3.34%</a:t>
              </a:r>
            </a:p>
          </p:txBody>
        </p:sp>
        <p:sp>
          <p:nvSpPr>
            <p:cNvPr id="44" name="Rectangle 44"/>
            <p:cNvSpPr/>
            <p:nvPr/>
          </p:nvSpPr>
          <p:spPr>
            <a:xfrm>
              <a:off x="6762750" y="4667250"/>
              <a:ext cx="4667250" cy="428625"/>
            </a:xfrm>
            <a:prstGeom prst="roundRect">
              <a:avLst>
                <a:gd name="adj" fmla="val 13333"/>
              </a:avLst>
            </a:prstGeom>
            <a:solidFill>
              <a:srgbClr val="8B6DB0">
                <a:alpha val="10000"/>
              </a:srgbClr>
            </a:solidFill>
            <a:ln>
              <a:noFill/>
            </a:ln>
          </p:spPr>
        </p:sp>
        <p:sp>
          <p:nvSpPr>
            <p:cNvPr id="45" name="TextBox 45"/>
            <p:cNvSpPr txBox="1"/>
            <p:nvPr/>
          </p:nvSpPr>
          <p:spPr>
            <a:xfrm>
              <a:off x="6938962" y="4812506"/>
              <a:ext cx="276106"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PC4</a:t>
              </a:r>
            </a:p>
          </p:txBody>
        </p:sp>
        <p:sp>
          <p:nvSpPr>
            <p:cNvPr id="46" name="Rectangle 46"/>
            <p:cNvSpPr/>
            <p:nvPr/>
          </p:nvSpPr>
          <p:spPr>
            <a:xfrm>
              <a:off x="7524750" y="4762500"/>
              <a:ext cx="152400" cy="238125"/>
            </a:xfrm>
            <a:prstGeom prst="roundRect">
              <a:avLst>
                <a:gd name="adj" fmla="val 25000"/>
              </a:avLst>
            </a:prstGeom>
            <a:solidFill>
              <a:srgbClr val="8B6DB0">
                <a:alpha val="30000"/>
              </a:srgbClr>
            </a:solidFill>
            <a:ln>
              <a:noFill/>
            </a:ln>
          </p:spPr>
        </p:sp>
        <p:sp>
          <p:nvSpPr>
            <p:cNvPr id="47" name="TextBox 47"/>
            <p:cNvSpPr txBox="1"/>
            <p:nvPr/>
          </p:nvSpPr>
          <p:spPr>
            <a:xfrm>
              <a:off x="10474779" y="4812506"/>
              <a:ext cx="493258" cy="228600"/>
            </a:xfrm>
            <a:prstGeom prst="rect">
              <a:avLst/>
            </a:prstGeom>
            <a:noFill/>
            <a:ln>
              <a:noFill/>
            </a:ln>
          </p:spPr>
          <p:txBody>
            <a:bodyPr wrap="none" lIns="0" tIns="0" rIns="0" bIns="0" anchor="t" anchorCtr="0">
              <a:spAutoFit/>
            </a:bodyPr>
            <a:lstStyle/>
            <a:p>
              <a:pPr algn="r"/>
              <a:r>
                <a:rPr lang="zh-CN" sz="1125" b="1" dirty="0">
                  <a:solidFill>
                    <a:srgbClr val="8B6DB0"/>
                  </a:solidFill>
                  <a:latin typeface="Consolas"/>
                  <a:ea typeface="Microsoft YaHei"/>
                  <a:cs typeface="Consolas"/>
                </a:rPr>
                <a:t>2.42%</a:t>
              </a:r>
            </a:p>
          </p:txBody>
        </p:sp>
        <p:sp>
          <p:nvSpPr>
            <p:cNvPr id="48" name="Rectangle 48"/>
            <p:cNvSpPr/>
            <p:nvPr/>
          </p:nvSpPr>
          <p:spPr>
            <a:xfrm>
              <a:off x="6762750" y="5191125"/>
              <a:ext cx="4667250" cy="428625"/>
            </a:xfrm>
            <a:prstGeom prst="roundRect">
              <a:avLst>
                <a:gd name="adj" fmla="val 13333"/>
              </a:avLst>
            </a:prstGeom>
            <a:solidFill>
              <a:srgbClr val="8B6DB0">
                <a:alpha val="10000"/>
              </a:srgbClr>
            </a:solidFill>
            <a:ln>
              <a:noFill/>
            </a:ln>
          </p:spPr>
        </p:sp>
        <p:sp>
          <p:nvSpPr>
            <p:cNvPr id="49" name="TextBox 49"/>
            <p:cNvSpPr txBox="1"/>
            <p:nvPr/>
          </p:nvSpPr>
          <p:spPr>
            <a:xfrm>
              <a:off x="6938962" y="5336381"/>
              <a:ext cx="276106"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PC5</a:t>
              </a:r>
            </a:p>
          </p:txBody>
        </p:sp>
        <p:sp>
          <p:nvSpPr>
            <p:cNvPr id="50" name="Rectangle 50"/>
            <p:cNvSpPr/>
            <p:nvPr/>
          </p:nvSpPr>
          <p:spPr>
            <a:xfrm>
              <a:off x="7524750" y="5286375"/>
              <a:ext cx="123825" cy="238125"/>
            </a:xfrm>
            <a:prstGeom prst="roundRect">
              <a:avLst>
                <a:gd name="adj" fmla="val 30769"/>
              </a:avLst>
            </a:prstGeom>
            <a:solidFill>
              <a:srgbClr val="8B6DB0">
                <a:alpha val="30000"/>
              </a:srgbClr>
            </a:solidFill>
            <a:ln>
              <a:noFill/>
            </a:ln>
          </p:spPr>
        </p:sp>
        <p:sp>
          <p:nvSpPr>
            <p:cNvPr id="51" name="TextBox 51"/>
            <p:cNvSpPr txBox="1"/>
            <p:nvPr/>
          </p:nvSpPr>
          <p:spPr>
            <a:xfrm>
              <a:off x="10474779" y="5336381"/>
              <a:ext cx="493258" cy="228600"/>
            </a:xfrm>
            <a:prstGeom prst="rect">
              <a:avLst/>
            </a:prstGeom>
            <a:noFill/>
            <a:ln>
              <a:noFill/>
            </a:ln>
          </p:spPr>
          <p:txBody>
            <a:bodyPr wrap="none" lIns="0" tIns="0" rIns="0" bIns="0" anchor="t" anchorCtr="0">
              <a:spAutoFit/>
            </a:bodyPr>
            <a:lstStyle/>
            <a:p>
              <a:pPr algn="r"/>
              <a:r>
                <a:rPr lang="zh-CN" sz="1125" b="1" dirty="0">
                  <a:solidFill>
                    <a:srgbClr val="8B6DB0"/>
                  </a:solidFill>
                  <a:latin typeface="Consolas"/>
                  <a:ea typeface="Microsoft YaHei"/>
                  <a:cs typeface="Consolas"/>
                </a:rPr>
                <a:t>1.91%</a:t>
              </a:r>
            </a:p>
          </p:txBody>
        </p:sp>
        <p:sp>
          <p:nvSpPr>
            <p:cNvPr id="52" name="Line 52"/>
            <p:cNvSpPr/>
            <p:nvPr/>
          </p:nvSpPr>
          <p:spPr>
            <a:xfrm>
              <a:off x="6762750" y="5715000"/>
              <a:ext cx="4667250" cy="9525"/>
            </a:xfrm>
            <a:custGeom>
              <a:avLst/>
              <a:gdLst/>
              <a:ahLst/>
              <a:cxnLst/>
              <a:rect l="l" t="t" r="r" b="b"/>
              <a:pathLst>
                <a:path w="4667250" h="9525">
                  <a:moveTo>
                    <a:pt x="0" y="0"/>
                  </a:moveTo>
                  <a:lnTo>
                    <a:pt x="4667250" y="0"/>
                  </a:lnTo>
                </a:path>
              </a:pathLst>
            </a:custGeom>
            <a:noFill/>
            <a:ln w="9525">
              <a:solidFill>
                <a:srgbClr val="E8E0D4"/>
              </a:solidFill>
            </a:ln>
          </p:spPr>
        </p:sp>
        <p:sp>
          <p:nvSpPr>
            <p:cNvPr id="53" name="TextBox 53"/>
            <p:cNvSpPr txBox="1"/>
            <p:nvPr/>
          </p:nvSpPr>
          <p:spPr>
            <a:xfrm>
              <a:off x="6937058" y="5815489"/>
              <a:ext cx="1103519" cy="259080"/>
            </a:xfrm>
            <a:prstGeom prst="rect">
              <a:avLst/>
            </a:prstGeom>
            <a:noFill/>
            <a:ln>
              <a:noFill/>
            </a:ln>
          </p:spPr>
          <p:txBody>
            <a:bodyPr wrap="none" lIns="0" tIns="0" rIns="0" bIns="0" anchor="t" anchorCtr="0">
              <a:spAutoFit/>
            </a:bodyPr>
            <a:lstStyle/>
            <a:p>
              <a:pPr algn="l"/>
              <a:r>
                <a:rPr lang="zh-CN" sz="1275" b="1" dirty="0">
                  <a:solidFill>
                    <a:srgbClr val="8B6DB0"/>
                  </a:solidFill>
                  <a:latin typeface="Arial"/>
                  <a:ea typeface="Microsoft YaHei"/>
                  <a:cs typeface="Arial"/>
                </a:rPr>
                <a:t>累计解释方差</a:t>
              </a:r>
            </a:p>
          </p:txBody>
        </p:sp>
        <p:sp>
          <p:nvSpPr>
            <p:cNvPr id="54" name="TextBox 54"/>
            <p:cNvSpPr txBox="1"/>
            <p:nvPr/>
          </p:nvSpPr>
          <p:spPr>
            <a:xfrm>
              <a:off x="10124194" y="5775008"/>
              <a:ext cx="850511" cy="335280"/>
            </a:xfrm>
            <a:prstGeom prst="rect">
              <a:avLst/>
            </a:prstGeom>
            <a:noFill/>
            <a:ln>
              <a:noFill/>
            </a:ln>
          </p:spPr>
          <p:txBody>
            <a:bodyPr wrap="none" lIns="0" tIns="0" rIns="0" bIns="0" anchor="t" anchorCtr="0">
              <a:spAutoFit/>
            </a:bodyPr>
            <a:lstStyle/>
            <a:p>
              <a:pPr algn="r"/>
              <a:r>
                <a:rPr lang="zh-CN" sz="1650" b="1" dirty="0">
                  <a:solidFill>
                    <a:srgbClr val="8B6DB0"/>
                  </a:solidFill>
                  <a:latin typeface="Consolas"/>
                  <a:ea typeface="Microsoft YaHei"/>
                  <a:cs typeface="Consolas"/>
                </a:rPr>
                <a:t>98.35%</a:t>
              </a:r>
            </a:p>
          </p:txBody>
        </p:sp>
      </p:grpSp>
      <p:grpSp>
        <p:nvGrpSpPr>
          <p:cNvPr id="58" name="Group 58"/>
          <p:cNvGrpSpPr/>
          <p:nvPr/>
        </p:nvGrpSpPr>
        <p:grpSpPr>
          <a:xfrm>
            <a:off x="561022" y="6483191"/>
            <a:ext cx="11069955" cy="167640"/>
            <a:chOff x="561022" y="6483191"/>
            <a:chExt cx="11069955" cy="167640"/>
          </a:xfrm>
        </p:grpSpPr>
        <p:sp>
          <p:nvSpPr>
            <p:cNvPr id="56" name="TextBox 56"/>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57" name="TextBox 57"/>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07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400"/>
                                        <p:tgtEl>
                                          <p:spTgt spid="2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400"/>
                                        <p:tgtEl>
                                          <p:spTgt spid="2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image">
                                      <p:cBhvr>
                                        <p:cTn id="15"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9" grpId="0"/>
      <p:bldP spid="5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5777484" cy="808197"/>
            <a:chOff x="539115" y="387191"/>
            <a:chExt cx="5777484"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08</a:t>
              </a:r>
            </a:p>
          </p:txBody>
        </p:sp>
        <p:sp>
          <p:nvSpPr>
            <p:cNvPr id="4" name="Rectangle 4"/>
            <p:cNvSpPr/>
            <p:nvPr/>
          </p:nvSpPr>
          <p:spPr>
            <a:xfrm>
              <a:off x="571500" y="619125"/>
              <a:ext cx="476250" cy="28575"/>
            </a:xfrm>
            <a:prstGeom prst="roundRect">
              <a:avLst>
                <a:gd name="adj" fmla="val 50000"/>
              </a:avLst>
            </a:prstGeom>
            <a:solidFill>
              <a:srgbClr val="C07040"/>
            </a:solidFill>
            <a:ln>
              <a:noFill/>
            </a:ln>
          </p:spPr>
        </p:sp>
        <p:sp>
          <p:nvSpPr>
            <p:cNvPr id="5" name="TextBox 5"/>
            <p:cNvSpPr txBox="1"/>
            <p:nvPr/>
          </p:nvSpPr>
          <p:spPr>
            <a:xfrm>
              <a:off x="539115" y="677228"/>
              <a:ext cx="5777484"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尝试多种课内模型，用结果选择方案</a:t>
              </a:r>
            </a:p>
          </p:txBody>
        </p:sp>
      </p:grpSp>
      <p:sp>
        <p:nvSpPr>
          <p:cNvPr id="7" name="TextBox 7"/>
          <p:cNvSpPr txBox="1"/>
          <p:nvPr/>
        </p:nvSpPr>
        <p:spPr>
          <a:xfrm>
            <a:off x="554355" y="1235392"/>
            <a:ext cx="4354830" cy="274320"/>
          </a:xfrm>
          <a:prstGeom prst="rect">
            <a:avLst/>
          </a:prstGeom>
          <a:noFill/>
          <a:ln>
            <a:noFill/>
          </a:ln>
        </p:spPr>
        <p:txBody>
          <a:bodyPr wrap="none" lIns="0" tIns="0" rIns="0" bIns="0" anchor="t" anchorCtr="0">
            <a:spAutoFit/>
          </a:bodyPr>
          <a:lstStyle/>
          <a:p>
            <a:pPr algn="l"/>
            <a:r>
              <a:rPr lang="zh-CN" sz="1350" dirty="0">
                <a:solidFill>
                  <a:srgbClr val="8C8578"/>
                </a:solidFill>
                <a:latin typeface="Arial"/>
                <a:ea typeface="Microsoft YaHei"/>
                <a:cs typeface="Arial"/>
              </a:rPr>
              <a:t>把光谱估计作为回归问题，尝试课程中涉及的模型路线</a:t>
            </a:r>
          </a:p>
        </p:txBody>
      </p:sp>
      <p:grpSp>
        <p:nvGrpSpPr>
          <p:cNvPr id="45" name="Group 45"/>
          <p:cNvGrpSpPr/>
          <p:nvPr/>
        </p:nvGrpSpPr>
        <p:grpSpPr>
          <a:xfrm>
            <a:off x="571500" y="1714500"/>
            <a:ext cx="11239500" cy="2667000"/>
            <a:chOff x="571500" y="1714500"/>
            <a:chExt cx="11239500" cy="2667000"/>
          </a:xfrm>
        </p:grpSpPr>
        <p:sp>
          <p:nvSpPr>
            <p:cNvPr id="8" name="Rectangle 8"/>
            <p:cNvSpPr/>
            <p:nvPr/>
          </p:nvSpPr>
          <p:spPr>
            <a:xfrm>
              <a:off x="571500" y="1714500"/>
              <a:ext cx="2095500" cy="2667000"/>
            </a:xfrm>
            <a:prstGeom prst="roundRect">
              <a:avLst>
                <a:gd name="adj" fmla="val 5455"/>
              </a:avLst>
            </a:prstGeom>
            <a:solidFill>
              <a:srgbClr val="FFF8EE"/>
            </a:solidFill>
            <a:ln>
              <a:noFill/>
            </a:ln>
          </p:spPr>
        </p:sp>
        <p:sp>
          <p:nvSpPr>
            <p:cNvPr id="9" name="Rectangle 9"/>
            <p:cNvSpPr/>
            <p:nvPr/>
          </p:nvSpPr>
          <p:spPr>
            <a:xfrm>
              <a:off x="571500" y="1714500"/>
              <a:ext cx="2095500" cy="38100"/>
            </a:xfrm>
            <a:prstGeom prst="roundRect">
              <a:avLst>
                <a:gd name="adj" fmla="val 50000"/>
              </a:avLst>
            </a:prstGeom>
            <a:solidFill>
              <a:srgbClr val="C07040"/>
            </a:solidFill>
            <a:ln>
              <a:noFill/>
            </a:ln>
          </p:spPr>
        </p:sp>
        <p:sp>
          <p:nvSpPr>
            <p:cNvPr id="10" name="TextBox 10"/>
            <p:cNvSpPr txBox="1"/>
            <p:nvPr/>
          </p:nvSpPr>
          <p:spPr>
            <a:xfrm>
              <a:off x="789303" y="1949768"/>
              <a:ext cx="1659893" cy="274320"/>
            </a:xfrm>
            <a:prstGeom prst="rect">
              <a:avLst/>
            </a:prstGeom>
            <a:noFill/>
            <a:ln>
              <a:noFill/>
            </a:ln>
          </p:spPr>
          <p:txBody>
            <a:bodyPr wrap="none" lIns="0" tIns="0" rIns="0" bIns="0" anchor="t" anchorCtr="0">
              <a:spAutoFit/>
            </a:bodyPr>
            <a:lstStyle/>
            <a:p>
              <a:pPr algn="ctr"/>
              <a:r>
                <a:rPr lang="zh-CN" sz="1350" b="1" dirty="0">
                  <a:solidFill>
                    <a:srgbClr val="C07040"/>
                  </a:solidFill>
                  <a:latin typeface="Arial"/>
                  <a:ea typeface="Microsoft YaHei"/>
                  <a:cs typeface="Arial"/>
                </a:rPr>
                <a:t>Linear Regression</a:t>
              </a:r>
            </a:p>
          </p:txBody>
        </p:sp>
        <p:sp>
          <p:nvSpPr>
            <p:cNvPr id="11" name="TextBox 11"/>
            <p:cNvSpPr txBox="1"/>
            <p:nvPr/>
          </p:nvSpPr>
          <p:spPr>
            <a:xfrm>
              <a:off x="1185862" y="2267902"/>
              <a:ext cx="866775" cy="213360"/>
            </a:xfrm>
            <a:prstGeom prst="rect">
              <a:avLst/>
            </a:prstGeom>
            <a:noFill/>
            <a:ln>
              <a:noFill/>
            </a:ln>
          </p:spPr>
          <p:txBody>
            <a:bodyPr wrap="none" lIns="0" tIns="0" rIns="0" bIns="0" anchor="t" anchorCtr="0">
              <a:spAutoFit/>
            </a:bodyPr>
            <a:lstStyle/>
            <a:p>
              <a:pPr algn="ctr"/>
              <a:r>
                <a:rPr lang="zh-CN" sz="1050" dirty="0">
                  <a:solidFill>
                    <a:srgbClr val="8C8578"/>
                  </a:solidFill>
                  <a:latin typeface="Arial"/>
                  <a:ea typeface="Microsoft YaHei"/>
                  <a:cs typeface="Arial"/>
                </a:rPr>
                <a:t>线性基准模型</a:t>
              </a:r>
            </a:p>
          </p:txBody>
        </p:sp>
        <p:sp>
          <p:nvSpPr>
            <p:cNvPr id="12" name="Line 12"/>
            <p:cNvSpPr/>
            <p:nvPr/>
          </p:nvSpPr>
          <p:spPr>
            <a:xfrm>
              <a:off x="762000" y="2571750"/>
              <a:ext cx="1714500" cy="9525"/>
            </a:xfrm>
            <a:custGeom>
              <a:avLst/>
              <a:gdLst/>
              <a:ahLst/>
              <a:cxnLst/>
              <a:rect l="l" t="t" r="r" b="b"/>
              <a:pathLst>
                <a:path w="1714500" h="9525">
                  <a:moveTo>
                    <a:pt x="0" y="0"/>
                  </a:moveTo>
                  <a:lnTo>
                    <a:pt x="1714500" y="0"/>
                  </a:lnTo>
                </a:path>
              </a:pathLst>
            </a:custGeom>
            <a:noFill/>
            <a:ln w="9525">
              <a:solidFill>
                <a:srgbClr val="E8E0D4"/>
              </a:solidFill>
            </a:ln>
          </p:spPr>
        </p:sp>
        <p:sp>
          <p:nvSpPr>
            <p:cNvPr id="13" name="TextBox 13"/>
            <p:cNvSpPr txBox="1"/>
            <p:nvPr/>
          </p:nvSpPr>
          <p:spPr>
            <a:xfrm>
              <a:off x="747712" y="2736056"/>
              <a:ext cx="1828800"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观察问题是否接近线性关系</a:t>
              </a:r>
            </a:p>
          </p:txBody>
        </p:sp>
        <p:sp>
          <p:nvSpPr>
            <p:cNvPr id="14" name="TextBox 14"/>
            <p:cNvSpPr txBox="1"/>
            <p:nvPr/>
          </p:nvSpPr>
          <p:spPr>
            <a:xfrm>
              <a:off x="747712" y="3021806"/>
              <a:ext cx="1228725"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最简单的回归模型</a:t>
              </a:r>
            </a:p>
          </p:txBody>
        </p:sp>
        <p:sp>
          <p:nvSpPr>
            <p:cNvPr id="15" name="TextBox 15"/>
            <p:cNvSpPr txBox="1"/>
            <p:nvPr/>
          </p:nvSpPr>
          <p:spPr>
            <a:xfrm>
              <a:off x="748665" y="3315652"/>
              <a:ext cx="866775" cy="213360"/>
            </a:xfrm>
            <a:prstGeom prst="rect">
              <a:avLst/>
            </a:prstGeom>
            <a:noFill/>
            <a:ln>
              <a:noFill/>
            </a:ln>
          </p:spPr>
          <p:txBody>
            <a:bodyPr wrap="none" lIns="0" tIns="0" rIns="0" bIns="0" anchor="t" anchorCtr="0">
              <a:spAutoFit/>
            </a:bodyPr>
            <a:lstStyle/>
            <a:p>
              <a:pPr algn="l"/>
              <a:r>
                <a:rPr lang="zh-CN" sz="1050" dirty="0">
                  <a:solidFill>
                    <a:srgbClr val="C07040"/>
                  </a:solidFill>
                  <a:latin typeface="Arial"/>
                  <a:ea typeface="Microsoft YaHei"/>
                  <a:cs typeface="Arial"/>
                </a:rPr>
                <a:t>误差明显较大</a:t>
              </a:r>
            </a:p>
          </p:txBody>
        </p:sp>
        <p:sp>
          <p:nvSpPr>
            <p:cNvPr id="16" name="Rectangle 16"/>
            <p:cNvSpPr/>
            <p:nvPr/>
          </p:nvSpPr>
          <p:spPr>
            <a:xfrm>
              <a:off x="2857500" y="1714500"/>
              <a:ext cx="2095500" cy="2667000"/>
            </a:xfrm>
            <a:prstGeom prst="roundRect">
              <a:avLst>
                <a:gd name="adj" fmla="val 5455"/>
              </a:avLst>
            </a:prstGeom>
            <a:solidFill>
              <a:srgbClr val="FFF8EE"/>
            </a:solidFill>
            <a:ln>
              <a:noFill/>
            </a:ln>
          </p:spPr>
        </p:sp>
        <p:sp>
          <p:nvSpPr>
            <p:cNvPr id="17" name="Rectangle 17"/>
            <p:cNvSpPr/>
            <p:nvPr/>
          </p:nvSpPr>
          <p:spPr>
            <a:xfrm>
              <a:off x="2857500" y="1714500"/>
              <a:ext cx="2095500" cy="38100"/>
            </a:xfrm>
            <a:prstGeom prst="roundRect">
              <a:avLst>
                <a:gd name="adj" fmla="val 50000"/>
              </a:avLst>
            </a:prstGeom>
            <a:solidFill>
              <a:srgbClr val="C07040"/>
            </a:solidFill>
            <a:ln>
              <a:noFill/>
            </a:ln>
          </p:spPr>
        </p:sp>
        <p:sp>
          <p:nvSpPr>
            <p:cNvPr id="18" name="TextBox 18"/>
            <p:cNvSpPr txBox="1"/>
            <p:nvPr/>
          </p:nvSpPr>
          <p:spPr>
            <a:xfrm>
              <a:off x="3732161" y="1949768"/>
              <a:ext cx="346179" cy="274320"/>
            </a:xfrm>
            <a:prstGeom prst="rect">
              <a:avLst/>
            </a:prstGeom>
            <a:noFill/>
            <a:ln>
              <a:noFill/>
            </a:ln>
          </p:spPr>
          <p:txBody>
            <a:bodyPr wrap="none" lIns="0" tIns="0" rIns="0" bIns="0" anchor="t" anchorCtr="0">
              <a:spAutoFit/>
            </a:bodyPr>
            <a:lstStyle/>
            <a:p>
              <a:pPr algn="ctr"/>
              <a:r>
                <a:rPr lang="zh-CN" sz="1350" b="1" dirty="0">
                  <a:solidFill>
                    <a:srgbClr val="C07040"/>
                  </a:solidFill>
                  <a:latin typeface="Arial"/>
                  <a:ea typeface="Microsoft YaHei"/>
                  <a:cs typeface="Arial"/>
                </a:rPr>
                <a:t>KNN</a:t>
              </a:r>
            </a:p>
          </p:txBody>
        </p:sp>
        <p:sp>
          <p:nvSpPr>
            <p:cNvPr id="19" name="TextBox 19"/>
            <p:cNvSpPr txBox="1"/>
            <p:nvPr/>
          </p:nvSpPr>
          <p:spPr>
            <a:xfrm>
              <a:off x="3552373" y="2267902"/>
              <a:ext cx="705755" cy="213360"/>
            </a:xfrm>
            <a:prstGeom prst="rect">
              <a:avLst/>
            </a:prstGeom>
            <a:noFill/>
            <a:ln>
              <a:noFill/>
            </a:ln>
          </p:spPr>
          <p:txBody>
            <a:bodyPr wrap="none" lIns="0" tIns="0" rIns="0" bIns="0" anchor="t" anchorCtr="0">
              <a:spAutoFit/>
            </a:bodyPr>
            <a:lstStyle/>
            <a:p>
              <a:pPr algn="ctr"/>
              <a:r>
                <a:rPr lang="zh-CN" sz="1050" dirty="0">
                  <a:solidFill>
                    <a:srgbClr val="8C8578"/>
                  </a:solidFill>
                  <a:latin typeface="Arial"/>
                  <a:ea typeface="Microsoft YaHei"/>
                  <a:cs typeface="Arial"/>
                </a:rPr>
                <a:t>K 近邻回归</a:t>
              </a:r>
            </a:p>
          </p:txBody>
        </p:sp>
        <p:sp>
          <p:nvSpPr>
            <p:cNvPr id="20" name="Line 20"/>
            <p:cNvSpPr/>
            <p:nvPr/>
          </p:nvSpPr>
          <p:spPr>
            <a:xfrm>
              <a:off x="3048000" y="2571750"/>
              <a:ext cx="1714500" cy="9525"/>
            </a:xfrm>
            <a:custGeom>
              <a:avLst/>
              <a:gdLst/>
              <a:ahLst/>
              <a:cxnLst/>
              <a:rect l="l" t="t" r="r" b="b"/>
              <a:pathLst>
                <a:path w="1714500" h="9525">
                  <a:moveTo>
                    <a:pt x="0" y="0"/>
                  </a:moveTo>
                  <a:lnTo>
                    <a:pt x="1714500" y="0"/>
                  </a:lnTo>
                </a:path>
              </a:pathLst>
            </a:custGeom>
            <a:noFill/>
            <a:ln w="9525">
              <a:solidFill>
                <a:srgbClr val="E8E0D4"/>
              </a:solidFill>
            </a:ln>
          </p:spPr>
        </p:sp>
        <p:sp>
          <p:nvSpPr>
            <p:cNvPr id="21" name="TextBox 21"/>
            <p:cNvSpPr txBox="1"/>
            <p:nvPr/>
          </p:nvSpPr>
          <p:spPr>
            <a:xfrm>
              <a:off x="3033712" y="2736056"/>
              <a:ext cx="1528762"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基于邻域的非参数模型</a:t>
              </a:r>
            </a:p>
          </p:txBody>
        </p:sp>
        <p:sp>
          <p:nvSpPr>
            <p:cNvPr id="22" name="TextBox 22"/>
            <p:cNvSpPr txBox="1"/>
            <p:nvPr/>
          </p:nvSpPr>
          <p:spPr>
            <a:xfrm>
              <a:off x="3033712" y="3021806"/>
              <a:ext cx="1701284"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MAE 略低但 RMSE 不占优</a:t>
              </a:r>
            </a:p>
          </p:txBody>
        </p:sp>
        <p:sp>
          <p:nvSpPr>
            <p:cNvPr id="23" name="Rectangle 23"/>
            <p:cNvSpPr/>
            <p:nvPr/>
          </p:nvSpPr>
          <p:spPr>
            <a:xfrm>
              <a:off x="5143500" y="1714500"/>
              <a:ext cx="2095500" cy="2667000"/>
            </a:xfrm>
            <a:prstGeom prst="roundRect">
              <a:avLst>
                <a:gd name="adj" fmla="val 5455"/>
              </a:avLst>
            </a:prstGeom>
            <a:solidFill>
              <a:srgbClr val="FFF8EE"/>
            </a:solidFill>
            <a:ln>
              <a:noFill/>
            </a:ln>
          </p:spPr>
        </p:sp>
        <p:sp>
          <p:nvSpPr>
            <p:cNvPr id="24" name="Rectangle 24"/>
            <p:cNvSpPr/>
            <p:nvPr/>
          </p:nvSpPr>
          <p:spPr>
            <a:xfrm>
              <a:off x="5143500" y="1714500"/>
              <a:ext cx="2095500" cy="38100"/>
            </a:xfrm>
            <a:prstGeom prst="roundRect">
              <a:avLst>
                <a:gd name="adj" fmla="val 50000"/>
              </a:avLst>
            </a:prstGeom>
            <a:solidFill>
              <a:srgbClr val="C07040"/>
            </a:solidFill>
            <a:ln>
              <a:noFill/>
            </a:ln>
          </p:spPr>
        </p:sp>
        <p:sp>
          <p:nvSpPr>
            <p:cNvPr id="25" name="TextBox 25"/>
            <p:cNvSpPr txBox="1"/>
            <p:nvPr/>
          </p:nvSpPr>
          <p:spPr>
            <a:xfrm>
              <a:off x="5569229" y="1949768"/>
              <a:ext cx="1244041" cy="274320"/>
            </a:xfrm>
            <a:prstGeom prst="rect">
              <a:avLst/>
            </a:prstGeom>
            <a:noFill/>
            <a:ln>
              <a:noFill/>
            </a:ln>
          </p:spPr>
          <p:txBody>
            <a:bodyPr wrap="none" lIns="0" tIns="0" rIns="0" bIns="0" anchor="t" anchorCtr="0">
              <a:spAutoFit/>
            </a:bodyPr>
            <a:lstStyle/>
            <a:p>
              <a:pPr algn="ctr"/>
              <a:r>
                <a:rPr lang="zh-CN" sz="1350" b="1" dirty="0">
                  <a:solidFill>
                    <a:srgbClr val="C07040"/>
                  </a:solidFill>
                  <a:latin typeface="Arial"/>
                  <a:ea typeface="Microsoft YaHei"/>
                  <a:cs typeface="Arial"/>
                </a:rPr>
                <a:t>Decision Tree</a:t>
              </a:r>
            </a:p>
          </p:txBody>
        </p:sp>
        <p:sp>
          <p:nvSpPr>
            <p:cNvPr id="26" name="TextBox 26"/>
            <p:cNvSpPr txBox="1"/>
            <p:nvPr/>
          </p:nvSpPr>
          <p:spPr>
            <a:xfrm>
              <a:off x="5827871" y="2267902"/>
              <a:ext cx="726758" cy="213360"/>
            </a:xfrm>
            <a:prstGeom prst="rect">
              <a:avLst/>
            </a:prstGeom>
            <a:noFill/>
            <a:ln>
              <a:noFill/>
            </a:ln>
          </p:spPr>
          <p:txBody>
            <a:bodyPr wrap="none" lIns="0" tIns="0" rIns="0" bIns="0" anchor="t" anchorCtr="0">
              <a:spAutoFit/>
            </a:bodyPr>
            <a:lstStyle/>
            <a:p>
              <a:pPr algn="ctr"/>
              <a:r>
                <a:rPr lang="zh-CN" sz="1050" dirty="0">
                  <a:solidFill>
                    <a:srgbClr val="8C8578"/>
                  </a:solidFill>
                  <a:latin typeface="Arial"/>
                  <a:ea typeface="Microsoft YaHei"/>
                  <a:cs typeface="Arial"/>
                </a:rPr>
                <a:t>决策树回归</a:t>
              </a:r>
            </a:p>
          </p:txBody>
        </p:sp>
        <p:sp>
          <p:nvSpPr>
            <p:cNvPr id="27" name="Line 27"/>
            <p:cNvSpPr/>
            <p:nvPr/>
          </p:nvSpPr>
          <p:spPr>
            <a:xfrm>
              <a:off x="5334000" y="2571750"/>
              <a:ext cx="1714500" cy="9525"/>
            </a:xfrm>
            <a:custGeom>
              <a:avLst/>
              <a:gdLst/>
              <a:ahLst/>
              <a:cxnLst/>
              <a:rect l="l" t="t" r="r" b="b"/>
              <a:pathLst>
                <a:path w="1714500" h="9525">
                  <a:moveTo>
                    <a:pt x="0" y="0"/>
                  </a:moveTo>
                  <a:lnTo>
                    <a:pt x="1714500" y="0"/>
                  </a:lnTo>
                </a:path>
              </a:pathLst>
            </a:custGeom>
            <a:noFill/>
            <a:ln w="9525">
              <a:solidFill>
                <a:srgbClr val="E8E0D4"/>
              </a:solidFill>
            </a:ln>
          </p:spPr>
        </p:sp>
        <p:sp>
          <p:nvSpPr>
            <p:cNvPr id="28" name="TextBox 28"/>
            <p:cNvSpPr txBox="1"/>
            <p:nvPr/>
          </p:nvSpPr>
          <p:spPr>
            <a:xfrm>
              <a:off x="5319712" y="2736056"/>
              <a:ext cx="1528762"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单棵决策树，中间对比</a:t>
              </a:r>
            </a:p>
          </p:txBody>
        </p:sp>
        <p:sp>
          <p:nvSpPr>
            <p:cNvPr id="29" name="TextBox 29"/>
            <p:cNvSpPr txBox="1"/>
            <p:nvPr/>
          </p:nvSpPr>
          <p:spPr>
            <a:xfrm>
              <a:off x="5319712" y="3021806"/>
              <a:ext cx="1378744"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稳定性不如集成模型</a:t>
              </a:r>
            </a:p>
          </p:txBody>
        </p:sp>
        <p:sp>
          <p:nvSpPr>
            <p:cNvPr id="30" name="Rectangle 30"/>
            <p:cNvSpPr/>
            <p:nvPr/>
          </p:nvSpPr>
          <p:spPr>
            <a:xfrm>
              <a:off x="7429500" y="1714500"/>
              <a:ext cx="2095500" cy="2667000"/>
            </a:xfrm>
            <a:prstGeom prst="roundRect">
              <a:avLst>
                <a:gd name="adj" fmla="val 5455"/>
              </a:avLst>
            </a:prstGeom>
            <a:solidFill>
              <a:srgbClr val="C07040">
                <a:alpha val="8000"/>
              </a:srgbClr>
            </a:solidFill>
            <a:ln>
              <a:noFill/>
            </a:ln>
          </p:spPr>
        </p:sp>
        <p:sp>
          <p:nvSpPr>
            <p:cNvPr id="31" name="Rectangle 31"/>
            <p:cNvSpPr/>
            <p:nvPr/>
          </p:nvSpPr>
          <p:spPr>
            <a:xfrm>
              <a:off x="7429500" y="1714500"/>
              <a:ext cx="2095500" cy="38100"/>
            </a:xfrm>
            <a:prstGeom prst="roundRect">
              <a:avLst>
                <a:gd name="adj" fmla="val 50000"/>
              </a:avLst>
            </a:prstGeom>
            <a:solidFill>
              <a:srgbClr val="C07040"/>
            </a:solidFill>
            <a:ln>
              <a:noFill/>
            </a:ln>
          </p:spPr>
        </p:sp>
        <p:sp>
          <p:nvSpPr>
            <p:cNvPr id="32" name="TextBox 32"/>
            <p:cNvSpPr txBox="1"/>
            <p:nvPr/>
          </p:nvSpPr>
          <p:spPr>
            <a:xfrm>
              <a:off x="7789071" y="1949768"/>
              <a:ext cx="1376358" cy="274320"/>
            </a:xfrm>
            <a:prstGeom prst="rect">
              <a:avLst/>
            </a:prstGeom>
            <a:noFill/>
            <a:ln>
              <a:noFill/>
            </a:ln>
          </p:spPr>
          <p:txBody>
            <a:bodyPr wrap="none" lIns="0" tIns="0" rIns="0" bIns="0" anchor="t" anchorCtr="0">
              <a:spAutoFit/>
            </a:bodyPr>
            <a:lstStyle/>
            <a:p>
              <a:pPr algn="ctr"/>
              <a:r>
                <a:rPr lang="zh-CN" sz="1350" b="1" dirty="0">
                  <a:solidFill>
                    <a:srgbClr val="C07040"/>
                  </a:solidFill>
                  <a:latin typeface="Arial"/>
                  <a:ea typeface="Microsoft YaHei"/>
                  <a:cs typeface="Arial"/>
                </a:rPr>
                <a:t>Random Forest</a:t>
              </a:r>
            </a:p>
          </p:txBody>
        </p:sp>
        <p:sp>
          <p:nvSpPr>
            <p:cNvPr id="33" name="TextBox 33"/>
            <p:cNvSpPr txBox="1"/>
            <p:nvPr/>
          </p:nvSpPr>
          <p:spPr>
            <a:xfrm>
              <a:off x="8043862" y="2267902"/>
              <a:ext cx="866775" cy="213360"/>
            </a:xfrm>
            <a:prstGeom prst="rect">
              <a:avLst/>
            </a:prstGeom>
            <a:noFill/>
            <a:ln>
              <a:noFill/>
            </a:ln>
          </p:spPr>
          <p:txBody>
            <a:bodyPr wrap="none" lIns="0" tIns="0" rIns="0" bIns="0" anchor="t" anchorCtr="0">
              <a:spAutoFit/>
            </a:bodyPr>
            <a:lstStyle/>
            <a:p>
              <a:pPr algn="ctr"/>
              <a:r>
                <a:rPr lang="zh-CN" sz="1050" dirty="0">
                  <a:solidFill>
                    <a:srgbClr val="8C8578"/>
                  </a:solidFill>
                  <a:latin typeface="Arial"/>
                  <a:ea typeface="Microsoft YaHei"/>
                  <a:cs typeface="Arial"/>
                </a:rPr>
                <a:t>随机森林回归</a:t>
              </a:r>
            </a:p>
          </p:txBody>
        </p:sp>
        <p:sp>
          <p:nvSpPr>
            <p:cNvPr id="34" name="Line 34"/>
            <p:cNvSpPr/>
            <p:nvPr/>
          </p:nvSpPr>
          <p:spPr>
            <a:xfrm>
              <a:off x="7620000" y="2571750"/>
              <a:ext cx="1714500" cy="9525"/>
            </a:xfrm>
            <a:custGeom>
              <a:avLst/>
              <a:gdLst/>
              <a:ahLst/>
              <a:cxnLst/>
              <a:rect l="l" t="t" r="r" b="b"/>
              <a:pathLst>
                <a:path w="1714500" h="9525">
                  <a:moveTo>
                    <a:pt x="0" y="0"/>
                  </a:moveTo>
                  <a:lnTo>
                    <a:pt x="1714500" y="0"/>
                  </a:lnTo>
                </a:path>
              </a:pathLst>
            </a:custGeom>
            <a:noFill/>
            <a:ln w="9525">
              <a:solidFill>
                <a:srgbClr val="E8E0D4"/>
              </a:solidFill>
            </a:ln>
          </p:spPr>
        </p:sp>
        <p:sp>
          <p:nvSpPr>
            <p:cNvPr id="35" name="TextBox 35"/>
            <p:cNvSpPr txBox="1"/>
            <p:nvPr/>
          </p:nvSpPr>
          <p:spPr>
            <a:xfrm>
              <a:off x="7605712" y="2736056"/>
              <a:ext cx="928688"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集成学习模型</a:t>
              </a:r>
            </a:p>
          </p:txBody>
        </p:sp>
        <p:sp>
          <p:nvSpPr>
            <p:cNvPr id="36" name="TextBox 36"/>
            <p:cNvSpPr txBox="1"/>
            <p:nvPr/>
          </p:nvSpPr>
          <p:spPr>
            <a:xfrm>
              <a:off x="7605712" y="3021806"/>
              <a:ext cx="1678781"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关注稳定性和非线性拟合</a:t>
              </a:r>
            </a:p>
          </p:txBody>
        </p:sp>
        <p:sp>
          <p:nvSpPr>
            <p:cNvPr id="37" name="TextBox 37"/>
            <p:cNvSpPr txBox="1"/>
            <p:nvPr/>
          </p:nvSpPr>
          <p:spPr>
            <a:xfrm>
              <a:off x="7606665" y="3315652"/>
              <a:ext cx="739709" cy="213360"/>
            </a:xfrm>
            <a:prstGeom prst="rect">
              <a:avLst/>
            </a:prstGeom>
            <a:noFill/>
            <a:ln>
              <a:noFill/>
            </a:ln>
          </p:spPr>
          <p:txBody>
            <a:bodyPr wrap="none" lIns="0" tIns="0" rIns="0" bIns="0" anchor="t" anchorCtr="0">
              <a:spAutoFit/>
            </a:bodyPr>
            <a:lstStyle/>
            <a:p>
              <a:pPr algn="l"/>
              <a:r>
                <a:rPr lang="zh-CN" sz="1050" b="1" dirty="0">
                  <a:solidFill>
                    <a:srgbClr val="C07040"/>
                  </a:solidFill>
                  <a:latin typeface="Arial"/>
                  <a:ea typeface="Microsoft YaHei"/>
                  <a:cs typeface="Arial"/>
                </a:rPr>
                <a:t>最终选择 ✓</a:t>
              </a:r>
            </a:p>
          </p:txBody>
        </p:sp>
        <p:sp>
          <p:nvSpPr>
            <p:cNvPr id="38" name="Rectangle 38"/>
            <p:cNvSpPr/>
            <p:nvPr/>
          </p:nvSpPr>
          <p:spPr>
            <a:xfrm>
              <a:off x="9715500" y="1714500"/>
              <a:ext cx="2095500" cy="2667000"/>
            </a:xfrm>
            <a:prstGeom prst="roundRect">
              <a:avLst>
                <a:gd name="adj" fmla="val 5455"/>
              </a:avLst>
            </a:prstGeom>
            <a:solidFill>
              <a:srgbClr val="FFF8EE"/>
            </a:solidFill>
            <a:ln>
              <a:noFill/>
            </a:ln>
          </p:spPr>
        </p:sp>
        <p:sp>
          <p:nvSpPr>
            <p:cNvPr id="39" name="Rectangle 39"/>
            <p:cNvSpPr/>
            <p:nvPr/>
          </p:nvSpPr>
          <p:spPr>
            <a:xfrm>
              <a:off x="9715500" y="1714500"/>
              <a:ext cx="2095500" cy="38100"/>
            </a:xfrm>
            <a:prstGeom prst="roundRect">
              <a:avLst>
                <a:gd name="adj" fmla="val 50000"/>
              </a:avLst>
            </a:prstGeom>
            <a:solidFill>
              <a:srgbClr val="C07040"/>
            </a:solidFill>
            <a:ln>
              <a:noFill/>
            </a:ln>
          </p:spPr>
        </p:sp>
        <p:sp>
          <p:nvSpPr>
            <p:cNvPr id="40" name="TextBox 40"/>
            <p:cNvSpPr txBox="1"/>
            <p:nvPr/>
          </p:nvSpPr>
          <p:spPr>
            <a:xfrm>
              <a:off x="10571258" y="1949768"/>
              <a:ext cx="383984" cy="274320"/>
            </a:xfrm>
            <a:prstGeom prst="rect">
              <a:avLst/>
            </a:prstGeom>
            <a:noFill/>
            <a:ln>
              <a:noFill/>
            </a:ln>
          </p:spPr>
          <p:txBody>
            <a:bodyPr wrap="none" lIns="0" tIns="0" rIns="0" bIns="0" anchor="t" anchorCtr="0">
              <a:spAutoFit/>
            </a:bodyPr>
            <a:lstStyle/>
            <a:p>
              <a:pPr algn="ctr"/>
              <a:r>
                <a:rPr lang="zh-CN" sz="1350" b="1" dirty="0">
                  <a:solidFill>
                    <a:srgbClr val="C07040"/>
                  </a:solidFill>
                  <a:latin typeface="Arial"/>
                  <a:ea typeface="Microsoft YaHei"/>
                  <a:cs typeface="Arial"/>
                </a:rPr>
                <a:t>MLP</a:t>
              </a:r>
            </a:p>
          </p:txBody>
        </p:sp>
        <p:sp>
          <p:nvSpPr>
            <p:cNvPr id="41" name="TextBox 41"/>
            <p:cNvSpPr txBox="1"/>
            <p:nvPr/>
          </p:nvSpPr>
          <p:spPr>
            <a:xfrm>
              <a:off x="10329862" y="2267902"/>
              <a:ext cx="866775" cy="213360"/>
            </a:xfrm>
            <a:prstGeom prst="rect">
              <a:avLst/>
            </a:prstGeom>
            <a:noFill/>
            <a:ln>
              <a:noFill/>
            </a:ln>
          </p:spPr>
          <p:txBody>
            <a:bodyPr wrap="none" lIns="0" tIns="0" rIns="0" bIns="0" anchor="t" anchorCtr="0">
              <a:spAutoFit/>
            </a:bodyPr>
            <a:lstStyle/>
            <a:p>
              <a:pPr algn="ctr"/>
              <a:r>
                <a:rPr lang="zh-CN" sz="1050" dirty="0">
                  <a:solidFill>
                    <a:srgbClr val="8C8578"/>
                  </a:solidFill>
                  <a:latin typeface="Arial"/>
                  <a:ea typeface="Microsoft YaHei"/>
                  <a:cs typeface="Arial"/>
                </a:rPr>
                <a:t>神经网络回归</a:t>
              </a:r>
            </a:p>
          </p:txBody>
        </p:sp>
        <p:sp>
          <p:nvSpPr>
            <p:cNvPr id="42" name="Line 42"/>
            <p:cNvSpPr/>
            <p:nvPr/>
          </p:nvSpPr>
          <p:spPr>
            <a:xfrm>
              <a:off x="9906000" y="2571750"/>
              <a:ext cx="1714500" cy="9525"/>
            </a:xfrm>
            <a:custGeom>
              <a:avLst/>
              <a:gdLst/>
              <a:ahLst/>
              <a:cxnLst/>
              <a:rect l="l" t="t" r="r" b="b"/>
              <a:pathLst>
                <a:path w="1714500" h="9525">
                  <a:moveTo>
                    <a:pt x="0" y="0"/>
                  </a:moveTo>
                  <a:lnTo>
                    <a:pt x="1714500" y="0"/>
                  </a:lnTo>
                </a:path>
              </a:pathLst>
            </a:custGeom>
            <a:noFill/>
            <a:ln w="9525">
              <a:solidFill>
                <a:srgbClr val="E8E0D4"/>
              </a:solidFill>
            </a:ln>
          </p:spPr>
        </p:sp>
        <p:sp>
          <p:nvSpPr>
            <p:cNvPr id="43" name="TextBox 43"/>
            <p:cNvSpPr txBox="1"/>
            <p:nvPr/>
          </p:nvSpPr>
          <p:spPr>
            <a:xfrm>
              <a:off x="9891712" y="2736056"/>
              <a:ext cx="1378744"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更复杂的非线性模型</a:t>
              </a:r>
            </a:p>
          </p:txBody>
        </p:sp>
        <p:sp>
          <p:nvSpPr>
            <p:cNvPr id="44" name="TextBox 44"/>
            <p:cNvSpPr txBox="1"/>
            <p:nvPr/>
          </p:nvSpPr>
          <p:spPr>
            <a:xfrm>
              <a:off x="9891712" y="3021806"/>
              <a:ext cx="1438751"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R² 略高但 RMSE 更大</a:t>
              </a:r>
            </a:p>
          </p:txBody>
        </p:sp>
      </p:grpSp>
      <p:sp>
        <p:nvSpPr>
          <p:cNvPr id="46" name="Rectangle 46"/>
          <p:cNvSpPr/>
          <p:nvPr/>
        </p:nvSpPr>
        <p:spPr>
          <a:xfrm>
            <a:off x="571500" y="4667250"/>
            <a:ext cx="11049000" cy="762000"/>
          </a:xfrm>
          <a:prstGeom prst="roundRect">
            <a:avLst>
              <a:gd name="adj" fmla="val 12500"/>
            </a:avLst>
          </a:prstGeom>
          <a:solidFill>
            <a:srgbClr val="FFF8EE"/>
          </a:solidFill>
          <a:ln>
            <a:noFill/>
          </a:ln>
        </p:spPr>
      </p:sp>
      <p:sp>
        <p:nvSpPr>
          <p:cNvPr id="47" name="TextBox 47"/>
          <p:cNvSpPr txBox="1"/>
          <p:nvPr/>
        </p:nvSpPr>
        <p:spPr>
          <a:xfrm>
            <a:off x="745808" y="4862989"/>
            <a:ext cx="7215783" cy="259080"/>
          </a:xfrm>
          <a:prstGeom prst="rect">
            <a:avLst/>
          </a:prstGeom>
          <a:noFill/>
          <a:ln>
            <a:noFill/>
          </a:ln>
        </p:spPr>
        <p:txBody>
          <a:bodyPr wrap="none" lIns="0" tIns="0" rIns="0" bIns="0" anchor="t" anchorCtr="0">
            <a:spAutoFit/>
          </a:bodyPr>
          <a:lstStyle/>
          <a:p>
            <a:pPr algn="l"/>
            <a:r>
              <a:rPr lang="zh-CN" sz="1275" dirty="0">
                <a:solidFill>
                  <a:srgbClr val="2D2A26"/>
                </a:solidFill>
                <a:latin typeface="Arial"/>
                <a:ea typeface="Microsoft YaHei"/>
                <a:cs typeface="Arial"/>
              </a:rPr>
              <a:t>所有模型使用相同的数据划分、相同输入特征和相同 PCA 输出目标，最后用统一指标比较效果。</a:t>
            </a:r>
          </a:p>
        </p:txBody>
      </p:sp>
      <p:sp>
        <p:nvSpPr>
          <p:cNvPr id="48" name="TextBox 48"/>
          <p:cNvSpPr txBox="1"/>
          <p:nvPr/>
        </p:nvSpPr>
        <p:spPr>
          <a:xfrm>
            <a:off x="746760" y="5156835"/>
            <a:ext cx="3886562" cy="243840"/>
          </a:xfrm>
          <a:prstGeom prst="rect">
            <a:avLst/>
          </a:prstGeom>
          <a:noFill/>
          <a:ln>
            <a:noFill/>
          </a:ln>
        </p:spPr>
        <p:txBody>
          <a:bodyPr wrap="none" lIns="0" tIns="0" rIns="0" bIns="0" anchor="t" anchorCtr="0">
            <a:spAutoFit/>
          </a:bodyPr>
          <a:lstStyle/>
          <a:p>
            <a:pPr algn="l"/>
            <a:r>
              <a:rPr lang="zh-CN" sz="1200" b="1" dirty="0">
                <a:solidFill>
                  <a:srgbClr val="C07040"/>
                </a:solidFill>
                <a:latin typeface="Arial"/>
                <a:ea typeface="Microsoft YaHei"/>
                <a:cs typeface="Arial"/>
              </a:rPr>
              <a:t>评价维度：MAE / RMSE / R² / 训练时间 / 推理时间</a:t>
            </a:r>
          </a:p>
        </p:txBody>
      </p:sp>
      <p:grpSp>
        <p:nvGrpSpPr>
          <p:cNvPr id="51" name="Group 51"/>
          <p:cNvGrpSpPr/>
          <p:nvPr/>
        </p:nvGrpSpPr>
        <p:grpSpPr>
          <a:xfrm>
            <a:off x="561022" y="6483191"/>
            <a:ext cx="11069955" cy="167640"/>
            <a:chOff x="561022" y="6483191"/>
            <a:chExt cx="11069955" cy="167640"/>
          </a:xfrm>
        </p:grpSpPr>
        <p:sp>
          <p:nvSpPr>
            <p:cNvPr id="49" name="TextBox 49"/>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50" name="TextBox 50"/>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08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4349306" cy="808197"/>
            <a:chOff x="539115" y="387191"/>
            <a:chExt cx="4349306"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09</a:t>
              </a:r>
            </a:p>
          </p:txBody>
        </p:sp>
        <p:sp>
          <p:nvSpPr>
            <p:cNvPr id="4" name="Rectangle 4"/>
            <p:cNvSpPr/>
            <p:nvPr/>
          </p:nvSpPr>
          <p:spPr>
            <a:xfrm>
              <a:off x="571500" y="619125"/>
              <a:ext cx="476250" cy="28575"/>
            </a:xfrm>
            <a:prstGeom prst="roundRect">
              <a:avLst>
                <a:gd name="adj" fmla="val 50000"/>
              </a:avLst>
            </a:prstGeom>
            <a:solidFill>
              <a:srgbClr val="C07040"/>
            </a:solidFill>
            <a:ln>
              <a:noFill/>
            </a:ln>
          </p:spPr>
        </p:sp>
        <p:sp>
          <p:nvSpPr>
            <p:cNvPr id="5" name="TextBox 5"/>
            <p:cNvSpPr txBox="1"/>
            <p:nvPr/>
          </p:nvSpPr>
          <p:spPr>
            <a:xfrm>
              <a:off x="539115" y="677228"/>
              <a:ext cx="4349306"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五个模型在同一数据上评价</a:t>
              </a:r>
            </a:p>
          </p:txBody>
        </p:sp>
      </p:grpSp>
      <p:grpSp>
        <p:nvGrpSpPr>
          <p:cNvPr id="48" name="Group 48"/>
          <p:cNvGrpSpPr/>
          <p:nvPr/>
        </p:nvGrpSpPr>
        <p:grpSpPr>
          <a:xfrm>
            <a:off x="571500" y="1238250"/>
            <a:ext cx="11049000" cy="2095500"/>
            <a:chOff x="571500" y="1238250"/>
            <a:chExt cx="11049000" cy="2095500"/>
          </a:xfrm>
        </p:grpSpPr>
        <p:sp>
          <p:nvSpPr>
            <p:cNvPr id="7" name="Rectangle 7"/>
            <p:cNvSpPr/>
            <p:nvPr/>
          </p:nvSpPr>
          <p:spPr>
            <a:xfrm>
              <a:off x="571500" y="1238250"/>
              <a:ext cx="11049000" cy="1905000"/>
            </a:xfrm>
            <a:prstGeom prst="roundRect">
              <a:avLst>
                <a:gd name="adj" fmla="val 6000"/>
              </a:avLst>
            </a:prstGeom>
            <a:solidFill>
              <a:srgbClr val="FFF8EE"/>
            </a:solidFill>
            <a:ln>
              <a:noFill/>
            </a:ln>
          </p:spPr>
        </p:sp>
        <p:sp>
          <p:nvSpPr>
            <p:cNvPr id="8" name="Rectangle 8"/>
            <p:cNvSpPr/>
            <p:nvPr/>
          </p:nvSpPr>
          <p:spPr>
            <a:xfrm>
              <a:off x="571500" y="1238250"/>
              <a:ext cx="11049000" cy="381000"/>
            </a:xfrm>
            <a:prstGeom prst="roundRect">
              <a:avLst>
                <a:gd name="adj" fmla="val 30000"/>
              </a:avLst>
            </a:prstGeom>
            <a:solidFill>
              <a:srgbClr val="C07040">
                <a:alpha val="10000"/>
              </a:srgbClr>
            </a:solidFill>
            <a:ln>
              <a:noFill/>
            </a:ln>
          </p:spPr>
        </p:sp>
        <p:sp>
          <p:nvSpPr>
            <p:cNvPr id="9" name="TextBox 9"/>
            <p:cNvSpPr txBox="1"/>
            <p:nvPr/>
          </p:nvSpPr>
          <p:spPr>
            <a:xfrm>
              <a:off x="1554147" y="1363028"/>
              <a:ext cx="320707" cy="213360"/>
            </a:xfrm>
            <a:prstGeom prst="rect">
              <a:avLst/>
            </a:prstGeom>
            <a:noFill/>
            <a:ln>
              <a:noFill/>
            </a:ln>
          </p:spPr>
          <p:txBody>
            <a:bodyPr wrap="none" lIns="0" tIns="0" rIns="0" bIns="0" anchor="t" anchorCtr="0">
              <a:spAutoFit/>
            </a:bodyPr>
            <a:lstStyle/>
            <a:p>
              <a:pPr algn="ctr"/>
              <a:r>
                <a:rPr lang="zh-CN" sz="1050" b="1" dirty="0">
                  <a:solidFill>
                    <a:srgbClr val="C07040"/>
                  </a:solidFill>
                  <a:latin typeface="Arial"/>
                  <a:ea typeface="Microsoft YaHei"/>
                  <a:cs typeface="Arial"/>
                </a:rPr>
                <a:t>模型</a:t>
              </a:r>
            </a:p>
          </p:txBody>
        </p:sp>
        <p:sp>
          <p:nvSpPr>
            <p:cNvPr id="10" name="TextBox 10"/>
            <p:cNvSpPr txBox="1"/>
            <p:nvPr/>
          </p:nvSpPr>
          <p:spPr>
            <a:xfrm>
              <a:off x="3660673" y="1363028"/>
              <a:ext cx="298654" cy="213360"/>
            </a:xfrm>
            <a:prstGeom prst="rect">
              <a:avLst/>
            </a:prstGeom>
            <a:noFill/>
            <a:ln>
              <a:noFill/>
            </a:ln>
          </p:spPr>
          <p:txBody>
            <a:bodyPr wrap="none" lIns="0" tIns="0" rIns="0" bIns="0" anchor="t" anchorCtr="0">
              <a:spAutoFit/>
            </a:bodyPr>
            <a:lstStyle/>
            <a:p>
              <a:pPr algn="ctr"/>
              <a:r>
                <a:rPr lang="zh-CN" sz="1050" b="1" dirty="0">
                  <a:solidFill>
                    <a:srgbClr val="C07040"/>
                  </a:solidFill>
                  <a:latin typeface="Arial"/>
                  <a:ea typeface="Microsoft YaHei"/>
                  <a:cs typeface="Arial"/>
                </a:rPr>
                <a:t>MAE</a:t>
              </a:r>
            </a:p>
          </p:txBody>
        </p:sp>
        <p:sp>
          <p:nvSpPr>
            <p:cNvPr id="11" name="TextBox 11"/>
            <p:cNvSpPr txBox="1"/>
            <p:nvPr/>
          </p:nvSpPr>
          <p:spPr>
            <a:xfrm>
              <a:off x="5144243" y="1363028"/>
              <a:ext cx="379514" cy="213360"/>
            </a:xfrm>
            <a:prstGeom prst="rect">
              <a:avLst/>
            </a:prstGeom>
            <a:noFill/>
            <a:ln>
              <a:noFill/>
            </a:ln>
          </p:spPr>
          <p:txBody>
            <a:bodyPr wrap="none" lIns="0" tIns="0" rIns="0" bIns="0" anchor="t" anchorCtr="0">
              <a:spAutoFit/>
            </a:bodyPr>
            <a:lstStyle/>
            <a:p>
              <a:pPr algn="ctr"/>
              <a:r>
                <a:rPr lang="zh-CN" sz="1050" b="1" dirty="0">
                  <a:solidFill>
                    <a:srgbClr val="C07040"/>
                  </a:solidFill>
                  <a:latin typeface="Arial"/>
                  <a:ea typeface="Microsoft YaHei"/>
                  <a:cs typeface="Arial"/>
                </a:rPr>
                <a:t>RMSE</a:t>
              </a:r>
            </a:p>
          </p:txBody>
        </p:sp>
        <p:sp>
          <p:nvSpPr>
            <p:cNvPr id="12" name="TextBox 12"/>
            <p:cNvSpPr txBox="1"/>
            <p:nvPr/>
          </p:nvSpPr>
          <p:spPr>
            <a:xfrm>
              <a:off x="6763805" y="1363028"/>
              <a:ext cx="188390" cy="213360"/>
            </a:xfrm>
            <a:prstGeom prst="rect">
              <a:avLst/>
            </a:prstGeom>
            <a:noFill/>
            <a:ln>
              <a:noFill/>
            </a:ln>
          </p:spPr>
          <p:txBody>
            <a:bodyPr wrap="none" lIns="0" tIns="0" rIns="0" bIns="0" anchor="t" anchorCtr="0">
              <a:spAutoFit/>
            </a:bodyPr>
            <a:lstStyle/>
            <a:p>
              <a:pPr algn="ctr"/>
              <a:r>
                <a:rPr lang="zh-CN" sz="1050" b="1" dirty="0">
                  <a:solidFill>
                    <a:srgbClr val="C07040"/>
                  </a:solidFill>
                  <a:latin typeface="Arial"/>
                  <a:ea typeface="Microsoft YaHei"/>
                  <a:cs typeface="Arial"/>
                </a:rPr>
                <a:t>R²</a:t>
              </a:r>
            </a:p>
          </p:txBody>
        </p:sp>
        <p:sp>
          <p:nvSpPr>
            <p:cNvPr id="13" name="TextBox 13"/>
            <p:cNvSpPr txBox="1"/>
            <p:nvPr/>
          </p:nvSpPr>
          <p:spPr>
            <a:xfrm>
              <a:off x="8140787" y="1363028"/>
              <a:ext cx="482427" cy="213360"/>
            </a:xfrm>
            <a:prstGeom prst="rect">
              <a:avLst/>
            </a:prstGeom>
            <a:noFill/>
            <a:ln>
              <a:noFill/>
            </a:ln>
          </p:spPr>
          <p:txBody>
            <a:bodyPr wrap="none" lIns="0" tIns="0" rIns="0" bIns="0" anchor="t" anchorCtr="0">
              <a:spAutoFit/>
            </a:bodyPr>
            <a:lstStyle/>
            <a:p>
              <a:pPr algn="ctr"/>
              <a:r>
                <a:rPr lang="zh-CN" sz="1050" b="1" dirty="0">
                  <a:solidFill>
                    <a:srgbClr val="C07040"/>
                  </a:solidFill>
                  <a:latin typeface="Arial"/>
                  <a:ea typeface="Microsoft YaHei"/>
                  <a:cs typeface="Arial"/>
                </a:rPr>
                <a:t>训练/s</a:t>
              </a:r>
            </a:p>
          </p:txBody>
        </p:sp>
        <p:sp>
          <p:nvSpPr>
            <p:cNvPr id="14" name="TextBox 14"/>
            <p:cNvSpPr txBox="1"/>
            <p:nvPr/>
          </p:nvSpPr>
          <p:spPr>
            <a:xfrm>
              <a:off x="9664787" y="1363028"/>
              <a:ext cx="482427" cy="213360"/>
            </a:xfrm>
            <a:prstGeom prst="rect">
              <a:avLst/>
            </a:prstGeom>
            <a:noFill/>
            <a:ln>
              <a:noFill/>
            </a:ln>
          </p:spPr>
          <p:txBody>
            <a:bodyPr wrap="none" lIns="0" tIns="0" rIns="0" bIns="0" anchor="t" anchorCtr="0">
              <a:spAutoFit/>
            </a:bodyPr>
            <a:lstStyle/>
            <a:p>
              <a:pPr algn="ctr"/>
              <a:r>
                <a:rPr lang="zh-CN" sz="1050" b="1" dirty="0">
                  <a:solidFill>
                    <a:srgbClr val="C07040"/>
                  </a:solidFill>
                  <a:latin typeface="Arial"/>
                  <a:ea typeface="Microsoft YaHei"/>
                  <a:cs typeface="Arial"/>
                </a:rPr>
                <a:t>预测/s</a:t>
              </a:r>
            </a:p>
          </p:txBody>
        </p:sp>
        <p:sp>
          <p:nvSpPr>
            <p:cNvPr id="15" name="Rectangle 15"/>
            <p:cNvSpPr/>
            <p:nvPr/>
          </p:nvSpPr>
          <p:spPr>
            <a:xfrm>
              <a:off x="571500" y="1666875"/>
              <a:ext cx="11049000" cy="333375"/>
            </a:xfrm>
            <a:prstGeom prst="rect">
              <a:avLst/>
            </a:prstGeom>
            <a:solidFill>
              <a:srgbClr val="C07040">
                <a:alpha val="6000"/>
              </a:srgbClr>
            </a:solidFill>
            <a:ln>
              <a:noFill/>
            </a:ln>
          </p:spPr>
        </p:sp>
        <p:sp>
          <p:nvSpPr>
            <p:cNvPr id="16" name="TextBox 16"/>
            <p:cNvSpPr txBox="1"/>
            <p:nvPr/>
          </p:nvSpPr>
          <p:spPr>
            <a:xfrm>
              <a:off x="1141018" y="1764506"/>
              <a:ext cx="1146965" cy="228600"/>
            </a:xfrm>
            <a:prstGeom prst="rect">
              <a:avLst/>
            </a:prstGeom>
            <a:noFill/>
            <a:ln>
              <a:noFill/>
            </a:ln>
          </p:spPr>
          <p:txBody>
            <a:bodyPr wrap="none" lIns="0" tIns="0" rIns="0" bIns="0" anchor="t" anchorCtr="0">
              <a:spAutoFit/>
            </a:bodyPr>
            <a:lstStyle/>
            <a:p>
              <a:pPr algn="ctr"/>
              <a:r>
                <a:rPr lang="zh-CN" sz="1125" b="1" dirty="0">
                  <a:solidFill>
                    <a:srgbClr val="C07040"/>
                  </a:solidFill>
                  <a:latin typeface="Arial"/>
                  <a:ea typeface="Microsoft YaHei"/>
                  <a:cs typeface="Arial"/>
                </a:rPr>
                <a:t>Random Forest</a:t>
              </a:r>
            </a:p>
          </p:txBody>
        </p:sp>
        <p:sp>
          <p:nvSpPr>
            <p:cNvPr id="17" name="TextBox 17"/>
            <p:cNvSpPr txBox="1"/>
            <p:nvPr/>
          </p:nvSpPr>
          <p:spPr>
            <a:xfrm>
              <a:off x="3548182" y="1764506"/>
              <a:ext cx="523637"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0.0051</a:t>
              </a:r>
            </a:p>
          </p:txBody>
        </p:sp>
        <p:sp>
          <p:nvSpPr>
            <p:cNvPr id="18" name="TextBox 18"/>
            <p:cNvSpPr txBox="1"/>
            <p:nvPr/>
          </p:nvSpPr>
          <p:spPr>
            <a:xfrm>
              <a:off x="5059805" y="1764506"/>
              <a:ext cx="548390" cy="228600"/>
            </a:xfrm>
            <a:prstGeom prst="rect">
              <a:avLst/>
            </a:prstGeom>
            <a:noFill/>
            <a:ln>
              <a:noFill/>
            </a:ln>
          </p:spPr>
          <p:txBody>
            <a:bodyPr wrap="none" lIns="0" tIns="0" rIns="0" bIns="0" anchor="t" anchorCtr="0">
              <a:spAutoFit/>
            </a:bodyPr>
            <a:lstStyle/>
            <a:p>
              <a:pPr algn="ctr"/>
              <a:r>
                <a:rPr lang="zh-CN" sz="1125" b="1" dirty="0">
                  <a:solidFill>
                    <a:srgbClr val="C07040"/>
                  </a:solidFill>
                  <a:latin typeface="Consolas"/>
                  <a:ea typeface="Microsoft YaHei"/>
                  <a:cs typeface="Consolas"/>
                </a:rPr>
                <a:t>0.0086</a:t>
              </a:r>
            </a:p>
          </p:txBody>
        </p:sp>
        <p:sp>
          <p:nvSpPr>
            <p:cNvPr id="19" name="TextBox 19"/>
            <p:cNvSpPr txBox="1"/>
            <p:nvPr/>
          </p:nvSpPr>
          <p:spPr>
            <a:xfrm>
              <a:off x="6637437" y="1764506"/>
              <a:ext cx="441127"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0.959</a:t>
              </a:r>
            </a:p>
          </p:txBody>
        </p:sp>
        <p:sp>
          <p:nvSpPr>
            <p:cNvPr id="20" name="TextBox 20"/>
            <p:cNvSpPr txBox="1"/>
            <p:nvPr/>
          </p:nvSpPr>
          <p:spPr>
            <a:xfrm>
              <a:off x="8202692" y="1764506"/>
              <a:ext cx="35861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0.94</a:t>
              </a:r>
            </a:p>
          </p:txBody>
        </p:sp>
        <p:sp>
          <p:nvSpPr>
            <p:cNvPr id="21" name="TextBox 21"/>
            <p:cNvSpPr txBox="1"/>
            <p:nvPr/>
          </p:nvSpPr>
          <p:spPr>
            <a:xfrm>
              <a:off x="9726692" y="1764506"/>
              <a:ext cx="35861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0.22</a:t>
              </a:r>
            </a:p>
          </p:txBody>
        </p:sp>
        <p:sp>
          <p:nvSpPr>
            <p:cNvPr id="22" name="TextBox 22"/>
            <p:cNvSpPr txBox="1"/>
            <p:nvPr/>
          </p:nvSpPr>
          <p:spPr>
            <a:xfrm>
              <a:off x="1576447" y="2097881"/>
              <a:ext cx="27610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Arial"/>
                  <a:ea typeface="Microsoft YaHei"/>
                  <a:cs typeface="Arial"/>
                </a:rPr>
                <a:t>KNN</a:t>
              </a:r>
            </a:p>
          </p:txBody>
        </p:sp>
        <p:sp>
          <p:nvSpPr>
            <p:cNvPr id="23" name="TextBox 23"/>
            <p:cNvSpPr txBox="1"/>
            <p:nvPr/>
          </p:nvSpPr>
          <p:spPr>
            <a:xfrm>
              <a:off x="3548182" y="2097881"/>
              <a:ext cx="523637"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0.0050</a:t>
              </a:r>
            </a:p>
          </p:txBody>
        </p:sp>
        <p:sp>
          <p:nvSpPr>
            <p:cNvPr id="24" name="TextBox 24"/>
            <p:cNvSpPr txBox="1"/>
            <p:nvPr/>
          </p:nvSpPr>
          <p:spPr>
            <a:xfrm>
              <a:off x="5072182" y="2097881"/>
              <a:ext cx="523637"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0.0090</a:t>
              </a:r>
            </a:p>
          </p:txBody>
        </p:sp>
        <p:sp>
          <p:nvSpPr>
            <p:cNvPr id="25" name="TextBox 25"/>
            <p:cNvSpPr txBox="1"/>
            <p:nvPr/>
          </p:nvSpPr>
          <p:spPr>
            <a:xfrm>
              <a:off x="6637437" y="2097881"/>
              <a:ext cx="441127"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0.954</a:t>
              </a:r>
            </a:p>
          </p:txBody>
        </p:sp>
        <p:sp>
          <p:nvSpPr>
            <p:cNvPr id="26" name="TextBox 26"/>
            <p:cNvSpPr txBox="1"/>
            <p:nvPr/>
          </p:nvSpPr>
          <p:spPr>
            <a:xfrm>
              <a:off x="8202692" y="2097881"/>
              <a:ext cx="35861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0.03</a:t>
              </a:r>
            </a:p>
          </p:txBody>
        </p:sp>
        <p:sp>
          <p:nvSpPr>
            <p:cNvPr id="27" name="TextBox 27"/>
            <p:cNvSpPr txBox="1"/>
            <p:nvPr/>
          </p:nvSpPr>
          <p:spPr>
            <a:xfrm>
              <a:off x="9726692" y="2097881"/>
              <a:ext cx="35861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0.14</a:t>
              </a:r>
            </a:p>
          </p:txBody>
        </p:sp>
        <p:sp>
          <p:nvSpPr>
            <p:cNvPr id="28" name="Rectangle 28"/>
            <p:cNvSpPr/>
            <p:nvPr/>
          </p:nvSpPr>
          <p:spPr>
            <a:xfrm>
              <a:off x="571500" y="2333625"/>
              <a:ext cx="11049000" cy="333375"/>
            </a:xfrm>
            <a:prstGeom prst="rect">
              <a:avLst/>
            </a:prstGeom>
            <a:solidFill>
              <a:srgbClr val="C07040">
                <a:alpha val="3000"/>
              </a:srgbClr>
            </a:solidFill>
            <a:ln>
              <a:noFill/>
            </a:ln>
          </p:spPr>
        </p:sp>
        <p:sp>
          <p:nvSpPr>
            <p:cNvPr id="29" name="TextBox 29"/>
            <p:cNvSpPr txBox="1"/>
            <p:nvPr/>
          </p:nvSpPr>
          <p:spPr>
            <a:xfrm>
              <a:off x="1561445" y="2431256"/>
              <a:ext cx="306110"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Arial"/>
                  <a:ea typeface="Microsoft YaHei"/>
                  <a:cs typeface="Arial"/>
                </a:rPr>
                <a:t>MLP</a:t>
              </a:r>
            </a:p>
          </p:txBody>
        </p:sp>
        <p:sp>
          <p:nvSpPr>
            <p:cNvPr id="30" name="TextBox 30"/>
            <p:cNvSpPr txBox="1"/>
            <p:nvPr/>
          </p:nvSpPr>
          <p:spPr>
            <a:xfrm>
              <a:off x="3548182" y="2431256"/>
              <a:ext cx="523637"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0.0058</a:t>
              </a:r>
            </a:p>
          </p:txBody>
        </p:sp>
        <p:sp>
          <p:nvSpPr>
            <p:cNvPr id="31" name="TextBox 31"/>
            <p:cNvSpPr txBox="1"/>
            <p:nvPr/>
          </p:nvSpPr>
          <p:spPr>
            <a:xfrm>
              <a:off x="5072182" y="2431256"/>
              <a:ext cx="523637"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0.0095</a:t>
              </a:r>
            </a:p>
          </p:txBody>
        </p:sp>
        <p:sp>
          <p:nvSpPr>
            <p:cNvPr id="32" name="TextBox 32"/>
            <p:cNvSpPr txBox="1"/>
            <p:nvPr/>
          </p:nvSpPr>
          <p:spPr>
            <a:xfrm>
              <a:off x="6627123" y="2431256"/>
              <a:ext cx="461754" cy="228600"/>
            </a:xfrm>
            <a:prstGeom prst="rect">
              <a:avLst/>
            </a:prstGeom>
            <a:noFill/>
            <a:ln>
              <a:noFill/>
            </a:ln>
          </p:spPr>
          <p:txBody>
            <a:bodyPr wrap="none" lIns="0" tIns="0" rIns="0" bIns="0" anchor="t" anchorCtr="0">
              <a:spAutoFit/>
            </a:bodyPr>
            <a:lstStyle/>
            <a:p>
              <a:pPr algn="ctr"/>
              <a:r>
                <a:rPr lang="zh-CN" sz="1125" b="1" dirty="0">
                  <a:solidFill>
                    <a:srgbClr val="C07040"/>
                  </a:solidFill>
                  <a:latin typeface="Consolas"/>
                  <a:ea typeface="Microsoft YaHei"/>
                  <a:cs typeface="Consolas"/>
                </a:rPr>
                <a:t>0.962</a:t>
              </a:r>
            </a:p>
          </p:txBody>
        </p:sp>
        <p:sp>
          <p:nvSpPr>
            <p:cNvPr id="33" name="TextBox 33"/>
            <p:cNvSpPr txBox="1"/>
            <p:nvPr/>
          </p:nvSpPr>
          <p:spPr>
            <a:xfrm>
              <a:off x="8202692" y="2431256"/>
              <a:ext cx="35861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1.87</a:t>
              </a:r>
            </a:p>
          </p:txBody>
        </p:sp>
        <p:sp>
          <p:nvSpPr>
            <p:cNvPr id="34" name="TextBox 34"/>
            <p:cNvSpPr txBox="1"/>
            <p:nvPr/>
          </p:nvSpPr>
          <p:spPr>
            <a:xfrm>
              <a:off x="9726692" y="2431256"/>
              <a:ext cx="35861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0.01</a:t>
              </a:r>
            </a:p>
          </p:txBody>
        </p:sp>
        <p:sp>
          <p:nvSpPr>
            <p:cNvPr id="35" name="TextBox 35"/>
            <p:cNvSpPr txBox="1"/>
            <p:nvPr/>
          </p:nvSpPr>
          <p:spPr>
            <a:xfrm>
              <a:off x="1220152" y="2764631"/>
              <a:ext cx="988695"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Arial"/>
                  <a:ea typeface="Microsoft YaHei"/>
                  <a:cs typeface="Arial"/>
                </a:rPr>
                <a:t>Decision Tree</a:t>
              </a:r>
            </a:p>
          </p:txBody>
        </p:sp>
        <p:sp>
          <p:nvSpPr>
            <p:cNvPr id="36" name="TextBox 36"/>
            <p:cNvSpPr txBox="1"/>
            <p:nvPr/>
          </p:nvSpPr>
          <p:spPr>
            <a:xfrm>
              <a:off x="3548182" y="2764631"/>
              <a:ext cx="523637"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0.0054</a:t>
              </a:r>
            </a:p>
          </p:txBody>
        </p:sp>
        <p:sp>
          <p:nvSpPr>
            <p:cNvPr id="37" name="TextBox 37"/>
            <p:cNvSpPr txBox="1"/>
            <p:nvPr/>
          </p:nvSpPr>
          <p:spPr>
            <a:xfrm>
              <a:off x="5072182" y="2764631"/>
              <a:ext cx="523637"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0.0124</a:t>
              </a:r>
            </a:p>
          </p:txBody>
        </p:sp>
        <p:sp>
          <p:nvSpPr>
            <p:cNvPr id="38" name="TextBox 38"/>
            <p:cNvSpPr txBox="1"/>
            <p:nvPr/>
          </p:nvSpPr>
          <p:spPr>
            <a:xfrm>
              <a:off x="6637437" y="2764631"/>
              <a:ext cx="441127"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0.870</a:t>
              </a:r>
            </a:p>
          </p:txBody>
        </p:sp>
        <p:sp>
          <p:nvSpPr>
            <p:cNvPr id="39" name="TextBox 39"/>
            <p:cNvSpPr txBox="1"/>
            <p:nvPr/>
          </p:nvSpPr>
          <p:spPr>
            <a:xfrm>
              <a:off x="8202692" y="2764631"/>
              <a:ext cx="35861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0.03</a:t>
              </a:r>
            </a:p>
          </p:txBody>
        </p:sp>
        <p:sp>
          <p:nvSpPr>
            <p:cNvPr id="40" name="TextBox 40"/>
            <p:cNvSpPr txBox="1"/>
            <p:nvPr/>
          </p:nvSpPr>
          <p:spPr>
            <a:xfrm>
              <a:off x="9726692" y="2764631"/>
              <a:ext cx="35861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0.00</a:t>
              </a:r>
            </a:p>
          </p:txBody>
        </p:sp>
        <p:sp>
          <p:nvSpPr>
            <p:cNvPr id="41" name="Rectangle 41"/>
            <p:cNvSpPr/>
            <p:nvPr/>
          </p:nvSpPr>
          <p:spPr>
            <a:xfrm>
              <a:off x="571500" y="3000375"/>
              <a:ext cx="11049000" cy="333375"/>
            </a:xfrm>
            <a:prstGeom prst="rect">
              <a:avLst/>
            </a:prstGeom>
            <a:solidFill>
              <a:srgbClr val="C07040">
                <a:alpha val="3000"/>
              </a:srgbClr>
            </a:solidFill>
            <a:ln>
              <a:noFill/>
            </a:ln>
          </p:spPr>
        </p:sp>
        <p:sp>
          <p:nvSpPr>
            <p:cNvPr id="42" name="TextBox 42"/>
            <p:cNvSpPr txBox="1"/>
            <p:nvPr/>
          </p:nvSpPr>
          <p:spPr>
            <a:xfrm>
              <a:off x="1055132" y="3098006"/>
              <a:ext cx="131873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Arial"/>
                  <a:ea typeface="Microsoft YaHei"/>
                  <a:cs typeface="Arial"/>
                </a:rPr>
                <a:t>Linear Regression</a:t>
              </a:r>
            </a:p>
          </p:txBody>
        </p:sp>
        <p:sp>
          <p:nvSpPr>
            <p:cNvPr id="43" name="TextBox 43"/>
            <p:cNvSpPr txBox="1"/>
            <p:nvPr/>
          </p:nvSpPr>
          <p:spPr>
            <a:xfrm>
              <a:off x="3548182" y="3098006"/>
              <a:ext cx="523637"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0.0225</a:t>
              </a:r>
            </a:p>
          </p:txBody>
        </p:sp>
        <p:sp>
          <p:nvSpPr>
            <p:cNvPr id="44" name="TextBox 44"/>
            <p:cNvSpPr txBox="1"/>
            <p:nvPr/>
          </p:nvSpPr>
          <p:spPr>
            <a:xfrm>
              <a:off x="5072182" y="3098006"/>
              <a:ext cx="523637" cy="228600"/>
            </a:xfrm>
            <a:prstGeom prst="rect">
              <a:avLst/>
            </a:prstGeom>
            <a:noFill/>
            <a:ln>
              <a:noFill/>
            </a:ln>
          </p:spPr>
          <p:txBody>
            <a:bodyPr wrap="none" lIns="0" tIns="0" rIns="0" bIns="0" anchor="t" anchorCtr="0">
              <a:spAutoFit/>
            </a:bodyPr>
            <a:lstStyle/>
            <a:p>
              <a:pPr algn="ctr"/>
              <a:r>
                <a:rPr lang="zh-CN" sz="1125" dirty="0">
                  <a:solidFill>
                    <a:srgbClr val="E06B5E"/>
                  </a:solidFill>
                  <a:latin typeface="Consolas"/>
                  <a:ea typeface="Microsoft YaHei"/>
                  <a:cs typeface="Consolas"/>
                </a:rPr>
                <a:t>0.0376</a:t>
              </a:r>
            </a:p>
          </p:txBody>
        </p:sp>
        <p:sp>
          <p:nvSpPr>
            <p:cNvPr id="45" name="TextBox 45"/>
            <p:cNvSpPr txBox="1"/>
            <p:nvPr/>
          </p:nvSpPr>
          <p:spPr>
            <a:xfrm>
              <a:off x="6637437" y="3098006"/>
              <a:ext cx="441127" cy="228600"/>
            </a:xfrm>
            <a:prstGeom prst="rect">
              <a:avLst/>
            </a:prstGeom>
            <a:noFill/>
            <a:ln>
              <a:noFill/>
            </a:ln>
          </p:spPr>
          <p:txBody>
            <a:bodyPr wrap="none" lIns="0" tIns="0" rIns="0" bIns="0" anchor="t" anchorCtr="0">
              <a:spAutoFit/>
            </a:bodyPr>
            <a:lstStyle/>
            <a:p>
              <a:pPr algn="ctr"/>
              <a:r>
                <a:rPr lang="zh-CN" sz="1125" dirty="0">
                  <a:solidFill>
                    <a:srgbClr val="E06B5E"/>
                  </a:solidFill>
                  <a:latin typeface="Consolas"/>
                  <a:ea typeface="Microsoft YaHei"/>
                  <a:cs typeface="Consolas"/>
                </a:rPr>
                <a:t>0.635</a:t>
              </a:r>
            </a:p>
          </p:txBody>
        </p:sp>
        <p:sp>
          <p:nvSpPr>
            <p:cNvPr id="46" name="TextBox 46"/>
            <p:cNvSpPr txBox="1"/>
            <p:nvPr/>
          </p:nvSpPr>
          <p:spPr>
            <a:xfrm>
              <a:off x="8202692" y="3098006"/>
              <a:ext cx="35861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0.03</a:t>
              </a:r>
            </a:p>
          </p:txBody>
        </p:sp>
        <p:sp>
          <p:nvSpPr>
            <p:cNvPr id="47" name="TextBox 47"/>
            <p:cNvSpPr txBox="1"/>
            <p:nvPr/>
          </p:nvSpPr>
          <p:spPr>
            <a:xfrm>
              <a:off x="9726692" y="3098006"/>
              <a:ext cx="358616" cy="228600"/>
            </a:xfrm>
            <a:prstGeom prst="rect">
              <a:avLst/>
            </a:prstGeom>
            <a:noFill/>
            <a:ln>
              <a:noFill/>
            </a:ln>
          </p:spPr>
          <p:txBody>
            <a:bodyPr wrap="none" lIns="0" tIns="0" rIns="0" bIns="0" anchor="t" anchorCtr="0">
              <a:spAutoFit/>
            </a:bodyPr>
            <a:lstStyle/>
            <a:p>
              <a:pPr algn="ctr"/>
              <a:r>
                <a:rPr lang="zh-CN" sz="1125" dirty="0">
                  <a:solidFill>
                    <a:srgbClr val="2D2A26"/>
                  </a:solidFill>
                  <a:latin typeface="Consolas"/>
                  <a:ea typeface="Microsoft YaHei"/>
                  <a:cs typeface="Consolas"/>
                </a:rPr>
                <a:t>0.01</a:t>
              </a:r>
            </a:p>
          </p:txBody>
        </p:sp>
      </p:grpSp>
      <p:grpSp>
        <p:nvGrpSpPr>
          <p:cNvPr id="51" name="Group 51"/>
          <p:cNvGrpSpPr/>
          <p:nvPr/>
        </p:nvGrpSpPr>
        <p:grpSpPr>
          <a:xfrm>
            <a:off x="571500" y="3333750"/>
            <a:ext cx="11049000" cy="2571750"/>
            <a:chOff x="571500" y="3333750"/>
            <a:chExt cx="11049000" cy="2571750"/>
          </a:xfrm>
        </p:grpSpPr>
        <p:sp>
          <p:nvSpPr>
            <p:cNvPr id="49" name="Rectangle 49"/>
            <p:cNvSpPr/>
            <p:nvPr/>
          </p:nvSpPr>
          <p:spPr>
            <a:xfrm>
              <a:off x="571500" y="3333750"/>
              <a:ext cx="11049000" cy="2571750"/>
            </a:xfrm>
            <a:prstGeom prst="roundRect">
              <a:avLst>
                <a:gd name="adj" fmla="val 4444"/>
              </a:avLst>
            </a:prstGeom>
            <a:solidFill>
              <a:srgbClr val="FFF8EE"/>
            </a:solidFill>
            <a:ln>
              <a:noFill/>
            </a:ln>
          </p:spPr>
        </p:sp>
        <p:pic>
          <p:nvPicPr>
            <p:cNvPr id="50" name="Image 50"/>
            <p:cNvPicPr>
              <a:picLocks noChangeAspect="1"/>
            </p:cNvPicPr>
            <p:nvPr/>
          </p:nvPicPr>
          <p:blipFill>
            <a:blip r:embed="rId2"/>
            <a:stretch>
              <a:fillRect/>
            </a:stretch>
          </p:blipFill>
          <p:spPr>
            <a:xfrm>
              <a:off x="1783292" y="3429000"/>
              <a:ext cx="8625417" cy="2381250"/>
            </a:xfrm>
            <a:prstGeom prst="rect">
              <a:avLst/>
            </a:prstGeom>
          </p:spPr>
        </p:pic>
      </p:grpSp>
      <p:sp>
        <p:nvSpPr>
          <p:cNvPr id="52" name="Rectangle 52"/>
          <p:cNvSpPr/>
          <p:nvPr/>
        </p:nvSpPr>
        <p:spPr>
          <a:xfrm>
            <a:off x="571500" y="6048375"/>
            <a:ext cx="11049000" cy="381000"/>
          </a:xfrm>
          <a:prstGeom prst="roundRect">
            <a:avLst>
              <a:gd name="adj" fmla="val 20000"/>
            </a:avLst>
          </a:prstGeom>
          <a:solidFill>
            <a:srgbClr val="C07040">
              <a:alpha val="8000"/>
            </a:srgbClr>
          </a:solidFill>
          <a:ln>
            <a:noFill/>
          </a:ln>
        </p:spPr>
      </p:sp>
      <p:sp>
        <p:nvSpPr>
          <p:cNvPr id="53" name="TextBox 53"/>
          <p:cNvSpPr txBox="1"/>
          <p:nvPr/>
        </p:nvSpPr>
        <p:spPr>
          <a:xfrm>
            <a:off x="745808" y="6148864"/>
            <a:ext cx="4932822" cy="259080"/>
          </a:xfrm>
          <a:prstGeom prst="rect">
            <a:avLst/>
          </a:prstGeom>
          <a:noFill/>
          <a:ln>
            <a:noFill/>
          </a:ln>
        </p:spPr>
        <p:txBody>
          <a:bodyPr wrap="none" lIns="0" tIns="0" rIns="0" bIns="0" anchor="t" anchorCtr="0">
            <a:spAutoFit/>
          </a:bodyPr>
          <a:lstStyle/>
          <a:p>
            <a:pPr algn="l"/>
            <a:r>
              <a:rPr lang="zh-CN" sz="1275" b="1" dirty="0">
                <a:solidFill>
                  <a:srgbClr val="C07040"/>
                </a:solidFill>
                <a:latin typeface="Arial"/>
                <a:ea typeface="Microsoft YaHei"/>
                <a:cs typeface="Arial"/>
              </a:rPr>
              <a:t>随机森林 RMSE 最低（0.0086），综合稳定性最好 → 最终选择</a:t>
            </a:r>
          </a:p>
        </p:txBody>
      </p:sp>
      <p:grpSp>
        <p:nvGrpSpPr>
          <p:cNvPr id="56" name="Group 56"/>
          <p:cNvGrpSpPr/>
          <p:nvPr/>
        </p:nvGrpSpPr>
        <p:grpSpPr>
          <a:xfrm>
            <a:off x="561022" y="6483191"/>
            <a:ext cx="11069955" cy="167640"/>
            <a:chOff x="561022" y="6483191"/>
            <a:chExt cx="11069955" cy="167640"/>
          </a:xfrm>
        </p:grpSpPr>
        <p:sp>
          <p:nvSpPr>
            <p:cNvPr id="54" name="TextBox 54"/>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55" name="TextBox 55"/>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09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400"/>
                                        <p:tgtEl>
                                          <p:spTgt spid="4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6634391" cy="808197"/>
            <a:chOff x="539115" y="387191"/>
            <a:chExt cx="6634391"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10</a:t>
              </a:r>
            </a:p>
          </p:txBody>
        </p:sp>
        <p:sp>
          <p:nvSpPr>
            <p:cNvPr id="4" name="Rectangle 4"/>
            <p:cNvSpPr/>
            <p:nvPr/>
          </p:nvSpPr>
          <p:spPr>
            <a:xfrm>
              <a:off x="571500" y="619125"/>
              <a:ext cx="476250" cy="28575"/>
            </a:xfrm>
            <a:prstGeom prst="roundRect">
              <a:avLst>
                <a:gd name="adj" fmla="val 50000"/>
              </a:avLst>
            </a:prstGeom>
            <a:solidFill>
              <a:srgbClr val="D4940A"/>
            </a:solidFill>
            <a:ln>
              <a:noFill/>
            </a:ln>
          </p:spPr>
        </p:sp>
        <p:sp>
          <p:nvSpPr>
            <p:cNvPr id="5" name="TextBox 5"/>
            <p:cNvSpPr txBox="1"/>
            <p:nvPr/>
          </p:nvSpPr>
          <p:spPr>
            <a:xfrm>
              <a:off x="539115" y="677228"/>
              <a:ext cx="6634391"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选择 Random Forest：效果与成本更平衡</a:t>
              </a:r>
            </a:p>
          </p:txBody>
        </p:sp>
      </p:grpSp>
      <p:grpSp>
        <p:nvGrpSpPr>
          <p:cNvPr id="23" name="Group 23"/>
          <p:cNvGrpSpPr/>
          <p:nvPr/>
        </p:nvGrpSpPr>
        <p:grpSpPr>
          <a:xfrm>
            <a:off x="571500" y="1238250"/>
            <a:ext cx="5892927" cy="4476750"/>
            <a:chOff x="571500" y="1238250"/>
            <a:chExt cx="5892927" cy="4476750"/>
          </a:xfrm>
        </p:grpSpPr>
        <p:sp>
          <p:nvSpPr>
            <p:cNvPr id="7" name="Rectangle 7"/>
            <p:cNvSpPr/>
            <p:nvPr/>
          </p:nvSpPr>
          <p:spPr>
            <a:xfrm>
              <a:off x="571500" y="1238250"/>
              <a:ext cx="5715000" cy="4476750"/>
            </a:xfrm>
            <a:prstGeom prst="roundRect">
              <a:avLst>
                <a:gd name="adj" fmla="val 2553"/>
              </a:avLst>
            </a:prstGeom>
            <a:solidFill>
              <a:srgbClr val="FFF8EE"/>
            </a:solidFill>
            <a:ln>
              <a:noFill/>
            </a:ln>
          </p:spPr>
        </p:sp>
        <p:sp>
          <p:nvSpPr>
            <p:cNvPr id="8" name="Rectangle 8"/>
            <p:cNvSpPr/>
            <p:nvPr/>
          </p:nvSpPr>
          <p:spPr>
            <a:xfrm>
              <a:off x="762000" y="1476375"/>
              <a:ext cx="5334000" cy="857250"/>
            </a:xfrm>
            <a:prstGeom prst="roundRect">
              <a:avLst>
                <a:gd name="adj" fmla="val 8889"/>
              </a:avLst>
            </a:prstGeom>
            <a:solidFill>
              <a:srgbClr val="FFF8EE"/>
            </a:solidFill>
            <a:ln>
              <a:noFill/>
            </a:ln>
          </p:spPr>
        </p:sp>
        <p:sp>
          <p:nvSpPr>
            <p:cNvPr id="9" name="TextBox 9"/>
            <p:cNvSpPr txBox="1"/>
            <p:nvPr/>
          </p:nvSpPr>
          <p:spPr>
            <a:xfrm>
              <a:off x="935355" y="1616392"/>
              <a:ext cx="1735503" cy="274320"/>
            </a:xfrm>
            <a:prstGeom prst="rect">
              <a:avLst/>
            </a:prstGeom>
            <a:noFill/>
            <a:ln>
              <a:noFill/>
            </a:ln>
          </p:spPr>
          <p:txBody>
            <a:bodyPr wrap="none" lIns="0" tIns="0" rIns="0" bIns="0" anchor="t" anchorCtr="0">
              <a:spAutoFit/>
            </a:bodyPr>
            <a:lstStyle/>
            <a:p>
              <a:pPr algn="l"/>
              <a:r>
                <a:rPr lang="zh-CN" sz="1350" b="1" dirty="0">
                  <a:solidFill>
                    <a:srgbClr val="E06B5E"/>
                  </a:solidFill>
                  <a:latin typeface="Arial"/>
                  <a:ea typeface="Microsoft YaHei"/>
                  <a:cs typeface="Arial"/>
                </a:rPr>
                <a:t>为什么不选线性回归</a:t>
              </a:r>
            </a:p>
          </p:txBody>
        </p:sp>
        <p:sp>
          <p:nvSpPr>
            <p:cNvPr id="10" name="TextBox 10"/>
            <p:cNvSpPr txBox="1"/>
            <p:nvPr/>
          </p:nvSpPr>
          <p:spPr>
            <a:xfrm>
              <a:off x="937260" y="1918335"/>
              <a:ext cx="5511165"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Arial"/>
                  <a:ea typeface="Microsoft YaHei"/>
                  <a:cs typeface="Arial"/>
                </a:rPr>
                <a:t>误差明显较大（RMSE=0.0376），说明环境特征到光谱变化不是简单线性关系</a:t>
              </a:r>
            </a:p>
          </p:txBody>
        </p:sp>
        <p:sp>
          <p:nvSpPr>
            <p:cNvPr id="11" name="Line 11"/>
            <p:cNvSpPr/>
            <p:nvPr/>
          </p:nvSpPr>
          <p:spPr>
            <a:xfrm>
              <a:off x="762000" y="2476500"/>
              <a:ext cx="5143500" cy="9525"/>
            </a:xfrm>
            <a:custGeom>
              <a:avLst/>
              <a:gdLst/>
              <a:ahLst/>
              <a:cxnLst/>
              <a:rect l="l" t="t" r="r" b="b"/>
              <a:pathLst>
                <a:path w="5143500" h="9525">
                  <a:moveTo>
                    <a:pt x="0" y="0"/>
                  </a:moveTo>
                  <a:lnTo>
                    <a:pt x="5143500" y="0"/>
                  </a:lnTo>
                </a:path>
              </a:pathLst>
            </a:custGeom>
            <a:noFill/>
            <a:ln w="9525">
              <a:solidFill>
                <a:srgbClr val="E8E0D4"/>
              </a:solidFill>
            </a:ln>
          </p:spPr>
        </p:sp>
        <p:sp>
          <p:nvSpPr>
            <p:cNvPr id="12" name="Rectangle 12"/>
            <p:cNvSpPr/>
            <p:nvPr/>
          </p:nvSpPr>
          <p:spPr>
            <a:xfrm>
              <a:off x="762000" y="2619375"/>
              <a:ext cx="5334000" cy="857250"/>
            </a:xfrm>
            <a:prstGeom prst="roundRect">
              <a:avLst>
                <a:gd name="adj" fmla="val 8889"/>
              </a:avLst>
            </a:prstGeom>
            <a:solidFill>
              <a:srgbClr val="FFF8EE"/>
            </a:solidFill>
            <a:ln>
              <a:noFill/>
            </a:ln>
          </p:spPr>
        </p:sp>
        <p:sp>
          <p:nvSpPr>
            <p:cNvPr id="13" name="TextBox 13"/>
            <p:cNvSpPr txBox="1"/>
            <p:nvPr/>
          </p:nvSpPr>
          <p:spPr>
            <a:xfrm>
              <a:off x="935355" y="2759392"/>
              <a:ext cx="1385809" cy="274320"/>
            </a:xfrm>
            <a:prstGeom prst="rect">
              <a:avLst/>
            </a:prstGeom>
            <a:noFill/>
            <a:ln>
              <a:noFill/>
            </a:ln>
          </p:spPr>
          <p:txBody>
            <a:bodyPr wrap="none" lIns="0" tIns="0" rIns="0" bIns="0" anchor="t" anchorCtr="0">
              <a:spAutoFit/>
            </a:bodyPr>
            <a:lstStyle/>
            <a:p>
              <a:pPr algn="l"/>
              <a:r>
                <a:rPr lang="zh-CN" sz="1350" b="1" dirty="0">
                  <a:solidFill>
                    <a:srgbClr val="8B6DB0"/>
                  </a:solidFill>
                  <a:latin typeface="Arial"/>
                  <a:ea typeface="Microsoft YaHei"/>
                  <a:cs typeface="Arial"/>
                </a:rPr>
                <a:t>为什么关注 MLP</a:t>
              </a:r>
            </a:p>
          </p:txBody>
        </p:sp>
        <p:sp>
          <p:nvSpPr>
            <p:cNvPr id="14" name="TextBox 14"/>
            <p:cNvSpPr txBox="1"/>
            <p:nvPr/>
          </p:nvSpPr>
          <p:spPr>
            <a:xfrm>
              <a:off x="937260" y="3061335"/>
              <a:ext cx="5527167"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Arial"/>
                  <a:ea typeface="Microsoft YaHei"/>
                  <a:cs typeface="Arial"/>
                </a:rPr>
                <a:t>代表神经网络路线，R² 略高（0.962），但训练成本更高（1.87s vs 0.94s）</a:t>
              </a:r>
            </a:p>
          </p:txBody>
        </p:sp>
        <p:sp>
          <p:nvSpPr>
            <p:cNvPr id="15" name="Line 15"/>
            <p:cNvSpPr/>
            <p:nvPr/>
          </p:nvSpPr>
          <p:spPr>
            <a:xfrm>
              <a:off x="762000" y="3619500"/>
              <a:ext cx="5143500" cy="9525"/>
            </a:xfrm>
            <a:custGeom>
              <a:avLst/>
              <a:gdLst/>
              <a:ahLst/>
              <a:cxnLst/>
              <a:rect l="l" t="t" r="r" b="b"/>
              <a:pathLst>
                <a:path w="5143500" h="9525">
                  <a:moveTo>
                    <a:pt x="0" y="0"/>
                  </a:moveTo>
                  <a:lnTo>
                    <a:pt x="5143500" y="0"/>
                  </a:lnTo>
                </a:path>
              </a:pathLst>
            </a:custGeom>
            <a:noFill/>
            <a:ln w="9525">
              <a:solidFill>
                <a:srgbClr val="E8E0D4"/>
              </a:solidFill>
            </a:ln>
          </p:spPr>
        </p:sp>
        <p:sp>
          <p:nvSpPr>
            <p:cNvPr id="16" name="Rectangle 16"/>
            <p:cNvSpPr/>
            <p:nvPr/>
          </p:nvSpPr>
          <p:spPr>
            <a:xfrm>
              <a:off x="762000" y="3762375"/>
              <a:ext cx="5334000" cy="1047750"/>
            </a:xfrm>
            <a:prstGeom prst="roundRect">
              <a:avLst>
                <a:gd name="adj" fmla="val 7273"/>
              </a:avLst>
            </a:prstGeom>
            <a:solidFill>
              <a:srgbClr val="D4940A">
                <a:alpha val="8000"/>
              </a:srgbClr>
            </a:solidFill>
            <a:ln>
              <a:noFill/>
            </a:ln>
          </p:spPr>
        </p:sp>
        <p:sp>
          <p:nvSpPr>
            <p:cNvPr id="17" name="TextBox 17"/>
            <p:cNvSpPr txBox="1"/>
            <p:nvPr/>
          </p:nvSpPr>
          <p:spPr>
            <a:xfrm>
              <a:off x="935355" y="3902392"/>
              <a:ext cx="2756230" cy="274320"/>
            </a:xfrm>
            <a:prstGeom prst="rect">
              <a:avLst/>
            </a:prstGeom>
            <a:noFill/>
            <a:ln>
              <a:noFill/>
            </a:ln>
          </p:spPr>
          <p:txBody>
            <a:bodyPr wrap="none" lIns="0" tIns="0" rIns="0" bIns="0" anchor="t" anchorCtr="0">
              <a:spAutoFit/>
            </a:bodyPr>
            <a:lstStyle/>
            <a:p>
              <a:pPr algn="l"/>
              <a:r>
                <a:rPr lang="zh-CN" sz="1350" b="1" dirty="0">
                  <a:solidFill>
                    <a:srgbClr val="D4940A"/>
                  </a:solidFill>
                  <a:latin typeface="Arial"/>
                  <a:ea typeface="Microsoft YaHei"/>
                  <a:cs typeface="Arial"/>
                </a:rPr>
                <a:t>为什么最终选择 Random Forest</a:t>
              </a:r>
            </a:p>
          </p:txBody>
        </p:sp>
        <p:sp>
          <p:nvSpPr>
            <p:cNvPr id="18" name="TextBox 18"/>
            <p:cNvSpPr txBox="1"/>
            <p:nvPr/>
          </p:nvSpPr>
          <p:spPr>
            <a:xfrm>
              <a:off x="937260" y="4204335"/>
              <a:ext cx="3510915"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Arial"/>
                  <a:ea typeface="Microsoft YaHei"/>
                  <a:cs typeface="Arial"/>
                </a:rPr>
                <a:t>RMSE 最低（0.0086）、推理成本低（0.22s）、</a:t>
              </a:r>
            </a:p>
          </p:txBody>
        </p:sp>
        <p:sp>
          <p:nvSpPr>
            <p:cNvPr id="19" name="TextBox 19"/>
            <p:cNvSpPr txBox="1"/>
            <p:nvPr/>
          </p:nvSpPr>
          <p:spPr>
            <a:xfrm>
              <a:off x="937260" y="4442460"/>
              <a:ext cx="2430780"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Arial"/>
                  <a:ea typeface="Microsoft YaHei"/>
                  <a:cs typeface="Arial"/>
                </a:rPr>
                <a:t>集成模型稳定性好，综合表现最优</a:t>
              </a:r>
            </a:p>
          </p:txBody>
        </p:sp>
        <p:sp>
          <p:nvSpPr>
            <p:cNvPr id="20" name="Line 20"/>
            <p:cNvSpPr/>
            <p:nvPr/>
          </p:nvSpPr>
          <p:spPr>
            <a:xfrm>
              <a:off x="762000" y="4953000"/>
              <a:ext cx="5143500" cy="9525"/>
            </a:xfrm>
            <a:custGeom>
              <a:avLst/>
              <a:gdLst/>
              <a:ahLst/>
              <a:cxnLst/>
              <a:rect l="l" t="t" r="r" b="b"/>
              <a:pathLst>
                <a:path w="5143500" h="9525">
                  <a:moveTo>
                    <a:pt x="0" y="0"/>
                  </a:moveTo>
                  <a:lnTo>
                    <a:pt x="5143500" y="0"/>
                  </a:lnTo>
                </a:path>
              </a:pathLst>
            </a:custGeom>
            <a:noFill/>
            <a:ln w="9525">
              <a:solidFill>
                <a:srgbClr val="E8E0D4"/>
              </a:solidFill>
            </a:ln>
          </p:spPr>
        </p:sp>
        <p:sp>
          <p:nvSpPr>
            <p:cNvPr id="21" name="TextBox 21"/>
            <p:cNvSpPr txBox="1"/>
            <p:nvPr/>
          </p:nvSpPr>
          <p:spPr>
            <a:xfrm>
              <a:off x="937260" y="5109210"/>
              <a:ext cx="702564" cy="243840"/>
            </a:xfrm>
            <a:prstGeom prst="rect">
              <a:avLst/>
            </a:prstGeom>
            <a:noFill/>
            <a:ln>
              <a:noFill/>
            </a:ln>
          </p:spPr>
          <p:txBody>
            <a:bodyPr wrap="none" lIns="0" tIns="0" rIns="0" bIns="0" anchor="t" anchorCtr="0">
              <a:spAutoFit/>
            </a:bodyPr>
            <a:lstStyle/>
            <a:p>
              <a:pPr algn="l"/>
              <a:r>
                <a:rPr lang="zh-CN" sz="1200" b="1" dirty="0">
                  <a:solidFill>
                    <a:srgbClr val="2D2A26"/>
                  </a:solidFill>
                  <a:latin typeface="Arial"/>
                  <a:ea typeface="Microsoft YaHei"/>
                  <a:cs typeface="Arial"/>
                </a:rPr>
                <a:t>关键参数</a:t>
              </a:r>
            </a:p>
          </p:txBody>
        </p:sp>
        <p:sp>
          <p:nvSpPr>
            <p:cNvPr id="22" name="TextBox 22"/>
            <p:cNvSpPr txBox="1"/>
            <p:nvPr/>
          </p:nvSpPr>
          <p:spPr>
            <a:xfrm>
              <a:off x="938212" y="5355431"/>
              <a:ext cx="4949190" cy="228600"/>
            </a:xfrm>
            <a:prstGeom prst="rect">
              <a:avLst/>
            </a:prstGeom>
            <a:noFill/>
            <a:ln>
              <a:noFill/>
            </a:ln>
          </p:spPr>
          <p:txBody>
            <a:bodyPr wrap="none" lIns="0" tIns="0" rIns="0" bIns="0" anchor="t" anchorCtr="0">
              <a:spAutoFit/>
            </a:bodyPr>
            <a:lstStyle/>
            <a:p>
              <a:pPr algn="l"/>
              <a:r>
                <a:rPr lang="zh-CN" sz="1125" dirty="0">
                  <a:solidFill>
                    <a:srgbClr val="8C8578"/>
                  </a:solidFill>
                  <a:latin typeface="Arial"/>
                  <a:ea typeface="Microsoft YaHei"/>
                  <a:cs typeface="Arial"/>
                </a:rPr>
                <a:t>n_estimators、max_depth、random_state 等（按代码实际结果填写）</a:t>
              </a:r>
            </a:p>
          </p:txBody>
        </p:sp>
      </p:grpSp>
      <p:grpSp>
        <p:nvGrpSpPr>
          <p:cNvPr id="38" name="Group 38"/>
          <p:cNvGrpSpPr/>
          <p:nvPr/>
        </p:nvGrpSpPr>
        <p:grpSpPr>
          <a:xfrm>
            <a:off x="6572250" y="1238250"/>
            <a:ext cx="5048250" cy="4476750"/>
            <a:chOff x="6572250" y="1238250"/>
            <a:chExt cx="5048250" cy="4476750"/>
          </a:xfrm>
        </p:grpSpPr>
        <p:sp>
          <p:nvSpPr>
            <p:cNvPr id="24" name="Rectangle 24"/>
            <p:cNvSpPr/>
            <p:nvPr/>
          </p:nvSpPr>
          <p:spPr>
            <a:xfrm>
              <a:off x="6572250" y="1238250"/>
              <a:ext cx="5048250" cy="4476750"/>
            </a:xfrm>
            <a:prstGeom prst="roundRect">
              <a:avLst>
                <a:gd name="adj" fmla="val 2553"/>
              </a:avLst>
            </a:prstGeom>
            <a:solidFill>
              <a:srgbClr val="FFF8EE"/>
            </a:solidFill>
            <a:ln>
              <a:noFill/>
            </a:ln>
          </p:spPr>
        </p:sp>
        <p:sp>
          <p:nvSpPr>
            <p:cNvPr id="25" name="TextBox 25"/>
            <p:cNvSpPr txBox="1"/>
            <p:nvPr/>
          </p:nvSpPr>
          <p:spPr>
            <a:xfrm>
              <a:off x="6743700" y="1504950"/>
              <a:ext cx="1917835" cy="304800"/>
            </a:xfrm>
            <a:prstGeom prst="rect">
              <a:avLst/>
            </a:prstGeom>
            <a:noFill/>
            <a:ln>
              <a:noFill/>
            </a:ln>
          </p:spPr>
          <p:txBody>
            <a:bodyPr wrap="none" lIns="0" tIns="0" rIns="0" bIns="0" anchor="t" anchorCtr="0">
              <a:spAutoFit/>
            </a:bodyPr>
            <a:lstStyle/>
            <a:p>
              <a:pPr algn="l"/>
              <a:r>
                <a:rPr lang="zh-CN" sz="1500" b="1" dirty="0">
                  <a:solidFill>
                    <a:srgbClr val="D4940A"/>
                  </a:solidFill>
                  <a:latin typeface="Arial"/>
                  <a:ea typeface="Microsoft YaHei"/>
                  <a:cs typeface="Arial"/>
                </a:rPr>
                <a:t>RF vs MLP 关键对比</a:t>
              </a:r>
            </a:p>
          </p:txBody>
        </p:sp>
        <p:sp>
          <p:nvSpPr>
            <p:cNvPr id="26" name="Rectangle 26"/>
            <p:cNvSpPr/>
            <p:nvPr/>
          </p:nvSpPr>
          <p:spPr>
            <a:xfrm>
              <a:off x="6762750" y="1905000"/>
              <a:ext cx="4667250" cy="952500"/>
            </a:xfrm>
            <a:prstGeom prst="roundRect">
              <a:avLst>
                <a:gd name="adj" fmla="val 8000"/>
              </a:avLst>
            </a:prstGeom>
            <a:solidFill>
              <a:srgbClr val="D4940A">
                <a:alpha val="8000"/>
              </a:srgbClr>
            </a:solidFill>
            <a:ln>
              <a:noFill/>
            </a:ln>
          </p:spPr>
        </p:sp>
        <p:sp>
          <p:nvSpPr>
            <p:cNvPr id="27" name="TextBox 27"/>
            <p:cNvSpPr txBox="1"/>
            <p:nvPr/>
          </p:nvSpPr>
          <p:spPr>
            <a:xfrm>
              <a:off x="6936105" y="2092642"/>
              <a:ext cx="1376358" cy="274320"/>
            </a:xfrm>
            <a:prstGeom prst="rect">
              <a:avLst/>
            </a:prstGeom>
            <a:noFill/>
            <a:ln>
              <a:noFill/>
            </a:ln>
          </p:spPr>
          <p:txBody>
            <a:bodyPr wrap="none" lIns="0" tIns="0" rIns="0" bIns="0" anchor="t" anchorCtr="0">
              <a:spAutoFit/>
            </a:bodyPr>
            <a:lstStyle/>
            <a:p>
              <a:pPr algn="l"/>
              <a:r>
                <a:rPr lang="zh-CN" sz="1350" b="1" dirty="0">
                  <a:solidFill>
                    <a:srgbClr val="D4940A"/>
                  </a:solidFill>
                  <a:latin typeface="Arial"/>
                  <a:ea typeface="Microsoft YaHei"/>
                  <a:cs typeface="Arial"/>
                </a:rPr>
                <a:t>Random Forest</a:t>
              </a:r>
            </a:p>
          </p:txBody>
        </p:sp>
        <p:sp>
          <p:nvSpPr>
            <p:cNvPr id="28" name="TextBox 28"/>
            <p:cNvSpPr txBox="1"/>
            <p:nvPr/>
          </p:nvSpPr>
          <p:spPr>
            <a:xfrm>
              <a:off x="6938010" y="2394585"/>
              <a:ext cx="3094863"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Consolas"/>
                  <a:ea typeface="Microsoft YaHei"/>
                  <a:cs typeface="Consolas"/>
                </a:rPr>
                <a:t>RMSE: 0.0086 · R²: 0.959 · 训练: 0.94s</a:t>
              </a:r>
            </a:p>
          </p:txBody>
        </p:sp>
        <p:sp>
          <p:nvSpPr>
            <p:cNvPr id="29" name="TextBox 29"/>
            <p:cNvSpPr txBox="1"/>
            <p:nvPr/>
          </p:nvSpPr>
          <p:spPr>
            <a:xfrm>
              <a:off x="6938962" y="2640806"/>
              <a:ext cx="1611273" cy="228600"/>
            </a:xfrm>
            <a:prstGeom prst="rect">
              <a:avLst/>
            </a:prstGeom>
            <a:noFill/>
            <a:ln>
              <a:noFill/>
            </a:ln>
          </p:spPr>
          <p:txBody>
            <a:bodyPr wrap="none" lIns="0" tIns="0" rIns="0" bIns="0" anchor="t" anchorCtr="0">
              <a:spAutoFit/>
            </a:bodyPr>
            <a:lstStyle/>
            <a:p>
              <a:pPr algn="l"/>
              <a:r>
                <a:rPr lang="zh-CN" sz="1125" dirty="0">
                  <a:solidFill>
                    <a:srgbClr val="3D8B5E"/>
                  </a:solidFill>
                  <a:latin typeface="Arial"/>
                  <a:ea typeface="Microsoft YaHei"/>
                  <a:cs typeface="Arial"/>
                </a:rPr>
                <a:t>RMSE 最低，综合最优 ✓</a:t>
              </a:r>
            </a:p>
          </p:txBody>
        </p:sp>
        <p:sp>
          <p:nvSpPr>
            <p:cNvPr id="30" name="Rectangle 30"/>
            <p:cNvSpPr/>
            <p:nvPr/>
          </p:nvSpPr>
          <p:spPr>
            <a:xfrm>
              <a:off x="6762750" y="3048000"/>
              <a:ext cx="4667250" cy="952500"/>
            </a:xfrm>
            <a:prstGeom prst="roundRect">
              <a:avLst>
                <a:gd name="adj" fmla="val 8000"/>
              </a:avLst>
            </a:prstGeom>
            <a:solidFill>
              <a:srgbClr val="FFF8EE"/>
            </a:solidFill>
            <a:ln>
              <a:noFill/>
            </a:ln>
          </p:spPr>
        </p:sp>
        <p:sp>
          <p:nvSpPr>
            <p:cNvPr id="31" name="TextBox 31"/>
            <p:cNvSpPr txBox="1"/>
            <p:nvPr/>
          </p:nvSpPr>
          <p:spPr>
            <a:xfrm>
              <a:off x="6936105" y="3235642"/>
              <a:ext cx="383984" cy="274320"/>
            </a:xfrm>
            <a:prstGeom prst="rect">
              <a:avLst/>
            </a:prstGeom>
            <a:noFill/>
            <a:ln>
              <a:noFill/>
            </a:ln>
          </p:spPr>
          <p:txBody>
            <a:bodyPr wrap="none" lIns="0" tIns="0" rIns="0" bIns="0" anchor="t" anchorCtr="0">
              <a:spAutoFit/>
            </a:bodyPr>
            <a:lstStyle/>
            <a:p>
              <a:pPr algn="l"/>
              <a:r>
                <a:rPr lang="zh-CN" sz="1350" b="1" dirty="0">
                  <a:solidFill>
                    <a:srgbClr val="8C8578"/>
                  </a:solidFill>
                  <a:latin typeface="Arial"/>
                  <a:ea typeface="Microsoft YaHei"/>
                  <a:cs typeface="Arial"/>
                </a:rPr>
                <a:t>MLP</a:t>
              </a:r>
            </a:p>
          </p:txBody>
        </p:sp>
        <p:sp>
          <p:nvSpPr>
            <p:cNvPr id="32" name="TextBox 32"/>
            <p:cNvSpPr txBox="1"/>
            <p:nvPr/>
          </p:nvSpPr>
          <p:spPr>
            <a:xfrm>
              <a:off x="6938010" y="3537585"/>
              <a:ext cx="3094863"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Consolas"/>
                  <a:ea typeface="Microsoft YaHei"/>
                  <a:cs typeface="Consolas"/>
                </a:rPr>
                <a:t>RMSE: 0.0095 · R²: 0.962 · 训练: 1.87s</a:t>
              </a:r>
            </a:p>
          </p:txBody>
        </p:sp>
        <p:sp>
          <p:nvSpPr>
            <p:cNvPr id="33" name="TextBox 33"/>
            <p:cNvSpPr txBox="1"/>
            <p:nvPr/>
          </p:nvSpPr>
          <p:spPr>
            <a:xfrm>
              <a:off x="6938962" y="3783806"/>
              <a:ext cx="2188845" cy="228600"/>
            </a:xfrm>
            <a:prstGeom prst="rect">
              <a:avLst/>
            </a:prstGeom>
            <a:noFill/>
            <a:ln>
              <a:noFill/>
            </a:ln>
          </p:spPr>
          <p:txBody>
            <a:bodyPr wrap="none" lIns="0" tIns="0" rIns="0" bIns="0" anchor="t" anchorCtr="0">
              <a:spAutoFit/>
            </a:bodyPr>
            <a:lstStyle/>
            <a:p>
              <a:pPr algn="l"/>
              <a:r>
                <a:rPr lang="zh-CN" sz="1125" dirty="0">
                  <a:solidFill>
                    <a:srgbClr val="8C8578"/>
                  </a:solidFill>
                  <a:latin typeface="Arial"/>
                  <a:ea typeface="Microsoft YaHei"/>
                  <a:cs typeface="Arial"/>
                </a:rPr>
                <a:t>R² 略高但 RMSE 更大、训练更慢</a:t>
              </a:r>
            </a:p>
          </p:txBody>
        </p:sp>
        <p:sp>
          <p:nvSpPr>
            <p:cNvPr id="34" name="Rectangle 34"/>
            <p:cNvSpPr/>
            <p:nvPr/>
          </p:nvSpPr>
          <p:spPr>
            <a:xfrm>
              <a:off x="6762750" y="4286250"/>
              <a:ext cx="4667250" cy="1143000"/>
            </a:xfrm>
            <a:prstGeom prst="roundRect">
              <a:avLst>
                <a:gd name="adj" fmla="val 6667"/>
              </a:avLst>
            </a:prstGeom>
            <a:solidFill>
              <a:srgbClr val="D4940A">
                <a:alpha val="6000"/>
              </a:srgbClr>
            </a:solidFill>
            <a:ln>
              <a:noFill/>
            </a:ln>
          </p:spPr>
        </p:sp>
        <p:sp>
          <p:nvSpPr>
            <p:cNvPr id="35" name="TextBox 35"/>
            <p:cNvSpPr txBox="1"/>
            <p:nvPr/>
          </p:nvSpPr>
          <p:spPr>
            <a:xfrm>
              <a:off x="6937058" y="4481989"/>
              <a:ext cx="746474" cy="259080"/>
            </a:xfrm>
            <a:prstGeom prst="rect">
              <a:avLst/>
            </a:prstGeom>
            <a:noFill/>
            <a:ln>
              <a:noFill/>
            </a:ln>
          </p:spPr>
          <p:txBody>
            <a:bodyPr wrap="none" lIns="0" tIns="0" rIns="0" bIns="0" anchor="t" anchorCtr="0">
              <a:spAutoFit/>
            </a:bodyPr>
            <a:lstStyle/>
            <a:p>
              <a:pPr algn="l"/>
              <a:r>
                <a:rPr lang="zh-CN" sz="1275" b="1" dirty="0">
                  <a:solidFill>
                    <a:srgbClr val="D4940A"/>
                  </a:solidFill>
                  <a:latin typeface="Arial"/>
                  <a:ea typeface="Microsoft YaHei"/>
                  <a:cs typeface="Arial"/>
                </a:rPr>
                <a:t>选择依据</a:t>
              </a:r>
            </a:p>
          </p:txBody>
        </p:sp>
        <p:sp>
          <p:nvSpPr>
            <p:cNvPr id="36" name="TextBox 36"/>
            <p:cNvSpPr txBox="1"/>
            <p:nvPr/>
          </p:nvSpPr>
          <p:spPr>
            <a:xfrm>
              <a:off x="6938010" y="4775835"/>
              <a:ext cx="3726942"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Arial"/>
                  <a:ea typeface="Microsoft YaHei"/>
                  <a:cs typeface="Arial"/>
                </a:rPr>
                <a:t>不只看 R²，也结合 RMSE、训练成本和预测稳定性。</a:t>
              </a:r>
            </a:p>
          </p:txBody>
        </p:sp>
        <p:sp>
          <p:nvSpPr>
            <p:cNvPr id="37" name="TextBox 37"/>
            <p:cNvSpPr txBox="1"/>
            <p:nvPr/>
          </p:nvSpPr>
          <p:spPr>
            <a:xfrm>
              <a:off x="6938010" y="5061585"/>
              <a:ext cx="3390900"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Arial"/>
                  <a:ea typeface="Microsoft YaHei"/>
                  <a:cs typeface="Arial"/>
                </a:rPr>
                <a:t>以实验结果为依据，不预先认定某个模型最好。</a:t>
              </a:r>
            </a:p>
          </p:txBody>
        </p:sp>
      </p:grpSp>
      <p:grpSp>
        <p:nvGrpSpPr>
          <p:cNvPr id="41" name="Group 41"/>
          <p:cNvGrpSpPr/>
          <p:nvPr/>
        </p:nvGrpSpPr>
        <p:grpSpPr>
          <a:xfrm>
            <a:off x="561022" y="6483191"/>
            <a:ext cx="11069955" cy="167640"/>
            <a:chOff x="561022" y="6483191"/>
            <a:chExt cx="11069955" cy="167640"/>
          </a:xfrm>
        </p:grpSpPr>
        <p:sp>
          <p:nvSpPr>
            <p:cNvPr id="39" name="TextBox 39"/>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40" name="TextBox 40"/>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10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image">
                                      <p:cBhvr>
                                        <p:cTn id="7" dur="400"/>
                                        <p:tgtEl>
                                          <p:spTgt spid="23"/>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5063395" cy="808197"/>
            <a:chOff x="539115" y="387191"/>
            <a:chExt cx="5063395"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11</a:t>
              </a:r>
            </a:p>
          </p:txBody>
        </p:sp>
        <p:sp>
          <p:nvSpPr>
            <p:cNvPr id="4" name="Rectangle 4"/>
            <p:cNvSpPr/>
            <p:nvPr/>
          </p:nvSpPr>
          <p:spPr>
            <a:xfrm>
              <a:off x="571500" y="619125"/>
              <a:ext cx="476250" cy="28575"/>
            </a:xfrm>
            <a:prstGeom prst="roundRect">
              <a:avLst>
                <a:gd name="adj" fmla="val 50000"/>
              </a:avLst>
            </a:prstGeom>
            <a:solidFill>
              <a:srgbClr val="6B8E3D"/>
            </a:solidFill>
            <a:ln>
              <a:noFill/>
            </a:ln>
          </p:spPr>
        </p:sp>
        <p:sp>
          <p:nvSpPr>
            <p:cNvPr id="5" name="TextBox 5"/>
            <p:cNvSpPr txBox="1"/>
            <p:nvPr/>
          </p:nvSpPr>
          <p:spPr>
            <a:xfrm>
              <a:off x="539115" y="677228"/>
              <a:ext cx="5063395"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环境特征可以还原相对光谱形状</a:t>
              </a:r>
            </a:p>
          </p:txBody>
        </p:sp>
      </p:grpSp>
      <p:grpSp>
        <p:nvGrpSpPr>
          <p:cNvPr id="10" name="Group 10"/>
          <p:cNvGrpSpPr/>
          <p:nvPr/>
        </p:nvGrpSpPr>
        <p:grpSpPr>
          <a:xfrm>
            <a:off x="571500" y="1238250"/>
            <a:ext cx="5715000" cy="4286250"/>
            <a:chOff x="571500" y="1238250"/>
            <a:chExt cx="5715000" cy="4286250"/>
          </a:xfrm>
        </p:grpSpPr>
        <p:sp>
          <p:nvSpPr>
            <p:cNvPr id="7" name="Rectangle 7"/>
            <p:cNvSpPr/>
            <p:nvPr/>
          </p:nvSpPr>
          <p:spPr>
            <a:xfrm>
              <a:off x="571500" y="1238250"/>
              <a:ext cx="5715000" cy="4286250"/>
            </a:xfrm>
            <a:prstGeom prst="roundRect">
              <a:avLst>
                <a:gd name="adj" fmla="val 2667"/>
              </a:avLst>
            </a:prstGeom>
            <a:solidFill>
              <a:srgbClr val="FFF8EE"/>
            </a:solidFill>
            <a:ln>
              <a:noFill/>
            </a:ln>
          </p:spPr>
        </p:sp>
        <p:sp>
          <p:nvSpPr>
            <p:cNvPr id="8" name="TextBox 8"/>
            <p:cNvSpPr txBox="1"/>
            <p:nvPr/>
          </p:nvSpPr>
          <p:spPr>
            <a:xfrm>
              <a:off x="744855" y="1425892"/>
              <a:ext cx="2245866" cy="274320"/>
            </a:xfrm>
            <a:prstGeom prst="rect">
              <a:avLst/>
            </a:prstGeom>
            <a:noFill/>
            <a:ln>
              <a:noFill/>
            </a:ln>
          </p:spPr>
          <p:txBody>
            <a:bodyPr wrap="none" lIns="0" tIns="0" rIns="0" bIns="0" anchor="t" anchorCtr="0">
              <a:spAutoFit/>
            </a:bodyPr>
            <a:lstStyle/>
            <a:p>
              <a:pPr algn="l"/>
              <a:r>
                <a:rPr lang="zh-CN" sz="1350" b="1" dirty="0">
                  <a:solidFill>
                    <a:srgbClr val="6B8E3D"/>
                  </a:solidFill>
                  <a:latin typeface="Arial"/>
                  <a:ea typeface="Microsoft YaHei"/>
                  <a:cs typeface="Arial"/>
                </a:rPr>
                <a:t>实测光谱 vs 模型预测光谱</a:t>
              </a:r>
            </a:p>
          </p:txBody>
        </p:sp>
        <p:pic>
          <p:nvPicPr>
            <p:cNvPr id="9" name="Image 9"/>
            <p:cNvPicPr>
              <a:picLocks noChangeAspect="1"/>
            </p:cNvPicPr>
            <p:nvPr/>
          </p:nvPicPr>
          <p:blipFill>
            <a:blip r:embed="rId2"/>
            <a:stretch>
              <a:fillRect/>
            </a:stretch>
          </p:blipFill>
          <p:spPr>
            <a:xfrm>
              <a:off x="666750" y="1810036"/>
              <a:ext cx="5524500" cy="3428427"/>
            </a:xfrm>
            <a:prstGeom prst="rect">
              <a:avLst/>
            </a:prstGeom>
          </p:spPr>
        </p:pic>
      </p:grpSp>
      <p:grpSp>
        <p:nvGrpSpPr>
          <p:cNvPr id="24" name="Group 24"/>
          <p:cNvGrpSpPr/>
          <p:nvPr/>
        </p:nvGrpSpPr>
        <p:grpSpPr>
          <a:xfrm>
            <a:off x="6572250" y="1238250"/>
            <a:ext cx="5048250" cy="4441031"/>
            <a:chOff x="6572250" y="1238250"/>
            <a:chExt cx="5048250" cy="4441031"/>
          </a:xfrm>
        </p:grpSpPr>
        <p:sp>
          <p:nvSpPr>
            <p:cNvPr id="11" name="Rectangle 11"/>
            <p:cNvSpPr/>
            <p:nvPr/>
          </p:nvSpPr>
          <p:spPr>
            <a:xfrm>
              <a:off x="6572250" y="1238250"/>
              <a:ext cx="5048250" cy="4286250"/>
            </a:xfrm>
            <a:prstGeom prst="roundRect">
              <a:avLst>
                <a:gd name="adj" fmla="val 2667"/>
              </a:avLst>
            </a:prstGeom>
            <a:solidFill>
              <a:srgbClr val="FFF8EE"/>
            </a:solidFill>
            <a:ln>
              <a:noFill/>
            </a:ln>
          </p:spPr>
        </p:sp>
        <p:sp>
          <p:nvSpPr>
            <p:cNvPr id="12" name="TextBox 12"/>
            <p:cNvSpPr txBox="1"/>
            <p:nvPr/>
          </p:nvSpPr>
          <p:spPr>
            <a:xfrm>
              <a:off x="6743700" y="1504950"/>
              <a:ext cx="878205" cy="304800"/>
            </a:xfrm>
            <a:prstGeom prst="rect">
              <a:avLst/>
            </a:prstGeom>
            <a:noFill/>
            <a:ln>
              <a:noFill/>
            </a:ln>
          </p:spPr>
          <p:txBody>
            <a:bodyPr wrap="none" lIns="0" tIns="0" rIns="0" bIns="0" anchor="t" anchorCtr="0">
              <a:spAutoFit/>
            </a:bodyPr>
            <a:lstStyle/>
            <a:p>
              <a:pPr algn="l"/>
              <a:r>
                <a:rPr lang="zh-CN" sz="1500" b="1" dirty="0">
                  <a:solidFill>
                    <a:srgbClr val="6B8E3D"/>
                  </a:solidFill>
                  <a:latin typeface="Arial"/>
                  <a:ea typeface="Microsoft YaHei"/>
                  <a:cs typeface="Arial"/>
                </a:rPr>
                <a:t>预测路径</a:t>
              </a:r>
            </a:p>
          </p:txBody>
        </p:sp>
        <p:sp>
          <p:nvSpPr>
            <p:cNvPr id="13" name="Rectangle 13"/>
            <p:cNvSpPr/>
            <p:nvPr/>
          </p:nvSpPr>
          <p:spPr>
            <a:xfrm>
              <a:off x="6762750" y="1857375"/>
              <a:ext cx="4667250" cy="1714500"/>
            </a:xfrm>
            <a:prstGeom prst="roundRect">
              <a:avLst>
                <a:gd name="adj" fmla="val 4444"/>
              </a:avLst>
            </a:prstGeom>
            <a:solidFill>
              <a:srgbClr val="6B8E3D">
                <a:alpha val="6000"/>
              </a:srgbClr>
            </a:solidFill>
            <a:ln>
              <a:noFill/>
            </a:ln>
          </p:spPr>
        </p:sp>
        <p:sp>
          <p:nvSpPr>
            <p:cNvPr id="14" name="TextBox 14"/>
            <p:cNvSpPr txBox="1"/>
            <p:nvPr/>
          </p:nvSpPr>
          <p:spPr>
            <a:xfrm>
              <a:off x="6938010" y="2013585"/>
              <a:ext cx="1214628"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Arial"/>
                  <a:ea typeface="Microsoft YaHei"/>
                  <a:cs typeface="Arial"/>
                </a:rPr>
                <a:t>1. 输入环境特征</a:t>
              </a:r>
            </a:p>
          </p:txBody>
        </p:sp>
        <p:sp>
          <p:nvSpPr>
            <p:cNvPr id="15" name="TextBox 15"/>
            <p:cNvSpPr txBox="1"/>
            <p:nvPr/>
          </p:nvSpPr>
          <p:spPr>
            <a:xfrm>
              <a:off x="6938010" y="2299335"/>
              <a:ext cx="1598676"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Arial"/>
                  <a:ea typeface="Microsoft YaHei"/>
                  <a:cs typeface="Arial"/>
                </a:rPr>
                <a:t>2. 预测 5 个 PCA 系数</a:t>
              </a:r>
            </a:p>
          </p:txBody>
        </p:sp>
        <p:sp>
          <p:nvSpPr>
            <p:cNvPr id="16" name="TextBox 16"/>
            <p:cNvSpPr txBox="1"/>
            <p:nvPr/>
          </p:nvSpPr>
          <p:spPr>
            <a:xfrm>
              <a:off x="6938010" y="2585085"/>
              <a:ext cx="2118741"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Arial"/>
                  <a:ea typeface="Microsoft YaHei"/>
                  <a:cs typeface="Arial"/>
                </a:rPr>
                <a:t>3. PCA 逆变换还原 41 维光谱</a:t>
              </a:r>
            </a:p>
          </p:txBody>
        </p:sp>
        <p:sp>
          <p:nvSpPr>
            <p:cNvPr id="17" name="TextBox 17"/>
            <p:cNvSpPr txBox="1"/>
            <p:nvPr/>
          </p:nvSpPr>
          <p:spPr>
            <a:xfrm>
              <a:off x="6938010" y="2870835"/>
              <a:ext cx="1694688"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Arial"/>
                  <a:ea typeface="Microsoft YaHei"/>
                  <a:cs typeface="Arial"/>
                </a:rPr>
                <a:t>4. 与实测光谱曲线比较</a:t>
              </a:r>
            </a:p>
          </p:txBody>
        </p:sp>
        <p:sp>
          <p:nvSpPr>
            <p:cNvPr id="18" name="TextBox 18"/>
            <p:cNvSpPr txBox="1"/>
            <p:nvPr/>
          </p:nvSpPr>
          <p:spPr>
            <a:xfrm>
              <a:off x="6939915" y="3268028"/>
              <a:ext cx="2000917" cy="213360"/>
            </a:xfrm>
            <a:prstGeom prst="rect">
              <a:avLst/>
            </a:prstGeom>
            <a:noFill/>
            <a:ln>
              <a:noFill/>
            </a:ln>
          </p:spPr>
          <p:txBody>
            <a:bodyPr wrap="none" lIns="0" tIns="0" rIns="0" bIns="0" anchor="t" anchorCtr="0">
              <a:spAutoFit/>
            </a:bodyPr>
            <a:lstStyle/>
            <a:p>
              <a:pPr algn="l"/>
              <a:r>
                <a:rPr lang="zh-CN" sz="1050" dirty="0">
                  <a:solidFill>
                    <a:srgbClr val="8C8578"/>
                  </a:solidFill>
                  <a:latin typeface="Arial"/>
                  <a:ea typeface="Microsoft YaHei"/>
                  <a:cs typeface="Arial"/>
                </a:rPr>
                <a:t>蓝色实线=实测，红色虚线=预测</a:t>
              </a:r>
            </a:p>
          </p:txBody>
        </p:sp>
        <p:sp>
          <p:nvSpPr>
            <p:cNvPr id="19" name="Line 19"/>
            <p:cNvSpPr/>
            <p:nvPr/>
          </p:nvSpPr>
          <p:spPr>
            <a:xfrm>
              <a:off x="6762750" y="3762375"/>
              <a:ext cx="4667250" cy="9525"/>
            </a:xfrm>
            <a:custGeom>
              <a:avLst/>
              <a:gdLst/>
              <a:ahLst/>
              <a:cxnLst/>
              <a:rect l="l" t="t" r="r" b="b"/>
              <a:pathLst>
                <a:path w="4667250" h="9525">
                  <a:moveTo>
                    <a:pt x="0" y="0"/>
                  </a:moveTo>
                  <a:lnTo>
                    <a:pt x="4667250" y="0"/>
                  </a:lnTo>
                </a:path>
              </a:pathLst>
            </a:custGeom>
            <a:noFill/>
            <a:ln w="9525">
              <a:solidFill>
                <a:srgbClr val="E8E0D4"/>
              </a:solidFill>
            </a:ln>
          </p:spPr>
        </p:sp>
        <p:sp>
          <p:nvSpPr>
            <p:cNvPr id="20" name="TextBox 20"/>
            <p:cNvSpPr txBox="1"/>
            <p:nvPr/>
          </p:nvSpPr>
          <p:spPr>
            <a:xfrm>
              <a:off x="6743700" y="3933825"/>
              <a:ext cx="878205" cy="304800"/>
            </a:xfrm>
            <a:prstGeom prst="rect">
              <a:avLst/>
            </a:prstGeom>
            <a:noFill/>
            <a:ln>
              <a:noFill/>
            </a:ln>
          </p:spPr>
          <p:txBody>
            <a:bodyPr wrap="none" lIns="0" tIns="0" rIns="0" bIns="0" anchor="t" anchorCtr="0">
              <a:spAutoFit/>
            </a:bodyPr>
            <a:lstStyle/>
            <a:p>
              <a:pPr algn="l"/>
              <a:r>
                <a:rPr lang="zh-CN" sz="1500" b="1" dirty="0">
                  <a:solidFill>
                    <a:srgbClr val="6B8E3D"/>
                  </a:solidFill>
                  <a:latin typeface="Arial"/>
                  <a:ea typeface="Microsoft YaHei"/>
                  <a:cs typeface="Arial"/>
                </a:rPr>
                <a:t>结果观察</a:t>
              </a:r>
            </a:p>
          </p:txBody>
        </p:sp>
        <p:sp>
          <p:nvSpPr>
            <p:cNvPr id="21" name="TextBox 21"/>
            <p:cNvSpPr txBox="1"/>
            <p:nvPr/>
          </p:nvSpPr>
          <p:spPr>
            <a:xfrm>
              <a:off x="6746558" y="4291489"/>
              <a:ext cx="2623185" cy="792480"/>
            </a:xfrm>
            <a:prstGeom prst="rect">
              <a:avLst/>
            </a:prstGeom>
            <a:noFill/>
            <a:ln>
              <a:noFill/>
            </a:ln>
          </p:spPr>
          <p:txBody>
            <a:bodyPr wrap="square" lIns="0" tIns="0" rIns="0" bIns="0" anchor="t" anchorCtr="0"/>
            <a:lstStyle/>
            <a:p>
              <a:pPr algn="l">
                <a:lnSpc>
                  <a:spcPts val="2100"/>
                </a:lnSpc>
              </a:pPr>
              <a:r>
                <a:rPr lang="zh-CN" sz="1275" dirty="0">
                  <a:solidFill>
                    <a:srgbClr val="2D2A26"/>
                  </a:solidFill>
                  <a:latin typeface="Arial"/>
                  <a:ea typeface="Microsoft YaHei"/>
                  <a:cs typeface="Arial"/>
                </a:rPr>
                <a:t>示例样本中，预测曲线与实测曲线</a:t>
              </a:r>
              <a:r>
                <a:rPr lang="zh-CN" sz="1275" dirty="0">
                  <a:solidFill>
                    <a:srgbClr val="2D2A26"/>
                  </a:solidFill>
                  <a:latin typeface="Arial"/>
                  <a:ea typeface="Microsoft YaHei"/>
                  <a:cs typeface="Arial"/>
                </a:rPr>
                <a:t>基本重合，说明模型能够学习自然光</a:t>
              </a:r>
              <a:r>
                <a:rPr lang="zh-CN" sz="1275" dirty="0">
                  <a:solidFill>
                    <a:srgbClr val="2D2A26"/>
                  </a:solidFill>
                  <a:latin typeface="Arial"/>
                  <a:ea typeface="Microsoft YaHei"/>
                  <a:cs typeface="Arial"/>
                </a:rPr>
                <a:t>相对光谱的主要变化趋势。</a:t>
              </a:r>
            </a:p>
          </p:txBody>
        </p:sp>
        <p:sp>
          <p:nvSpPr>
            <p:cNvPr id="22" name="Line 22"/>
            <p:cNvSpPr/>
            <p:nvPr/>
          </p:nvSpPr>
          <p:spPr>
            <a:xfrm>
              <a:off x="6762750" y="5286375"/>
              <a:ext cx="4667250" cy="9525"/>
            </a:xfrm>
            <a:custGeom>
              <a:avLst/>
              <a:gdLst/>
              <a:ahLst/>
              <a:cxnLst/>
              <a:rect l="l" t="t" r="r" b="b"/>
              <a:pathLst>
                <a:path w="4667250" h="9525">
                  <a:moveTo>
                    <a:pt x="0" y="0"/>
                  </a:moveTo>
                  <a:lnTo>
                    <a:pt x="4667250" y="0"/>
                  </a:lnTo>
                </a:path>
              </a:pathLst>
            </a:custGeom>
            <a:noFill/>
            <a:ln w="9525">
              <a:solidFill>
                <a:srgbClr val="E8E0D4"/>
              </a:solidFill>
            </a:ln>
          </p:spPr>
        </p:sp>
        <p:sp>
          <p:nvSpPr>
            <p:cNvPr id="23" name="TextBox 23"/>
            <p:cNvSpPr txBox="1"/>
            <p:nvPr/>
          </p:nvSpPr>
          <p:spPr>
            <a:xfrm>
              <a:off x="6748462" y="5450681"/>
              <a:ext cx="4379119" cy="228600"/>
            </a:xfrm>
            <a:prstGeom prst="rect">
              <a:avLst/>
            </a:prstGeom>
            <a:noFill/>
            <a:ln>
              <a:noFill/>
            </a:ln>
          </p:spPr>
          <p:txBody>
            <a:bodyPr wrap="none" lIns="0" tIns="0" rIns="0" bIns="0" anchor="t" anchorCtr="0">
              <a:spAutoFit/>
            </a:bodyPr>
            <a:lstStyle/>
            <a:p>
              <a:pPr algn="l"/>
              <a:r>
                <a:rPr lang="zh-CN" sz="1125" dirty="0">
                  <a:solidFill>
                    <a:srgbClr val="8C8578"/>
                  </a:solidFill>
                  <a:latin typeface="Arial"/>
                  <a:ea typeface="Microsoft YaHei"/>
                  <a:cs typeface="Arial"/>
                </a:rPr>
                <a:t>结果边界：预测相对光谱形状，不能替代现场光谱仪的绝对测量。</a:t>
              </a:r>
            </a:p>
          </p:txBody>
        </p:sp>
      </p:grpSp>
      <p:grpSp>
        <p:nvGrpSpPr>
          <p:cNvPr id="27" name="Group 27"/>
          <p:cNvGrpSpPr/>
          <p:nvPr/>
        </p:nvGrpSpPr>
        <p:grpSpPr>
          <a:xfrm>
            <a:off x="561022" y="6483191"/>
            <a:ext cx="11069955" cy="167640"/>
            <a:chOff x="561022" y="6483191"/>
            <a:chExt cx="11069955" cy="167640"/>
          </a:xfrm>
        </p:grpSpPr>
        <p:sp>
          <p:nvSpPr>
            <p:cNvPr id="25" name="TextBox 25"/>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26" name="TextBox 26"/>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11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400"/>
                                        <p:tgtEl>
                                          <p:spTgt spid="1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slide(fromBottom)">
                                      <p:cBhvr>
                                        <p:cTn id="11"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4438567" cy="808197"/>
            <a:chOff x="539115" y="387191"/>
            <a:chExt cx="4438567"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12</a:t>
              </a:r>
            </a:p>
          </p:txBody>
        </p:sp>
        <p:sp>
          <p:nvSpPr>
            <p:cNvPr id="4" name="Rectangle 4"/>
            <p:cNvSpPr/>
            <p:nvPr/>
          </p:nvSpPr>
          <p:spPr>
            <a:xfrm>
              <a:off x="571500" y="619125"/>
              <a:ext cx="476250" cy="28575"/>
            </a:xfrm>
            <a:prstGeom prst="roundRect">
              <a:avLst>
                <a:gd name="adj" fmla="val 50000"/>
              </a:avLst>
            </a:prstGeom>
            <a:solidFill>
              <a:srgbClr val="D46B8C"/>
            </a:solidFill>
            <a:ln>
              <a:noFill/>
            </a:ln>
          </p:spPr>
        </p:sp>
        <p:sp>
          <p:nvSpPr>
            <p:cNvPr id="5" name="TextBox 5"/>
            <p:cNvSpPr txBox="1"/>
            <p:nvPr/>
          </p:nvSpPr>
          <p:spPr>
            <a:xfrm>
              <a:off x="539115" y="677228"/>
              <a:ext cx="4438567"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七通道 LED 比双色温更细致</a:t>
              </a:r>
            </a:p>
          </p:txBody>
        </p:sp>
      </p:grpSp>
      <p:grpSp>
        <p:nvGrpSpPr>
          <p:cNvPr id="15" name="Group 15"/>
          <p:cNvGrpSpPr/>
          <p:nvPr/>
        </p:nvGrpSpPr>
        <p:grpSpPr>
          <a:xfrm>
            <a:off x="571500" y="1238250"/>
            <a:ext cx="11049000" cy="1238250"/>
            <a:chOff x="571500" y="1238250"/>
            <a:chExt cx="11049000" cy="1238250"/>
          </a:xfrm>
        </p:grpSpPr>
        <p:sp>
          <p:nvSpPr>
            <p:cNvPr id="7" name="Rectangle 7"/>
            <p:cNvSpPr/>
            <p:nvPr/>
          </p:nvSpPr>
          <p:spPr>
            <a:xfrm>
              <a:off x="571500" y="1238250"/>
              <a:ext cx="11049000" cy="1238250"/>
            </a:xfrm>
            <a:prstGeom prst="roundRect">
              <a:avLst>
                <a:gd name="adj" fmla="val 9231"/>
              </a:avLst>
            </a:prstGeom>
            <a:solidFill>
              <a:srgbClr val="FFF8EE"/>
            </a:solidFill>
            <a:ln>
              <a:noFill/>
            </a:ln>
          </p:spPr>
        </p:sp>
        <p:sp>
          <p:nvSpPr>
            <p:cNvPr id="8" name="TextBox 8"/>
            <p:cNvSpPr txBox="1"/>
            <p:nvPr/>
          </p:nvSpPr>
          <p:spPr>
            <a:xfrm>
              <a:off x="744855" y="1425892"/>
              <a:ext cx="790384" cy="274320"/>
            </a:xfrm>
            <a:prstGeom prst="rect">
              <a:avLst/>
            </a:prstGeom>
            <a:noFill/>
            <a:ln>
              <a:noFill/>
            </a:ln>
          </p:spPr>
          <p:txBody>
            <a:bodyPr wrap="none" lIns="0" tIns="0" rIns="0" bIns="0" anchor="t" anchorCtr="0">
              <a:spAutoFit/>
            </a:bodyPr>
            <a:lstStyle/>
            <a:p>
              <a:pPr algn="l"/>
              <a:r>
                <a:rPr lang="zh-CN" sz="1350" b="1" dirty="0">
                  <a:solidFill>
                    <a:srgbClr val="D46B8C"/>
                  </a:solidFill>
                  <a:latin typeface="Arial"/>
                  <a:ea typeface="Microsoft YaHei"/>
                  <a:cs typeface="Arial"/>
                </a:rPr>
                <a:t>补偿思路</a:t>
              </a:r>
            </a:p>
          </p:txBody>
        </p:sp>
        <p:sp>
          <p:nvSpPr>
            <p:cNvPr id="9" name="TextBox 9"/>
            <p:cNvSpPr txBox="1"/>
            <p:nvPr/>
          </p:nvSpPr>
          <p:spPr>
            <a:xfrm>
              <a:off x="746760" y="1727835"/>
              <a:ext cx="5727192" cy="243840"/>
            </a:xfrm>
            <a:prstGeom prst="rect">
              <a:avLst/>
            </a:prstGeom>
            <a:noFill/>
            <a:ln>
              <a:noFill/>
            </a:ln>
          </p:spPr>
          <p:txBody>
            <a:bodyPr wrap="none" lIns="0" tIns="0" rIns="0" bIns="0" anchor="t" anchorCtr="0">
              <a:spAutoFit/>
            </a:bodyPr>
            <a:lstStyle/>
            <a:p>
              <a:pPr algn="l"/>
              <a:r>
                <a:rPr lang="zh-CN" sz="1200" dirty="0">
                  <a:solidFill>
                    <a:srgbClr val="2D2A26"/>
                  </a:solidFill>
                  <a:latin typeface="Arial"/>
                  <a:ea typeface="Microsoft YaHei"/>
                  <a:cs typeface="Arial"/>
                </a:rPr>
                <a:t>目标光谱 − 预测自然光贡献 = 需要人工补偿的光谱 → 非负最小二乘求 7 通道比例</a:t>
              </a:r>
            </a:p>
          </p:txBody>
        </p:sp>
        <p:sp>
          <p:nvSpPr>
            <p:cNvPr id="10" name="Line 10"/>
            <p:cNvSpPr/>
            <p:nvPr/>
          </p:nvSpPr>
          <p:spPr>
            <a:xfrm>
              <a:off x="4762500" y="1381125"/>
              <a:ext cx="9525" cy="1000125"/>
            </a:xfrm>
            <a:custGeom>
              <a:avLst/>
              <a:gdLst/>
              <a:ahLst/>
              <a:cxnLst/>
              <a:rect l="l" t="t" r="r" b="b"/>
              <a:pathLst>
                <a:path w="9525" h="1000125">
                  <a:moveTo>
                    <a:pt x="0" y="0"/>
                  </a:moveTo>
                  <a:lnTo>
                    <a:pt x="0" y="1000125"/>
                  </a:lnTo>
                </a:path>
              </a:pathLst>
            </a:custGeom>
            <a:noFill/>
            <a:ln w="9525">
              <a:solidFill>
                <a:srgbClr val="E8E0D4"/>
              </a:solidFill>
            </a:ln>
          </p:spPr>
        </p:sp>
        <p:sp>
          <p:nvSpPr>
            <p:cNvPr id="11" name="TextBox 11"/>
            <p:cNvSpPr txBox="1"/>
            <p:nvPr/>
          </p:nvSpPr>
          <p:spPr>
            <a:xfrm>
              <a:off x="4935855" y="1425892"/>
              <a:ext cx="969957" cy="274320"/>
            </a:xfrm>
            <a:prstGeom prst="rect">
              <a:avLst/>
            </a:prstGeom>
            <a:noFill/>
            <a:ln>
              <a:noFill/>
            </a:ln>
          </p:spPr>
          <p:txBody>
            <a:bodyPr wrap="none" lIns="0" tIns="0" rIns="0" bIns="0" anchor="t" anchorCtr="0">
              <a:spAutoFit/>
            </a:bodyPr>
            <a:lstStyle/>
            <a:p>
              <a:pPr algn="l"/>
              <a:r>
                <a:rPr lang="zh-CN" sz="1350" b="1" dirty="0">
                  <a:solidFill>
                    <a:srgbClr val="D46B8C"/>
                  </a:solidFill>
                  <a:latin typeface="Arial"/>
                  <a:ea typeface="Microsoft YaHei"/>
                  <a:cs typeface="Arial"/>
                </a:rPr>
                <a:t>七通道 LED</a:t>
              </a:r>
            </a:p>
          </p:txBody>
        </p:sp>
        <p:sp>
          <p:nvSpPr>
            <p:cNvPr id="12" name="TextBox 12"/>
            <p:cNvSpPr txBox="1"/>
            <p:nvPr/>
          </p:nvSpPr>
          <p:spPr>
            <a:xfrm>
              <a:off x="4938712" y="1735931"/>
              <a:ext cx="2713911"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深蓝 · 青 · 绿 · 琥珀 · 红 · 暖白 · 冷白</a:t>
              </a:r>
            </a:p>
          </p:txBody>
        </p:sp>
        <p:sp>
          <p:nvSpPr>
            <p:cNvPr id="13" name="TextBox 13"/>
            <p:cNvSpPr txBox="1"/>
            <p:nvPr/>
          </p:nvSpPr>
          <p:spPr>
            <a:xfrm>
              <a:off x="4938712" y="1974056"/>
              <a:ext cx="1978819"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通道更多，可按波段局部补偿</a:t>
              </a:r>
            </a:p>
          </p:txBody>
        </p:sp>
        <p:sp>
          <p:nvSpPr>
            <p:cNvPr id="14" name="TextBox 14"/>
            <p:cNvSpPr txBox="1"/>
            <p:nvPr/>
          </p:nvSpPr>
          <p:spPr>
            <a:xfrm>
              <a:off x="4939665" y="2220278"/>
              <a:ext cx="2546985" cy="213360"/>
            </a:xfrm>
            <a:prstGeom prst="rect">
              <a:avLst/>
            </a:prstGeom>
            <a:noFill/>
            <a:ln>
              <a:noFill/>
            </a:ln>
          </p:spPr>
          <p:txBody>
            <a:bodyPr wrap="none" lIns="0" tIns="0" rIns="0" bIns="0" anchor="t" anchorCtr="0">
              <a:spAutoFit/>
            </a:bodyPr>
            <a:lstStyle/>
            <a:p>
              <a:pPr algn="l"/>
              <a:r>
                <a:rPr lang="zh-CN" sz="1050" dirty="0">
                  <a:solidFill>
                    <a:srgbClr val="8C8578"/>
                  </a:solidFill>
                  <a:latin typeface="Arial"/>
                  <a:ea typeface="Microsoft YaHei"/>
                  <a:cs typeface="Arial"/>
                </a:rPr>
                <a:t>课程定位：算法演示，暂未接入真实硬件</a:t>
              </a:r>
            </a:p>
          </p:txBody>
        </p:sp>
      </p:grpSp>
      <p:grpSp>
        <p:nvGrpSpPr>
          <p:cNvPr id="18" name="Group 18"/>
          <p:cNvGrpSpPr/>
          <p:nvPr/>
        </p:nvGrpSpPr>
        <p:grpSpPr>
          <a:xfrm>
            <a:off x="571500" y="2667000"/>
            <a:ext cx="11049000" cy="3143250"/>
            <a:chOff x="571500" y="2667000"/>
            <a:chExt cx="11049000" cy="3143250"/>
          </a:xfrm>
        </p:grpSpPr>
        <p:sp>
          <p:nvSpPr>
            <p:cNvPr id="16" name="Rectangle 16"/>
            <p:cNvSpPr/>
            <p:nvPr/>
          </p:nvSpPr>
          <p:spPr>
            <a:xfrm>
              <a:off x="571500" y="2667000"/>
              <a:ext cx="11049000" cy="3143250"/>
            </a:xfrm>
            <a:prstGeom prst="roundRect">
              <a:avLst>
                <a:gd name="adj" fmla="val 3636"/>
              </a:avLst>
            </a:prstGeom>
            <a:solidFill>
              <a:srgbClr val="FFF8EE"/>
            </a:solidFill>
            <a:ln>
              <a:noFill/>
            </a:ln>
          </p:spPr>
        </p:sp>
        <p:pic>
          <p:nvPicPr>
            <p:cNvPr id="17" name="Image 17"/>
            <p:cNvPicPr>
              <a:picLocks noChangeAspect="1"/>
            </p:cNvPicPr>
            <p:nvPr/>
          </p:nvPicPr>
          <p:blipFill>
            <a:blip r:embed="rId2"/>
            <a:stretch>
              <a:fillRect/>
            </a:stretch>
          </p:blipFill>
          <p:spPr>
            <a:xfrm>
              <a:off x="3709194" y="2762250"/>
              <a:ext cx="4773612" cy="2952750"/>
            </a:xfrm>
            <a:prstGeom prst="rect">
              <a:avLst/>
            </a:prstGeom>
          </p:spPr>
        </p:pic>
      </p:grpSp>
      <p:sp>
        <p:nvSpPr>
          <p:cNvPr id="19" name="Rectangle 19"/>
          <p:cNvSpPr/>
          <p:nvPr/>
        </p:nvSpPr>
        <p:spPr>
          <a:xfrm>
            <a:off x="571500" y="5953125"/>
            <a:ext cx="11049000" cy="428625"/>
          </a:xfrm>
          <a:prstGeom prst="roundRect">
            <a:avLst>
              <a:gd name="adj" fmla="val 17778"/>
            </a:avLst>
          </a:prstGeom>
          <a:solidFill>
            <a:srgbClr val="D46B8C">
              <a:alpha val="8000"/>
            </a:srgbClr>
          </a:solidFill>
          <a:ln>
            <a:noFill/>
          </a:ln>
        </p:spPr>
      </p:sp>
      <p:sp>
        <p:nvSpPr>
          <p:cNvPr id="20" name="TextBox 20"/>
          <p:cNvSpPr txBox="1"/>
          <p:nvPr/>
        </p:nvSpPr>
        <p:spPr>
          <a:xfrm>
            <a:off x="745808" y="6082189"/>
            <a:ext cx="5789730" cy="259080"/>
          </a:xfrm>
          <a:prstGeom prst="rect">
            <a:avLst/>
          </a:prstGeom>
          <a:noFill/>
          <a:ln>
            <a:noFill/>
          </a:ln>
        </p:spPr>
        <p:txBody>
          <a:bodyPr wrap="none" lIns="0" tIns="0" rIns="0" bIns="0" anchor="t" anchorCtr="0">
            <a:spAutoFit/>
          </a:bodyPr>
          <a:lstStyle/>
          <a:p>
            <a:pPr algn="l"/>
            <a:r>
              <a:rPr lang="zh-CN" sz="1275" b="1" dirty="0">
                <a:solidFill>
                  <a:srgbClr val="D46B8C"/>
                </a:solidFill>
                <a:latin typeface="Arial"/>
                <a:ea typeface="Microsoft YaHei"/>
                <a:cs typeface="Arial"/>
              </a:rPr>
              <a:t>多通道 LED 自由度更多，能对蓝光、青绿、黄绿和红光波段做更细的补偿</a:t>
            </a:r>
          </a:p>
        </p:txBody>
      </p:sp>
      <p:grpSp>
        <p:nvGrpSpPr>
          <p:cNvPr id="23" name="Group 23"/>
          <p:cNvGrpSpPr/>
          <p:nvPr/>
        </p:nvGrpSpPr>
        <p:grpSpPr>
          <a:xfrm>
            <a:off x="561022" y="6483191"/>
            <a:ext cx="11069955" cy="167640"/>
            <a:chOff x="561022" y="6483191"/>
            <a:chExt cx="11069955" cy="167640"/>
          </a:xfrm>
        </p:grpSpPr>
        <p:sp>
          <p:nvSpPr>
            <p:cNvPr id="21" name="TextBox 21"/>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22" name="TextBox 22"/>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12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image">
                                      <p:cBhvr>
                                        <p:cTn id="7" dur="400"/>
                                        <p:tgtEl>
                                          <p:spTgt spid="1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BF7"/>
          </a:solidFill>
          <a:ln>
            <a:noFill/>
          </a:ln>
        </p:spPr>
      </p:sp>
      <p:grpSp>
        <p:nvGrpSpPr>
          <p:cNvPr id="6" name="Group 6"/>
          <p:cNvGrpSpPr/>
          <p:nvPr/>
        </p:nvGrpSpPr>
        <p:grpSpPr>
          <a:xfrm>
            <a:off x="539115" y="387191"/>
            <a:ext cx="1492949" cy="808197"/>
            <a:chOff x="539115" y="387191"/>
            <a:chExt cx="1492949" cy="808197"/>
          </a:xfrm>
        </p:grpSpPr>
        <p:sp>
          <p:nvSpPr>
            <p:cNvPr id="3" name="TextBox 3"/>
            <p:cNvSpPr txBox="1"/>
            <p:nvPr/>
          </p:nvSpPr>
          <p:spPr>
            <a:xfrm>
              <a:off x="561022" y="387191"/>
              <a:ext cx="1110091"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COURSE DEFENSE · 13</a:t>
              </a:r>
            </a:p>
          </p:txBody>
        </p:sp>
        <p:sp>
          <p:nvSpPr>
            <p:cNvPr id="4" name="Rectangle 4"/>
            <p:cNvSpPr/>
            <p:nvPr/>
          </p:nvSpPr>
          <p:spPr>
            <a:xfrm>
              <a:off x="571500" y="619125"/>
              <a:ext cx="476250" cy="28575"/>
            </a:xfrm>
            <a:prstGeom prst="roundRect">
              <a:avLst>
                <a:gd name="adj" fmla="val 50000"/>
              </a:avLst>
            </a:prstGeom>
            <a:solidFill>
              <a:srgbClr val="64748B"/>
            </a:solidFill>
            <a:ln>
              <a:noFill/>
            </a:ln>
          </p:spPr>
        </p:sp>
        <p:sp>
          <p:nvSpPr>
            <p:cNvPr id="5" name="TextBox 5"/>
            <p:cNvSpPr txBox="1"/>
            <p:nvPr/>
          </p:nvSpPr>
          <p:spPr>
            <a:xfrm>
              <a:off x="539115" y="677228"/>
              <a:ext cx="1492949" cy="518160"/>
            </a:xfrm>
            <a:prstGeom prst="rect">
              <a:avLst/>
            </a:prstGeom>
            <a:noFill/>
            <a:ln>
              <a:noFill/>
            </a:ln>
          </p:spPr>
          <p:txBody>
            <a:bodyPr wrap="none" lIns="0" tIns="0" rIns="0" bIns="0" anchor="t" anchorCtr="0">
              <a:spAutoFit/>
            </a:bodyPr>
            <a:lstStyle/>
            <a:p>
              <a:pPr algn="l"/>
              <a:r>
                <a:rPr lang="zh-CN" sz="2550" b="1" dirty="0">
                  <a:solidFill>
                    <a:srgbClr val="2D2A26"/>
                  </a:solidFill>
                  <a:latin typeface="Arial"/>
                  <a:ea typeface="Microsoft YaHei"/>
                  <a:cs typeface="Arial"/>
                </a:rPr>
                <a:t>项目总结</a:t>
              </a:r>
            </a:p>
          </p:txBody>
        </p:sp>
      </p:grpSp>
      <p:grpSp>
        <p:nvGrpSpPr>
          <p:cNvPr id="13" name="Group 13"/>
          <p:cNvGrpSpPr/>
          <p:nvPr/>
        </p:nvGrpSpPr>
        <p:grpSpPr>
          <a:xfrm>
            <a:off x="571500" y="1238250"/>
            <a:ext cx="5334000" cy="4572000"/>
            <a:chOff x="571500" y="1238250"/>
            <a:chExt cx="5334000" cy="4572000"/>
          </a:xfrm>
        </p:grpSpPr>
        <p:sp>
          <p:nvSpPr>
            <p:cNvPr id="7" name="Rectangle 7"/>
            <p:cNvSpPr/>
            <p:nvPr/>
          </p:nvSpPr>
          <p:spPr>
            <a:xfrm>
              <a:off x="571500" y="1238250"/>
              <a:ext cx="5334000" cy="2286000"/>
            </a:xfrm>
            <a:prstGeom prst="roundRect">
              <a:avLst>
                <a:gd name="adj" fmla="val 5000"/>
              </a:avLst>
            </a:prstGeom>
            <a:solidFill>
              <a:srgbClr val="FFF8EE"/>
            </a:solidFill>
            <a:ln>
              <a:noFill/>
            </a:ln>
          </p:spPr>
        </p:sp>
        <p:sp>
          <p:nvSpPr>
            <p:cNvPr id="8" name="TextBox 8"/>
            <p:cNvSpPr txBox="1"/>
            <p:nvPr/>
          </p:nvSpPr>
          <p:spPr>
            <a:xfrm>
              <a:off x="742950" y="1409700"/>
              <a:ext cx="878205" cy="304800"/>
            </a:xfrm>
            <a:prstGeom prst="rect">
              <a:avLst/>
            </a:prstGeom>
            <a:noFill/>
            <a:ln>
              <a:noFill/>
            </a:ln>
          </p:spPr>
          <p:txBody>
            <a:bodyPr wrap="none" lIns="0" tIns="0" rIns="0" bIns="0" anchor="t" anchorCtr="0">
              <a:spAutoFit/>
            </a:bodyPr>
            <a:lstStyle/>
            <a:p>
              <a:pPr algn="l"/>
              <a:r>
                <a:rPr lang="zh-CN" sz="1500" b="1" dirty="0">
                  <a:solidFill>
                    <a:srgbClr val="3D8B5E"/>
                  </a:solidFill>
                  <a:latin typeface="Arial"/>
                  <a:ea typeface="Microsoft YaHei"/>
                  <a:cs typeface="Arial"/>
                </a:rPr>
                <a:t>项目特色</a:t>
              </a:r>
            </a:p>
          </p:txBody>
        </p:sp>
        <p:sp>
          <p:nvSpPr>
            <p:cNvPr id="9" name="TextBox 9"/>
            <p:cNvSpPr txBox="1"/>
            <p:nvPr/>
          </p:nvSpPr>
          <p:spPr>
            <a:xfrm>
              <a:off x="746760" y="1775460"/>
              <a:ext cx="3497580" cy="1310640"/>
            </a:xfrm>
            <a:prstGeom prst="rect">
              <a:avLst/>
            </a:prstGeom>
            <a:noFill/>
            <a:ln>
              <a:noFill/>
            </a:ln>
          </p:spPr>
          <p:txBody>
            <a:bodyPr wrap="square" lIns="0" tIns="0" rIns="0" bIns="0" anchor="t" anchorCtr="0"/>
            <a:lstStyle/>
            <a:p>
              <a:pPr algn="l">
                <a:lnSpc>
                  <a:spcPts val="2100"/>
                </a:lnSpc>
              </a:pPr>
              <a:r>
                <a:rPr lang="zh-CN" sz="1200" dirty="0">
                  <a:solidFill>
                    <a:srgbClr val="2D2A26"/>
                  </a:solidFill>
                  <a:latin typeface="Arial"/>
                  <a:ea typeface="Microsoft YaHei"/>
                  <a:cs typeface="Arial"/>
                </a:rPr>
                <a:t>1. 使用真实公开天光光谱数据</a:t>
              </a:r>
              <a:r>
                <a:rPr lang="zh-CN" sz="1200" dirty="0">
                  <a:solidFill>
                    <a:srgbClr val="2D2A26"/>
                  </a:solidFill>
                  <a:latin typeface="Arial"/>
                  <a:ea typeface="Microsoft YaHei"/>
                  <a:cs typeface="Arial"/>
                </a:rPr>
                <a:t>2. 明确"环境特征 → PCA 系数 → 光谱还原"建模路径</a:t>
              </a:r>
              <a:r>
                <a:rPr lang="zh-CN" sz="1200" dirty="0">
                  <a:solidFill>
                    <a:srgbClr val="2D2A26"/>
                  </a:solidFill>
                  <a:latin typeface="Arial"/>
                  <a:ea typeface="Microsoft YaHei"/>
                  <a:cs typeface="Arial"/>
                </a:rPr>
                <a:t>3. 覆盖数据处理、PCA、机器学习、可视化全流程</a:t>
              </a:r>
              <a:r>
                <a:rPr lang="zh-CN" sz="1200" dirty="0">
                  <a:solidFill>
                    <a:srgbClr val="2D2A26"/>
                  </a:solidFill>
                  <a:latin typeface="Arial"/>
                  <a:ea typeface="Microsoft YaHei"/>
                  <a:cs typeface="Arial"/>
                </a:rPr>
                <a:t>4. 多模型统一比较，按结果选择模型</a:t>
              </a:r>
              <a:r>
                <a:rPr lang="zh-CN" sz="1200" dirty="0">
                  <a:solidFill>
                    <a:srgbClr val="2D2A26"/>
                  </a:solidFill>
                  <a:latin typeface="Arial"/>
                  <a:ea typeface="Microsoft YaHei"/>
                  <a:cs typeface="Arial"/>
                </a:rPr>
                <a:t>5. 预测光谱用于照明补偿，形成应用闭环</a:t>
              </a:r>
            </a:p>
          </p:txBody>
        </p:sp>
        <p:sp>
          <p:nvSpPr>
            <p:cNvPr id="10" name="Rectangle 10"/>
            <p:cNvSpPr/>
            <p:nvPr/>
          </p:nvSpPr>
          <p:spPr>
            <a:xfrm>
              <a:off x="571500" y="3714750"/>
              <a:ext cx="5334000" cy="2095500"/>
            </a:xfrm>
            <a:prstGeom prst="roundRect">
              <a:avLst>
                <a:gd name="adj" fmla="val 5455"/>
              </a:avLst>
            </a:prstGeom>
            <a:solidFill>
              <a:srgbClr val="FFF8EE"/>
            </a:solidFill>
            <a:ln>
              <a:noFill/>
            </a:ln>
          </p:spPr>
        </p:sp>
        <p:sp>
          <p:nvSpPr>
            <p:cNvPr id="11" name="TextBox 11"/>
            <p:cNvSpPr txBox="1"/>
            <p:nvPr/>
          </p:nvSpPr>
          <p:spPr>
            <a:xfrm>
              <a:off x="742950" y="3886200"/>
              <a:ext cx="878205" cy="304800"/>
            </a:xfrm>
            <a:prstGeom prst="rect">
              <a:avLst/>
            </a:prstGeom>
            <a:noFill/>
            <a:ln>
              <a:noFill/>
            </a:ln>
          </p:spPr>
          <p:txBody>
            <a:bodyPr wrap="none" lIns="0" tIns="0" rIns="0" bIns="0" anchor="t" anchorCtr="0">
              <a:spAutoFit/>
            </a:bodyPr>
            <a:lstStyle/>
            <a:p>
              <a:pPr algn="l"/>
              <a:r>
                <a:rPr lang="zh-CN" sz="1500" b="1" dirty="0">
                  <a:solidFill>
                    <a:srgbClr val="E06B5E"/>
                  </a:solidFill>
                  <a:latin typeface="Arial"/>
                  <a:ea typeface="Microsoft YaHei"/>
                  <a:cs typeface="Arial"/>
                </a:rPr>
                <a:t>主要不足</a:t>
              </a:r>
            </a:p>
          </p:txBody>
        </p:sp>
        <p:sp>
          <p:nvSpPr>
            <p:cNvPr id="12" name="TextBox 12"/>
            <p:cNvSpPr txBox="1"/>
            <p:nvPr/>
          </p:nvSpPr>
          <p:spPr>
            <a:xfrm>
              <a:off x="746760" y="4251960"/>
              <a:ext cx="2529840" cy="1043940"/>
            </a:xfrm>
            <a:prstGeom prst="rect">
              <a:avLst/>
            </a:prstGeom>
            <a:noFill/>
            <a:ln>
              <a:noFill/>
            </a:ln>
          </p:spPr>
          <p:txBody>
            <a:bodyPr wrap="square" lIns="0" tIns="0" rIns="0" bIns="0" anchor="t" anchorCtr="0"/>
            <a:lstStyle/>
            <a:p>
              <a:pPr algn="l">
                <a:lnSpc>
                  <a:spcPts val="2100"/>
                </a:lnSpc>
              </a:pPr>
              <a:r>
                <a:rPr lang="zh-CN" sz="1200" dirty="0">
                  <a:solidFill>
                    <a:srgbClr val="2D2A26"/>
                  </a:solidFill>
                  <a:latin typeface="Arial"/>
                  <a:ea typeface="Microsoft YaHei"/>
                  <a:cs typeface="Arial"/>
                </a:rPr>
                <a:t>1. 样本集中在少数站点</a:t>
              </a:r>
              <a:r>
                <a:rPr lang="zh-CN" sz="1200" dirty="0">
                  <a:solidFill>
                    <a:srgbClr val="2D2A26"/>
                  </a:solidFill>
                  <a:latin typeface="Arial"/>
                  <a:ea typeface="Microsoft YaHei"/>
                  <a:cs typeface="Arial"/>
                </a:rPr>
                <a:t>2. 天气数据与光谱测量非完全同步</a:t>
              </a:r>
              <a:r>
                <a:rPr lang="zh-CN" sz="1200" dirty="0">
                  <a:solidFill>
                    <a:srgbClr val="2D2A26"/>
                  </a:solidFill>
                  <a:latin typeface="Arial"/>
                  <a:ea typeface="Microsoft YaHei"/>
                  <a:cs typeface="Arial"/>
                </a:rPr>
                <a:t>3. 模型估计不能完全替代专业光谱仪</a:t>
              </a:r>
              <a:r>
                <a:rPr lang="zh-CN" sz="1200" dirty="0">
                  <a:solidFill>
                    <a:srgbClr val="2D2A26"/>
                  </a:solidFill>
                  <a:latin typeface="Arial"/>
                  <a:ea typeface="Microsoft YaHei"/>
                  <a:cs typeface="Arial"/>
                </a:rPr>
                <a:t>4. 当前是算法演示，未接入真实硬件</a:t>
              </a:r>
            </a:p>
          </p:txBody>
        </p:sp>
      </p:grpSp>
      <p:grpSp>
        <p:nvGrpSpPr>
          <p:cNvPr id="27" name="Group 27"/>
          <p:cNvGrpSpPr/>
          <p:nvPr/>
        </p:nvGrpSpPr>
        <p:grpSpPr>
          <a:xfrm>
            <a:off x="6191250" y="1238250"/>
            <a:ext cx="5429250" cy="4719638"/>
            <a:chOff x="6191250" y="1238250"/>
            <a:chExt cx="5429250" cy="4719638"/>
          </a:xfrm>
        </p:grpSpPr>
        <p:sp>
          <p:nvSpPr>
            <p:cNvPr id="14" name="Rectangle 14"/>
            <p:cNvSpPr/>
            <p:nvPr/>
          </p:nvSpPr>
          <p:spPr>
            <a:xfrm>
              <a:off x="6191250" y="1238250"/>
              <a:ext cx="5429250" cy="2286000"/>
            </a:xfrm>
            <a:prstGeom prst="roundRect">
              <a:avLst>
                <a:gd name="adj" fmla="val 5000"/>
              </a:avLst>
            </a:prstGeom>
            <a:solidFill>
              <a:srgbClr val="FFF8EE"/>
            </a:solidFill>
            <a:ln>
              <a:noFill/>
            </a:ln>
          </p:spPr>
        </p:sp>
        <p:sp>
          <p:nvSpPr>
            <p:cNvPr id="15" name="TextBox 15"/>
            <p:cNvSpPr txBox="1"/>
            <p:nvPr/>
          </p:nvSpPr>
          <p:spPr>
            <a:xfrm>
              <a:off x="6362700" y="1409700"/>
              <a:ext cx="878205" cy="304800"/>
            </a:xfrm>
            <a:prstGeom prst="rect">
              <a:avLst/>
            </a:prstGeom>
            <a:noFill/>
            <a:ln>
              <a:noFill/>
            </a:ln>
          </p:spPr>
          <p:txBody>
            <a:bodyPr wrap="none" lIns="0" tIns="0" rIns="0" bIns="0" anchor="t" anchorCtr="0">
              <a:spAutoFit/>
            </a:bodyPr>
            <a:lstStyle/>
            <a:p>
              <a:pPr algn="l"/>
              <a:r>
                <a:rPr lang="zh-CN" sz="1500" b="1" dirty="0">
                  <a:solidFill>
                    <a:srgbClr val="64748B"/>
                  </a:solidFill>
                  <a:latin typeface="Arial"/>
                  <a:ea typeface="Microsoft YaHei"/>
                  <a:cs typeface="Arial"/>
                </a:rPr>
                <a:t>小组分工</a:t>
              </a:r>
            </a:p>
          </p:txBody>
        </p:sp>
        <p:sp>
          <p:nvSpPr>
            <p:cNvPr id="16" name="Rectangle 16"/>
            <p:cNvSpPr/>
            <p:nvPr/>
          </p:nvSpPr>
          <p:spPr>
            <a:xfrm>
              <a:off x="6381750" y="1762125"/>
              <a:ext cx="5048250" cy="666750"/>
            </a:xfrm>
            <a:prstGeom prst="roundRect">
              <a:avLst>
                <a:gd name="adj" fmla="val 11429"/>
              </a:avLst>
            </a:prstGeom>
            <a:solidFill>
              <a:srgbClr val="64748B">
                <a:alpha val="6000"/>
              </a:srgbClr>
            </a:solidFill>
            <a:ln>
              <a:noFill/>
            </a:ln>
          </p:spPr>
        </p:sp>
        <p:sp>
          <p:nvSpPr>
            <p:cNvPr id="17" name="TextBox 17"/>
            <p:cNvSpPr txBox="1"/>
            <p:nvPr/>
          </p:nvSpPr>
          <p:spPr>
            <a:xfrm>
              <a:off x="6557010" y="1870710"/>
              <a:ext cx="534543" cy="243840"/>
            </a:xfrm>
            <a:prstGeom prst="rect">
              <a:avLst/>
            </a:prstGeom>
            <a:noFill/>
            <a:ln>
              <a:noFill/>
            </a:ln>
          </p:spPr>
          <p:txBody>
            <a:bodyPr wrap="none" lIns="0" tIns="0" rIns="0" bIns="0" anchor="t" anchorCtr="0">
              <a:spAutoFit/>
            </a:bodyPr>
            <a:lstStyle/>
            <a:p>
              <a:pPr algn="l"/>
              <a:r>
                <a:rPr lang="zh-CN" sz="1200" b="1" dirty="0">
                  <a:solidFill>
                    <a:srgbClr val="64748B"/>
                  </a:solidFill>
                  <a:latin typeface="Arial"/>
                  <a:ea typeface="Microsoft YaHei"/>
                  <a:cs typeface="Arial"/>
                </a:rPr>
                <a:t>李安逸</a:t>
              </a:r>
            </a:p>
          </p:txBody>
        </p:sp>
        <p:sp>
          <p:nvSpPr>
            <p:cNvPr id="18" name="TextBox 18"/>
            <p:cNvSpPr txBox="1"/>
            <p:nvPr/>
          </p:nvSpPr>
          <p:spPr>
            <a:xfrm>
              <a:off x="6557962" y="2116931"/>
              <a:ext cx="3764042"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报告、方法分析、PCA 与模型分析、PPT 逻辑与答辩表达</a:t>
              </a:r>
            </a:p>
          </p:txBody>
        </p:sp>
        <p:sp>
          <p:nvSpPr>
            <p:cNvPr id="19" name="Rectangle 19"/>
            <p:cNvSpPr/>
            <p:nvPr/>
          </p:nvSpPr>
          <p:spPr>
            <a:xfrm>
              <a:off x="6381750" y="2524125"/>
              <a:ext cx="5048250" cy="666750"/>
            </a:xfrm>
            <a:prstGeom prst="roundRect">
              <a:avLst>
                <a:gd name="adj" fmla="val 11429"/>
              </a:avLst>
            </a:prstGeom>
            <a:solidFill>
              <a:srgbClr val="64748B">
                <a:alpha val="6000"/>
              </a:srgbClr>
            </a:solidFill>
            <a:ln>
              <a:noFill/>
            </a:ln>
          </p:spPr>
        </p:sp>
        <p:sp>
          <p:nvSpPr>
            <p:cNvPr id="20" name="TextBox 20"/>
            <p:cNvSpPr txBox="1"/>
            <p:nvPr/>
          </p:nvSpPr>
          <p:spPr>
            <a:xfrm>
              <a:off x="6557010" y="2632710"/>
              <a:ext cx="534543" cy="243840"/>
            </a:xfrm>
            <a:prstGeom prst="rect">
              <a:avLst/>
            </a:prstGeom>
            <a:noFill/>
            <a:ln>
              <a:noFill/>
            </a:ln>
          </p:spPr>
          <p:txBody>
            <a:bodyPr wrap="none" lIns="0" tIns="0" rIns="0" bIns="0" anchor="t" anchorCtr="0">
              <a:spAutoFit/>
            </a:bodyPr>
            <a:lstStyle/>
            <a:p>
              <a:pPr algn="l"/>
              <a:r>
                <a:rPr lang="zh-CN" sz="1200" b="1" dirty="0">
                  <a:solidFill>
                    <a:srgbClr val="64748B"/>
                  </a:solidFill>
                  <a:latin typeface="Arial"/>
                  <a:ea typeface="Microsoft YaHei"/>
                  <a:cs typeface="Arial"/>
                </a:rPr>
                <a:t>黄奕滔</a:t>
              </a:r>
            </a:p>
          </p:txBody>
        </p:sp>
        <p:sp>
          <p:nvSpPr>
            <p:cNvPr id="21" name="TextBox 21"/>
            <p:cNvSpPr txBox="1"/>
            <p:nvPr/>
          </p:nvSpPr>
          <p:spPr>
            <a:xfrm>
              <a:off x="6557962" y="2878931"/>
              <a:ext cx="4071580" cy="228600"/>
            </a:xfrm>
            <a:prstGeom prst="rect">
              <a:avLst/>
            </a:prstGeom>
            <a:noFill/>
            <a:ln>
              <a:noFill/>
            </a:ln>
          </p:spPr>
          <p:txBody>
            <a:bodyPr wrap="none" lIns="0" tIns="0" rIns="0" bIns="0" anchor="t" anchorCtr="0">
              <a:spAutoFit/>
            </a:bodyPr>
            <a:lstStyle/>
            <a:p>
              <a:pPr algn="l"/>
              <a:r>
                <a:rPr lang="zh-CN" sz="1125" dirty="0">
                  <a:solidFill>
                    <a:srgbClr val="2D2A26"/>
                  </a:solidFill>
                  <a:latin typeface="Arial"/>
                  <a:ea typeface="Microsoft YaHei"/>
                  <a:cs typeface="Arial"/>
                </a:rPr>
                <a:t>数据处理、代码实现、模型训练、Streamlit 页面、代码注释</a:t>
              </a:r>
            </a:p>
          </p:txBody>
        </p:sp>
        <p:sp>
          <p:nvSpPr>
            <p:cNvPr id="22" name="Rectangle 22"/>
            <p:cNvSpPr/>
            <p:nvPr/>
          </p:nvSpPr>
          <p:spPr>
            <a:xfrm>
              <a:off x="6191250" y="3714750"/>
              <a:ext cx="5429250" cy="2095500"/>
            </a:xfrm>
            <a:prstGeom prst="roundRect">
              <a:avLst>
                <a:gd name="adj" fmla="val 5455"/>
              </a:avLst>
            </a:prstGeom>
            <a:solidFill>
              <a:srgbClr val="FFF8EE"/>
            </a:solidFill>
            <a:ln>
              <a:noFill/>
            </a:ln>
          </p:spPr>
        </p:sp>
        <p:sp>
          <p:nvSpPr>
            <p:cNvPr id="23" name="TextBox 23"/>
            <p:cNvSpPr txBox="1"/>
            <p:nvPr/>
          </p:nvSpPr>
          <p:spPr>
            <a:xfrm>
              <a:off x="6362700" y="3886200"/>
              <a:ext cx="1508284" cy="304800"/>
            </a:xfrm>
            <a:prstGeom prst="rect">
              <a:avLst/>
            </a:prstGeom>
            <a:noFill/>
            <a:ln>
              <a:noFill/>
            </a:ln>
          </p:spPr>
          <p:txBody>
            <a:bodyPr wrap="none" lIns="0" tIns="0" rIns="0" bIns="0" anchor="t" anchorCtr="0">
              <a:spAutoFit/>
            </a:bodyPr>
            <a:lstStyle/>
            <a:p>
              <a:pPr algn="l"/>
              <a:r>
                <a:rPr lang="zh-CN" sz="1500" b="1" dirty="0">
                  <a:solidFill>
                    <a:srgbClr val="64748B"/>
                  </a:solidFill>
                  <a:latin typeface="Arial"/>
                  <a:ea typeface="Microsoft YaHei"/>
                  <a:cs typeface="Arial"/>
                </a:rPr>
                <a:t>大模型使用情况</a:t>
              </a:r>
            </a:p>
          </p:txBody>
        </p:sp>
        <p:sp>
          <p:nvSpPr>
            <p:cNvPr id="24" name="TextBox 24"/>
            <p:cNvSpPr txBox="1"/>
            <p:nvPr/>
          </p:nvSpPr>
          <p:spPr>
            <a:xfrm>
              <a:off x="6366510" y="4251960"/>
              <a:ext cx="2141220" cy="1224915"/>
            </a:xfrm>
            <a:prstGeom prst="rect">
              <a:avLst/>
            </a:prstGeom>
            <a:noFill/>
            <a:ln>
              <a:noFill/>
            </a:ln>
          </p:spPr>
          <p:txBody>
            <a:bodyPr wrap="square" lIns="0" tIns="0" rIns="0" bIns="0" anchor="t" anchorCtr="0"/>
            <a:lstStyle/>
            <a:p>
              <a:pPr algn="l">
                <a:lnSpc>
                  <a:spcPts val="1875"/>
                </a:lnSpc>
              </a:pPr>
              <a:r>
                <a:rPr lang="zh-CN" sz="1200" dirty="0">
                  <a:solidFill>
                    <a:srgbClr val="2D2A26"/>
                  </a:solidFill>
                  <a:latin typeface="Arial"/>
                  <a:ea typeface="Microsoft YaHei"/>
                  <a:cs typeface="Arial"/>
                </a:rPr>
                <a:t>使用大模型辅助的环节：</a:t>
              </a:r>
            </a:p>
            <a:p>
              <a:pPr algn="l">
                <a:lnSpc>
                  <a:spcPts val="1875"/>
                </a:lnSpc>
                <a:spcBef>
                  <a:spcPts val="225"/>
                </a:spcBef>
              </a:pPr>
              <a:r>
                <a:rPr lang="zh-CN" sz="1200" dirty="0">
                  <a:solidFill>
                    <a:srgbClr val="2D2A26"/>
                  </a:solidFill>
                  <a:latin typeface="Arial"/>
                  <a:ea typeface="Microsoft YaHei"/>
                  <a:cs typeface="Arial"/>
                </a:rPr>
                <a:t>· 数据源收集和汇总</a:t>
              </a:r>
              <a:r>
                <a:rPr lang="zh-CN" sz="1200" dirty="0">
                  <a:solidFill>
                    <a:srgbClr val="2D2A26"/>
                  </a:solidFill>
                  <a:latin typeface="Arial"/>
                  <a:ea typeface="Microsoft YaHei"/>
                  <a:cs typeface="Arial"/>
                </a:rPr>
                <a:t>· 报告结构整理和辅助编写</a:t>
              </a:r>
              <a:r>
                <a:rPr lang="zh-CN" sz="1200" dirty="0">
                  <a:solidFill>
                    <a:srgbClr val="2D2A26"/>
                  </a:solidFill>
                  <a:latin typeface="Arial"/>
                  <a:ea typeface="Microsoft YaHei"/>
                  <a:cs typeface="Arial"/>
                </a:rPr>
                <a:t>· 代码注释与编写辅助</a:t>
              </a:r>
              <a:r>
                <a:rPr lang="zh-CN" sz="1200" dirty="0">
                  <a:solidFill>
                    <a:srgbClr val="2D2A26"/>
                  </a:solidFill>
                  <a:latin typeface="Arial"/>
                  <a:ea typeface="Microsoft YaHei"/>
                  <a:cs typeface="Arial"/>
                </a:rPr>
                <a:t>· 可视化表达相关代码编写辅助</a:t>
              </a:r>
            </a:p>
          </p:txBody>
        </p:sp>
        <p:sp>
          <p:nvSpPr>
            <p:cNvPr id="25" name="Line 25"/>
            <p:cNvSpPr/>
            <p:nvPr/>
          </p:nvSpPr>
          <p:spPr>
            <a:xfrm>
              <a:off x="6381750" y="5619750"/>
              <a:ext cx="5048250" cy="9525"/>
            </a:xfrm>
            <a:custGeom>
              <a:avLst/>
              <a:gdLst/>
              <a:ahLst/>
              <a:cxnLst/>
              <a:rect l="l" t="t" r="r" b="b"/>
              <a:pathLst>
                <a:path w="5048250" h="9525">
                  <a:moveTo>
                    <a:pt x="0" y="0"/>
                  </a:moveTo>
                  <a:lnTo>
                    <a:pt x="5048250" y="0"/>
                  </a:lnTo>
                </a:path>
              </a:pathLst>
            </a:custGeom>
            <a:noFill/>
            <a:ln w="9525">
              <a:solidFill>
                <a:srgbClr val="E8E0D4"/>
              </a:solidFill>
            </a:ln>
          </p:spPr>
        </p:sp>
        <p:sp>
          <p:nvSpPr>
            <p:cNvPr id="26" name="TextBox 26"/>
            <p:cNvSpPr txBox="1"/>
            <p:nvPr/>
          </p:nvSpPr>
          <p:spPr>
            <a:xfrm>
              <a:off x="6368415" y="5744528"/>
              <a:ext cx="4913281" cy="213360"/>
            </a:xfrm>
            <a:prstGeom prst="rect">
              <a:avLst/>
            </a:prstGeom>
            <a:noFill/>
            <a:ln>
              <a:noFill/>
            </a:ln>
          </p:spPr>
          <p:txBody>
            <a:bodyPr wrap="none" lIns="0" tIns="0" rIns="0" bIns="0" anchor="t" anchorCtr="0">
              <a:spAutoFit/>
            </a:bodyPr>
            <a:lstStyle/>
            <a:p>
              <a:pPr algn="l"/>
              <a:r>
                <a:rPr lang="zh-CN" sz="1050" dirty="0">
                  <a:solidFill>
                    <a:srgbClr val="8C8578"/>
                  </a:solidFill>
                  <a:latin typeface="Arial"/>
                  <a:ea typeface="Microsoft YaHei"/>
                  <a:cs typeface="Arial"/>
                </a:rPr>
                <a:t>核心思想、计划和整体方案由队员讨论完成，模型和结果由 Python 代码生成。</a:t>
              </a:r>
            </a:p>
          </p:txBody>
        </p:sp>
      </p:grpSp>
      <p:grpSp>
        <p:nvGrpSpPr>
          <p:cNvPr id="30" name="Group 30"/>
          <p:cNvGrpSpPr/>
          <p:nvPr/>
        </p:nvGrpSpPr>
        <p:grpSpPr>
          <a:xfrm>
            <a:off x="561022" y="6483191"/>
            <a:ext cx="11069955" cy="167640"/>
            <a:chOff x="561022" y="6483191"/>
            <a:chExt cx="11069955" cy="167640"/>
          </a:xfrm>
        </p:grpSpPr>
        <p:sp>
          <p:nvSpPr>
            <p:cNvPr id="28" name="TextBox 28"/>
            <p:cNvSpPr txBox="1"/>
            <p:nvPr/>
          </p:nvSpPr>
          <p:spPr>
            <a:xfrm>
              <a:off x="561022" y="6483191"/>
              <a:ext cx="2771299" cy="167640"/>
            </a:xfrm>
            <a:prstGeom prst="rect">
              <a:avLst/>
            </a:prstGeom>
            <a:noFill/>
            <a:ln>
              <a:noFill/>
            </a:ln>
          </p:spPr>
          <p:txBody>
            <a:bodyPr wrap="none" lIns="0" tIns="0" rIns="0" bIns="0" anchor="t" anchorCtr="0">
              <a:spAutoFit/>
            </a:bodyPr>
            <a:lstStyle/>
            <a:p>
              <a:pPr algn="l"/>
              <a:r>
                <a:rPr lang="zh-CN" sz="825" dirty="0">
                  <a:solidFill>
                    <a:srgbClr val="B0A898"/>
                  </a:solidFill>
                  <a:latin typeface="Arial"/>
                  <a:ea typeface="Microsoft YaHei"/>
                  <a:cs typeface="Arial"/>
                </a:rPr>
                <a:t>基于真实天光数据的自然光光谱估计与室内照明补偿设计</a:t>
              </a:r>
            </a:p>
          </p:txBody>
        </p:sp>
        <p:sp>
          <p:nvSpPr>
            <p:cNvPr id="29" name="TextBox 29"/>
            <p:cNvSpPr txBox="1"/>
            <p:nvPr/>
          </p:nvSpPr>
          <p:spPr>
            <a:xfrm>
              <a:off x="11241476" y="6483191"/>
              <a:ext cx="389501" cy="167640"/>
            </a:xfrm>
            <a:prstGeom prst="rect">
              <a:avLst/>
            </a:prstGeom>
            <a:noFill/>
            <a:ln>
              <a:noFill/>
            </a:ln>
          </p:spPr>
          <p:txBody>
            <a:bodyPr wrap="none" lIns="0" tIns="0" rIns="0" bIns="0" anchor="t" anchorCtr="0">
              <a:spAutoFit/>
            </a:bodyPr>
            <a:lstStyle/>
            <a:p>
              <a:pPr algn="r"/>
              <a:r>
                <a:rPr lang="zh-CN" sz="825" dirty="0">
                  <a:solidFill>
                    <a:srgbClr val="B0A898"/>
                  </a:solidFill>
                  <a:latin typeface="Arial"/>
                  <a:ea typeface="Microsoft YaHei"/>
                  <a:cs typeface="Arial"/>
                </a:rPr>
                <a:t>13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slide(fromBottom)">
                                      <p:cBhvr>
                                        <p:cTn id="11"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2026-06-15T07:31:39Z</dcterms:created>
  <dcterms:modified xsi:type="dcterms:W3CDTF">2026-06-15T07:31:39Z</dcterms:modified>
  <cp:category/>
  <cp:contentStatus/>
</cp:coreProperties>
</file>