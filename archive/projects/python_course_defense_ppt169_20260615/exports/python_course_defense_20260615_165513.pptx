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完成题目说明。我们的课程设计题目是自然光光谱预测与室内照明补偿设计。核心想法是：不是只看室内灯够不够亮，而是进一步关注自然光的光谱形状，并尝试用机器学习估计它，最后把估计结果用于LED补偿。这里强调三个基础数字：四十一个波长点、五千六百六十四条样本、前五个PCA主成分累计解释方差约百分之九十八点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研究背景。人长期在室内，照明对学习、工作和视觉舒适都很重要。传统照明通常关注照度和色温，但这两个指标只是对光的高度压缩。即使两种光亮度和色温相同，实际光谱也可能不同。右侧图展示了不同天气下实测平均相对光谱的差异，说明自然光的光谱会随环境变化，因此有必要从光谱角度研究室内照明质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问题来了：光谱虽然有价值，但直接测量成本很高。专业光谱仪难以在普通场景普及。所以我们尝试用更容易获得的环境特征，比如天气、时间、地点和太阳位置，通过机器学习来估计自然光相对光谱。输入是低成本环境特征，输出是自然光相对光谱，并进一步用于LED补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数据。项目使用三类公开数据：第一是SKYSPECTRA实测天光光谱数据和元数据，第二是Open-Meteo历史天气API，用来补充云量、湿度、温度和降水，第三是公开LED光谱数据，用在补偿环节。经过文件合并、时间对齐、波长重采样、缺失值处理和特征编码，最终得到五千六百六十四条样本、四十一个波长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模型的输入特征。我们选择了十二个容易获得的环境特征，包括时间、地点、天气、太阳位置和室外照度。右侧是随机森林特征重要性排序，可以看到室外照度占了百分之五十四，是最关键的特征，云量和太阳方位角也比较重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模型的输出。输出目标是三百八十到七百八十纳米范围内的相对光谱，每十纳米一个点，共四十一维。每条光谱除以自身最大值，模型学习的是光谱形状而非绝对强度。由于光谱曲线连续变化，相邻波长高度相关，这为后面的PCA降维做了铺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五个主成分？我们测试了前一到十个主成分的累计解释方差。第一个主成分就能解释百分之八十四的方差，前五个累计达到百分之九十八点三五。这意味着五个系数就能保留绝大部分光谱信息，同时大幅降低模型输出维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PCA降维的具体流程。原始光谱先经过标准化处理，然后通过PCA压缩为五个主成分系数。模型预测这五个系数后，再通过PCA逆变换还原为四十一维光谱。PCA不是为了让结果更高级，而是为了让模型更容易学习，也更符合课程中的降维知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模型训练。本项目不局限于某一种模型，而是把光谱估计作为回归问题，尝试了五种课程中涉及的模型：线性回归作为基准，KNN和决策树作为传统机器学习对比，随机森林作为集成学习模型，MLP作为神经网络对比。所有模型使用相同的数据划分、相同输入特征和相同PCA输出目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具体的对比结果。从表中可以看到，随机森林的RMSE最低，为零点零零八六，综合表现最好。MLP的R²略高，为零点九六二，但RMSE更大，训练时间也更长。线性回归明显落后，说明环境特征到光谱变化不是简单线性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考虑，我们选择随机森林作为主模型。不选线性回归是因为误差太大，说明问题不是线性的。关注MLP是因为它代表神经网络路线，但训练成本更高。随机森林在RMSE、稳定性和推理成本上都更均衡，所以最终选择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随机森林的参数设置，我们关注了几个关键参数：决策树数量、树的最大深度、内部节点再分裂所需最小样本数，以及随机种子。我们不是只用默认参数，而是通过参数对比实验、交叉验证，找到更合适的配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预测和补偿效果。模型预测的不是整条光谱，而是五个PCA主成分系数，再经过逆变换还原为四十一维相对光谱。图中蓝色是实测光谱，红色虚线是预测光谱，两条曲线基本重合。随后将预测光谱用于七通道LED补偿，可以看到多通道LED有更多自由度，能对不同波段做更细的补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是一个完整但谨慎的课程项目：数据是真实的，流程是可复现的，结果能进入应用演示。同时也承认样本、同步天气和硬件验证上的不足。特色是使用真实公开数据，结合PCA降维、多模型对比和照明补偿闭环，课程知识覆盖比较完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工方面，李安逸主要负责数据收集与处理、数据调整、可视化调整、课程报告撰稿与编写。黄奕滔主要负责数据处理、代码实现、可视化实现、课程报告检查和补充。我们一起完成了主题讨论、文献查阅、幻灯片制作、答辩准备、结果检查和最终材料整理。大模型在数据收集、报告结构和代码辅助方面提供了帮助，但核心思想和方案由我们团队讨论完成，模型和结果全部由Python代码生成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3492feb154da824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04c4c6a71b0b9ea5.svg"/>
  <Relationship Id="rId3" Type="http://schemas.openxmlformats.org/officeDocument/2006/relationships/image" Target="../media/image_a63314778d59b0bc.svg"/>
  <Relationship Id="rId4" Type="http://schemas.openxmlformats.org/officeDocument/2006/relationships/image" Target="../media/image_b5759ed85057562f.svg"/>
  <Relationship Id="rId5" Type="http://schemas.openxmlformats.org/officeDocument/2006/relationships/image" Target="../media/image_96c90231aa1347ac.svg"/>
  <Relationship Id="rId6" Type="http://schemas.openxmlformats.org/officeDocument/2006/relationships/image" Target="../media/image_b5759ed85057562f.svg"/>
  <Relationship Id="rId7" Type="http://schemas.openxmlformats.org/officeDocument/2006/relationships/image" Target="../media/image_b5759ed85057562f.svg"/>
  <Relationship Id="rId8" Type="http://schemas.openxmlformats.org/officeDocument/2006/relationships/image" Target="../media/image_4c0a00f37cc6680d.svg"/>
  <Relationship Id="rId9" Type="http://schemas.openxmlformats.org/officeDocument/2006/relationships/image" Target="../media/image_2bdb26226f213f13.pn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26fdc38f8e83a90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cac50538d2ca45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5068b9e216edc82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6c19fd639afb51e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549b372da854f2d.png"/>
  <Relationship Id="rId3" Type="http://schemas.openxmlformats.org/officeDocument/2006/relationships/image" Target="../media/image_eb45d431d6d6e402.pn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5048250" y="-952500"/>
            <a:ext cx="8001000" cy="7239000"/>
          </a:xfrm>
          <a:prstGeom prst="ellipse">
            <a:avLst/>
          </a:prstGeom>
          <a:gradFill>
            <a:gsLst>
              <a:gs pos="0">
                <a:srgbClr val="E8842A">
                  <a:alpha val="12000"/>
                </a:srgbClr>
              </a:gs>
              <a:gs pos="100000">
                <a:srgbClr val="D4940A">
                  <a:alpha val="4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952500" y="3810000"/>
            <a:ext cx="5334000" cy="4191000"/>
          </a:xfrm>
          <a:prstGeom prst="ellipse">
            <a:avLst/>
          </a:prstGeom>
          <a:solidFill>
            <a:srgbClr val="E8842A">
              <a:alpha val="4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1809750"/>
            <a:ext cx="57150" cy="133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842A"/>
              </a:gs>
              <a:gs pos="100000">
                <a:srgbClr val="D4940A"/>
              </a:gs>
            </a:gsLst>
            <a:lin ang="540000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98220" y="1912620"/>
            <a:ext cx="425958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自然光光谱预测与</a:t>
            </a: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室内照明补偿设计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6795" y="3917632"/>
            <a:ext cx="70497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使用 Python 数据处理、PCA 降维与机器学习模型，估计自然光相对光谱</a:t>
            </a:r>
          </a:p>
        </p:txBody>
      </p:sp>
      <p:sp>
        <p:nvSpPr>
          <p:cNvPr id="8" name="Line 8"/>
          <p:cNvSpPr/>
          <p:nvPr/>
        </p:nvSpPr>
        <p:spPr>
          <a:xfrm>
            <a:off x="1047750" y="4381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8E0D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28700" y="4648200"/>
            <a:ext cx="18669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第24组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Python 应用开发基础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李安逸、黄奕滔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24500" y="222250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25500"/>
                </a:moveTo>
                <a:cubicBezTo>
                  <a:pt x="635000" y="317500"/>
                  <a:pt x="1333500" y="222250"/>
                  <a:pt x="2095500" y="539750"/>
                </a:cubicBezTo>
                <a:cubicBezTo>
                  <a:pt x="2857500" y="857250"/>
                  <a:pt x="3619500" y="793750"/>
                  <a:pt x="4381500" y="349250"/>
                </a:cubicBezTo>
                <a:cubicBezTo>
                  <a:pt x="4953000" y="31750"/>
                  <a:pt x="5524500" y="0"/>
                  <a:pt x="6096000" y="254000"/>
                </a:cubicBezTo>
              </a:path>
            </a:pathLst>
          </a:custGeom>
          <a:noFill/>
          <a:ln w="23812">
            <a:solidFill>
              <a:srgbClr val="E8842A">
                <a:alpha val="30000"/>
              </a:srgbClr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524500" y="2492375"/>
            <a:ext cx="6096000" cy="841375"/>
          </a:xfrm>
          <a:custGeom>
            <a:avLst/>
            <a:gdLst/>
            <a:ahLst/>
            <a:cxnLst/>
            <a:rect l="l" t="t" r="r" b="b"/>
            <a:pathLst>
              <a:path w="6096000" h="841375">
                <a:moveTo>
                  <a:pt x="0" y="841375"/>
                </a:moveTo>
                <a:cubicBezTo>
                  <a:pt x="635000" y="396875"/>
                  <a:pt x="1333500" y="301625"/>
                  <a:pt x="2095500" y="555625"/>
                </a:cubicBezTo>
                <a:cubicBezTo>
                  <a:pt x="2857500" y="809625"/>
                  <a:pt x="3619500" y="746125"/>
                  <a:pt x="4381500" y="365125"/>
                </a:cubicBezTo>
                <a:cubicBezTo>
                  <a:pt x="4953000" y="47625"/>
                  <a:pt x="5524500" y="0"/>
                  <a:pt x="6096000" y="222250"/>
                </a:cubicBezTo>
              </a:path>
            </a:pathLst>
          </a:custGeom>
          <a:noFill/>
          <a:ln w="14288">
            <a:solidFill>
              <a:srgbClr val="D4940A">
                <a:alpha val="20000"/>
              </a:srgbClr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5524500" y="276225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57250"/>
                </a:moveTo>
                <a:cubicBezTo>
                  <a:pt x="635000" y="412750"/>
                  <a:pt x="1333500" y="301625"/>
                  <a:pt x="2095500" y="523875"/>
                </a:cubicBezTo>
                <a:cubicBezTo>
                  <a:pt x="2857500" y="746125"/>
                  <a:pt x="3619500" y="682625"/>
                  <a:pt x="4381500" y="333375"/>
                </a:cubicBezTo>
                <a:cubicBezTo>
                  <a:pt x="4953000" y="47625"/>
                  <a:pt x="5524500" y="0"/>
                  <a:pt x="6096000" y="190500"/>
                </a:cubicBezTo>
              </a:path>
            </a:pathLst>
          </a:custGeom>
          <a:noFill/>
          <a:ln w="9525">
            <a:solidFill>
              <a:srgbClr val="E06B5E">
                <a:alpha val="15000"/>
              </a:srgbClr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436995" y="4517708"/>
            <a:ext cx="5000623" cy="725804"/>
            <a:chOff x="6436995" y="4517708"/>
            <a:chExt cx="5000623" cy="725804"/>
          </a:xfrm>
        </p:grpSpPr>
        <p:sp>
          <p:nvSpPr>
            <p:cNvPr id="13" name="TextBox 13"/>
            <p:cNvSpPr txBox="1"/>
            <p:nvPr/>
          </p:nvSpPr>
          <p:spPr>
            <a:xfrm>
              <a:off x="6436995" y="4517708"/>
              <a:ext cx="56517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3665" y="50301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波长点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51495" y="4517708"/>
              <a:ext cx="10503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78165" y="50301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56495" y="4517708"/>
              <a:ext cx="138112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3165" y="503015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累计方差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01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501844" cy="921067"/>
            <a:chOff x="535305" y="379095"/>
            <a:chExt cx="4501844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50184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照明不只关乎"够不够亮"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333500"/>
            <a:ext cx="6572250" cy="762000"/>
            <a:chOff x="571500" y="1333500"/>
            <a:chExt cx="657225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342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亮度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179165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照度看"够不够亮"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795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09875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09875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31795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色温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39415" y="1791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看冷暖，但不够细致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9170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48250" y="1333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048250" y="1333500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7017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7790" y="1791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各波长能量分布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362200"/>
            <a:ext cx="6515100" cy="914400"/>
            <a:chOff x="552450" y="2362200"/>
            <a:chExt cx="6515100" cy="914400"/>
          </a:xfrm>
        </p:grpSpPr>
        <p:sp>
          <p:nvSpPr>
            <p:cNvPr id="22" name="TextBox 22"/>
            <p:cNvSpPr txBox="1"/>
            <p:nvPr/>
          </p:nvSpPr>
          <p:spPr>
            <a:xfrm>
              <a:off x="552450" y="2362200"/>
              <a:ext cx="6515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现代人越来越多时间处在室内，人工照明对学习、办公和生活体验都有影响。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常见照明调节主要关注亮度和色温，但这两个指标不能完整描述光的组成。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光谱能表示不同波长上的能量分布，是更细致的光照描述方式。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3667125"/>
            <a:ext cx="5905500" cy="476250"/>
          </a:xfrm>
          <a:prstGeom prst="roundRect">
            <a:avLst>
              <a:gd name="adj" fmla="val 20000"/>
            </a:avLst>
          </a:prstGeom>
          <a:solidFill>
            <a:srgbClr val="E06B5E">
              <a:alpha val="8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3902" y="3808571"/>
            <a:ext cx="562289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基于光谱的室内照明调节，是未来高质量照明的一个潜在方向。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858000" y="1333500"/>
            <a:ext cx="4762500" cy="3529012"/>
            <a:chOff x="6858000" y="1333500"/>
            <a:chExt cx="4762500" cy="3529012"/>
          </a:xfrm>
        </p:grpSpPr>
        <p:sp>
          <p:nvSpPr>
            <p:cNvPr id="26" name="Rectangle 26"/>
            <p:cNvSpPr/>
            <p:nvPr/>
          </p:nvSpPr>
          <p:spPr>
            <a:xfrm>
              <a:off x="6858000" y="1333500"/>
              <a:ext cx="4762500" cy="3429000"/>
            </a:xfrm>
            <a:prstGeom prst="roundRect">
              <a:avLst>
                <a:gd name="adj" fmla="val 3333"/>
              </a:avLst>
            </a:prstGeom>
            <a:solidFill>
              <a:srgbClr val="FFF8EE"/>
            </a:solidFill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3250" y="1528938"/>
              <a:ext cx="4572000" cy="2847624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939915" y="4649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不同天气下平均相对光谱存在差异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6058138" cy="921067"/>
            <a:chOff x="535305" y="379095"/>
            <a:chExt cx="605813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光谱有价值，但直接测量成本较高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43025"/>
            <a:ext cx="9439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专业光谱仪难以在普通场景普及，因此尝试用更容易获得的环境特征，通过机器学习估计自然光相对光谱。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905000"/>
            <a:ext cx="10191750" cy="1714500"/>
            <a:chOff x="571500" y="1905000"/>
            <a:chExt cx="1019175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1905000" cy="1714500"/>
            </a:xfrm>
            <a:prstGeom prst="roundRect">
              <a:avLst>
                <a:gd name="adj" fmla="val 6667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2016" y="20602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2601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天气 / 时间 / 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117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太阳高度角 / 方位角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997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室外照度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571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33750" y="2190750"/>
              <a:ext cx="1714500" cy="1143000"/>
            </a:xfrm>
            <a:prstGeom prst="roundRect">
              <a:avLst>
                <a:gd name="adj" fmla="val 10000"/>
              </a:avLst>
            </a:prstGeom>
            <a:solidFill>
              <a:srgbClr val="E06B5E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07987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机器学习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5720" y="2823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14350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05500" y="209550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8B6DB0">
                <a:alpha val="8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060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8855" y="27117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自然光相对光谱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78855" y="29975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/ 41 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905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67750" y="209550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35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1105" y="27117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目标光谱 − 自然光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1105" y="2997518"/>
              <a:ext cx="1492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→ 七通道 LED 补偿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1500" y="4000500"/>
            <a:ext cx="10191750" cy="571500"/>
          </a:xfrm>
          <a:prstGeom prst="roundRect">
            <a:avLst>
              <a:gd name="adj" fmla="val 16667"/>
            </a:avLst>
          </a:prstGeom>
          <a:solidFill>
            <a:srgbClr val="E06B5E">
              <a:alpha val="6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1045" y="4165282"/>
            <a:ext cx="7896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目标：输入低成本环境特征，输出自然光相对光谱，并进一步用于照明补偿。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6856238" cy="921067"/>
            <a:chOff x="535305" y="379095"/>
            <a:chExt cx="685623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68562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把真实观测数据整理成可训练的数据表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85875"/>
            <a:ext cx="11049000" cy="1905000"/>
            <a:chOff x="571500" y="1285875"/>
            <a:chExt cx="1104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504950"/>
              <a:ext cx="2516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SKYSPECTRA 实测天光光谱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1814989"/>
              <a:ext cx="1911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Zenodo record 8147546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2100739"/>
              <a:ext cx="17581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水平天光光谱 + 元数据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808" y="2386489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重采样到 380–780 nm / 10 nm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33875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33875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05325" y="1504950"/>
              <a:ext cx="25374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Open-Meteo 历史天气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8182" y="181498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按观测站经纬度和日期查询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8182" y="210073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云量、湿度、温度、降水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182" y="23864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按最近整点与光谱对齐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9625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8842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7700" y="1504950"/>
              <a:ext cx="17708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公开 LED 光谱数据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0558" y="1814989"/>
              <a:ext cx="19451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用于七通道 LED 补偿模型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0558" y="21007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深蓝、青、绿、琥珀、红、暖白、冷白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1510" y="23945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只用于补偿，不参与训练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3393758"/>
            <a:ext cx="10307955" cy="844867"/>
            <a:chOff x="550545" y="3393758"/>
            <a:chExt cx="10307955" cy="844867"/>
          </a:xfrm>
        </p:grpSpPr>
        <p:sp>
          <p:nvSpPr>
            <p:cNvPr id="26" name="TextBox 26"/>
            <p:cNvSpPr txBox="1"/>
            <p:nvPr/>
          </p:nvSpPr>
          <p:spPr>
            <a:xfrm>
              <a:off x="550545" y="3393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9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文件合并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76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441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时间对齐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0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00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736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波长重采样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5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881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缺失值处理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29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8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87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特征编码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4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3762375"/>
              <a:ext cx="17145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38752" y="391048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建模数据表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524375"/>
            <a:ext cx="11049000" cy="1047750"/>
            <a:chOff x="571500" y="4524375"/>
            <a:chExt cx="11049000" cy="1047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524375"/>
              <a:ext cx="11049000" cy="1047750"/>
            </a:xfrm>
            <a:prstGeom prst="roundRect">
              <a:avLst>
                <a:gd name="adj" fmla="val 10909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2000" y="4714875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64358" y="475678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91139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52750" y="4714875"/>
              <a:ext cx="1524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72534" y="475678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AA3A0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2138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光谱维度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62500" y="47148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35543" y="4756785"/>
              <a:ext cx="19399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2016–2018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2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时间范围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4250" y="4714875"/>
              <a:ext cx="123825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15122" y="47567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0014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观测站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858250" y="4714875"/>
              <a:ext cx="24765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77375" y="4886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法国沃昂夫兰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03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主要站点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4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模型输入：低成本环境特征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238250"/>
            <a:ext cx="5048250" cy="4191000"/>
            <a:chOff x="571500" y="1238250"/>
            <a:chExt cx="504825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04825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1982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输入特征（12 个）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1806892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数值特征（9 个）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76450"/>
              <a:ext cx="228600" cy="2286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050608" y="21007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hour, month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2362200"/>
              <a:ext cx="228600" cy="228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050608" y="2386489"/>
              <a:ext cx="25231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solar_altitude, solar_azimuth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" y="2647950"/>
              <a:ext cx="228600" cy="2286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50608" y="2672239"/>
              <a:ext cx="30672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cloud_cover, humidity, temperature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2000" y="2933700"/>
              <a:ext cx="228600" cy="2286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050608" y="2957989"/>
              <a:ext cx="22511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precipitation, outdoor_lux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33147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4855" y="3454718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类别特征（3 个，独热编码）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2000" y="3733800"/>
              <a:ext cx="228600" cy="2286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050608" y="3767614"/>
              <a:ext cx="17410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weather（天气类别）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2000" y="4019550"/>
              <a:ext cx="228600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1050608" y="405336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sky_condition（天空状况）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2000" y="4305300"/>
              <a:ext cx="228600" cy="2286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050608" y="4339114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location_code（观测站编号）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4714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760" y="4871085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数值特征标准化 + 类别特征独热编码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1238250"/>
            <a:ext cx="5715000" cy="4212431"/>
            <a:chOff x="5905500" y="1238250"/>
            <a:chExt cx="5715000" cy="4212431"/>
          </a:xfrm>
        </p:grpSpPr>
        <p:sp>
          <p:nvSpPr>
            <p:cNvPr id="30" name="Rectangle 30"/>
            <p:cNvSpPr/>
            <p:nvPr/>
          </p:nvSpPr>
          <p:spPr>
            <a:xfrm>
              <a:off x="5905500" y="1238250"/>
              <a:ext cx="571500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905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75045" y="14411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随机森林特征重要性</a:t>
              </a:r>
            </a:p>
          </p:txBody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00750" y="1803428"/>
              <a:ext cx="5524500" cy="3251144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6096000" y="5191125"/>
              <a:ext cx="5334000" cy="209550"/>
            </a:xfrm>
            <a:prstGeom prst="roundRect">
              <a:avLst>
                <a:gd name="adj" fmla="val 18182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81712" y="5222081"/>
              <a:ext cx="41398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outdoor_lux 54% · cloud_cover 9% · solar_azimuth 6%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621559" cy="921067"/>
            <a:chOff x="535305" y="379095"/>
            <a:chExt cx="462155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6215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模型输出：41 维相对光谱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5334000" cy="4000500"/>
            <a:chOff x="571500" y="1238250"/>
            <a:chExt cx="533400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30319"/>
              <a:ext cx="5143500" cy="3235362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747712" y="4926806"/>
              <a:ext cx="3141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光谱曲线示例：380–780 nm 范围内的相对光谱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91250" y="1238250"/>
            <a:ext cx="5429250" cy="4000500"/>
            <a:chOff x="6191250" y="1238250"/>
            <a:chExt cx="5429250" cy="4000500"/>
          </a:xfrm>
        </p:grpSpPr>
        <p:sp>
          <p:nvSpPr>
            <p:cNvPr id="12" name="Rectangle 12"/>
            <p:cNvSpPr/>
            <p:nvPr/>
          </p:nvSpPr>
          <p:spPr>
            <a:xfrm>
              <a:off x="6191250" y="1238250"/>
              <a:ext cx="542925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60795" y="1488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输出目标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62700" y="1838325"/>
              <a:ext cx="2324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可见光范围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每 10 nm 一个点，共 41 维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关注相对光谱形状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381750" y="30480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60795" y="3203258"/>
              <a:ext cx="16475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为什么需要 PCA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2700" y="3552825"/>
              <a:ext cx="264795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光谱曲线连续变化，相邻波长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高度相关 → 适合 PCA 压缩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直接预测 41 维会增加模型难度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381750" y="47148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5558" y="4862989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每条光谱除以自身最大值，模型学习光谱形状而非绝对强度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122746" cy="921067"/>
            <a:chOff x="535305" y="379095"/>
            <a:chExt cx="4122746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07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12274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为什么选择 5 个主成分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14450"/>
            <a:ext cx="68889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测试前 1～10 个主成分的累计解释方差，选择能保留大部分信息的最少数量。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714500"/>
            <a:ext cx="11049000" cy="4000500"/>
            <a:chOff x="571500" y="1714500"/>
            <a:chExt cx="110490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11049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949" y="1857375"/>
              <a:ext cx="5720103" cy="3619500"/>
            </a:xfrm>
            <a:prstGeom prst="rect">
              <a:avLst/>
            </a:prstGeom>
          </p:spPr>
        </p:pic>
      </p:grpSp>
      <p:sp>
        <p:nvSpPr>
          <p:cNvPr id="12" name="Rectangle 12"/>
          <p:cNvSpPr/>
          <p:nvPr/>
        </p:nvSpPr>
        <p:spPr>
          <a:xfrm>
            <a:off x="571500" y="5857875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FFF3B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2950" y="6010275"/>
            <a:ext cx="63283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前 5 个主成分累计解释方差达 98.35%，足以保留绝大部分光谱信息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2446737" cy="921067"/>
            <a:chOff x="535305" y="379095"/>
            <a:chExt cx="2446737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08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44673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降维流程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333500"/>
            <a:ext cx="11049000" cy="1524000"/>
            <a:chOff x="571500" y="1333500"/>
            <a:chExt cx="1104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8B6DB0">
                <a:alpha val="12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8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原始光谱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9690" y="2164556"/>
              <a:ext cx="3886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41 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D4940A">
                <a:alpha val="12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28320" y="18545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标准化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5893" y="21645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StandardScaler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E8842A">
                <a:alpha val="1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3533" y="1854518"/>
              <a:ext cx="7809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PCA 降维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55917" y="21645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5 个主成分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3D8B5E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43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模型预测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46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2AA3A0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9022" y="185451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PCA 逆变换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77168" y="21645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 41 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287000" y="1571625"/>
              <a:ext cx="1143000" cy="1047750"/>
            </a:xfrm>
            <a:prstGeom prst="roundRect">
              <a:avLst>
                <a:gd name="adj" fmla="val 9091"/>
              </a:avLst>
            </a:prstGeom>
            <a:solidFill>
              <a:srgbClr val="D46B8C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52331" y="1854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441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还原曲线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143250"/>
            <a:ext cx="11049000" cy="2476500"/>
            <a:chOff x="571500" y="3143250"/>
            <a:chExt cx="11049000" cy="2476500"/>
          </a:xfrm>
        </p:grpSpPr>
        <p:sp>
          <p:nvSpPr>
            <p:cNvPr id="33" name="Rectangle 33"/>
            <p:cNvSpPr/>
            <p:nvPr/>
          </p:nvSpPr>
          <p:spPr>
            <a:xfrm>
              <a:off x="571500" y="3143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3143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1045" y="3346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为什么要这样做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902" y="3703796"/>
              <a:ext cx="2877502" cy="1432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原始光谱 41 维，相邻波长强相关，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直接预测维度高、难度大。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把主要变化压缩成 5 个系数，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既保留形状信息（98.3%），</a:t>
              </a: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也便于回归模型学习。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3143250"/>
              <a:ext cx="542925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91250" y="3143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0795" y="3346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关键数字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01858" y="3884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61371" y="42491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主成分数量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95350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70358" y="3884295"/>
              <a:ext cx="10522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3112" y="42491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累计解释方差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5558" y="4720114"/>
              <a:ext cx="46314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不是为了让结果更"高级"，而是为了让模型更容易学习。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6457188" cy="921067"/>
            <a:chOff x="535305" y="379095"/>
            <a:chExt cx="64571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09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64571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尝试多种课内模型，用结果选择方案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26682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把光谱估计作为回归问题，尝试课程中涉及的模型路线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1571625"/>
            <a:ext cx="11239500" cy="2809875"/>
            <a:chOff x="571500" y="1571625"/>
            <a:chExt cx="11239500" cy="2809875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64748B">
                <a:alpha val="6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087" y="19145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线性基准模型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5808" y="27198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观察问题是否接近线性关系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808" y="30056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最简单的回归模型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299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误差明显较大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57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12928" y="1914525"/>
              <a:ext cx="3846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1961" y="223266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K 近邻回归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48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31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基于邻域的非参数模型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1808" y="300561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MAE 略低但 RMSE 不占优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43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43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E884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00116" y="191452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5960" y="22326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决策树回归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7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单棵决策树，中间对比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7808" y="30056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稳定性不如集成模型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29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C07040">
                <a:alpha val="8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29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571625"/>
              <a:ext cx="381000" cy="3810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712607" y="191452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1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随机森林回归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03808" y="2719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集成学习模型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3808" y="30056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关注稳定性和非线性拟合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3333750"/>
              <a:ext cx="1714500" cy="285750"/>
            </a:xfrm>
            <a:prstGeom prst="roundRect">
              <a:avLst>
                <a:gd name="adj" fmla="val 20000"/>
              </a:avLst>
            </a:prstGeom>
            <a:solidFill>
              <a:srgbClr val="C07040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54559" y="3394710"/>
              <a:ext cx="8453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最终选择 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15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49926" y="1914525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67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神经网络回归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906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89808" y="27198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更复杂的非线性模型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9808" y="3005614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R² 略高但 RMSE 更大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571500" y="4667250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FFF8EE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571500" y="4667250"/>
            <a:ext cx="11049000" cy="47625"/>
          </a:xfrm>
          <a:prstGeom prst="roundRect">
            <a:avLst>
              <a:gd name="adj" fmla="val 40000"/>
            </a:avLst>
          </a:prstGeom>
          <a:solidFill>
            <a:srgbClr val="C0704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43902" y="4846796"/>
            <a:ext cx="80646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所有模型使用相同的数据划分、相同输入特征和相同 PCA 输出目标，最后用统一指标比较效果。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4855" y="5188268"/>
            <a:ext cx="43723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评价维度：MAE / RMSE / R² / 训练时间 / 推理时间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五个模型在同一数据上评价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238250"/>
            <a:ext cx="11049000" cy="2381250"/>
            <a:chOff x="571500" y="1238250"/>
            <a:chExt cx="11049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11049000" cy="381000"/>
            </a:xfrm>
            <a:prstGeom prst="rect">
              <a:avLst/>
            </a:prstGeom>
            <a:solidFill>
              <a:srgbClr val="C07040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31239" y="1394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9341" y="139446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7135" y="139446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RMSE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0348" y="13944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6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训练/s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30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预测/s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1714500"/>
              <a:ext cx="11049000" cy="381000"/>
            </a:xfrm>
            <a:prstGeom prst="rect">
              <a:avLst/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321" y="1806892"/>
              <a:ext cx="1376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5818" y="1806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0" y="1809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04966" y="1806892"/>
              <a:ext cx="658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7040"/>
                  </a:solidFill>
                  <a:latin typeface="Consolas"/>
                  <a:ea typeface="Microsoft YaHei"/>
                  <a:cs typeface="Consolas"/>
                </a:rPr>
                <a:t>0.0086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93324" y="1806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6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0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0.22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48836" y="218789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5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9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3324" y="2187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6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0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0.14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2476500"/>
              <a:ext cx="11049000" cy="381000"/>
            </a:xfrm>
            <a:prstGeom prst="rect">
              <a:avLst/>
            </a:prstGeom>
            <a:solidFill>
              <a:srgbClr val="8B6DB0">
                <a:alpha val="4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30834" y="2568892"/>
              <a:ext cx="3673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5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19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2571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0948" y="25688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0.962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66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1.87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90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283" y="2949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5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19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0.0124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324" y="2949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0.870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6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90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3238500"/>
              <a:ext cx="11049000" cy="381000"/>
            </a:xfrm>
            <a:prstGeom prst="rect">
              <a:avLst/>
            </a:prstGeom>
            <a:solidFill>
              <a:srgbClr val="64748B">
                <a:alpha val="4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3258" y="3330892"/>
              <a:ext cx="15824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5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0.0225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19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0.0376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3324" y="3330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0.635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66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0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524250"/>
            <a:ext cx="11049000" cy="2286000"/>
            <a:chOff x="571500" y="3524250"/>
            <a:chExt cx="11049000" cy="2286000"/>
          </a:xfrm>
        </p:grpSpPr>
        <p:sp>
          <p:nvSpPr>
            <p:cNvPr id="52" name="Rectangle 52"/>
            <p:cNvSpPr/>
            <p:nvPr/>
          </p:nvSpPr>
          <p:spPr>
            <a:xfrm>
              <a:off x="571500" y="3524250"/>
              <a:ext cx="11049000" cy="2286000"/>
            </a:xfrm>
            <a:prstGeom prst="roundRect">
              <a:avLst>
                <a:gd name="adj" fmla="val 50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1500" y="3524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0817" y="3619500"/>
              <a:ext cx="7590367" cy="2095500"/>
            </a:xfrm>
            <a:prstGeom prst="rect">
              <a:avLst/>
            </a:prstGeom>
          </p:spPr>
        </p:pic>
      </p:grpSp>
      <p:sp>
        <p:nvSpPr>
          <p:cNvPr id="56" name="Rectangle 56"/>
          <p:cNvSpPr/>
          <p:nvPr/>
        </p:nvSpPr>
        <p:spPr>
          <a:xfrm>
            <a:off x="571500" y="5953125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FFF3B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42950" y="6057900"/>
            <a:ext cx="5803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随机森林 RMSE 最低（0.0086），综合稳定性最好 → 最终选择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7414908" cy="921067"/>
            <a:chOff x="535305" y="379095"/>
            <a:chExt cx="741490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11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74149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 Random Forest：效果与成本更平衡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238250"/>
            <a:ext cx="5715000" cy="4572000"/>
            <a:chOff x="571500" y="1238250"/>
            <a:chExt cx="5715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715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476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3450" y="160020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为什么不选线性回归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30718"/>
              <a:ext cx="42198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误差明显较大（RMSE=0.0376），不是简单线性关系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476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619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450" y="2743200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为什么关注 MLP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3073718"/>
              <a:ext cx="35267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代表神经网络路线，R² 略高但训练成本更高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619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762375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D4940A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450" y="3914775"/>
              <a:ext cx="3062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为什么最终选择 Random Forest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23576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RMSE 最低、推理成本低、集成模型稳定性好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857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5355" y="5045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308" y="5339239"/>
              <a:ext cx="37898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不只看 R²，也结合 RMSE、训练成本和预测稳定性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1238250"/>
            <a:ext cx="5048250" cy="4572000"/>
            <a:chOff x="6572250" y="1238250"/>
            <a:chExt cx="5048250" cy="4572000"/>
          </a:xfrm>
        </p:grpSpPr>
        <p:sp>
          <p:nvSpPr>
            <p:cNvPr id="24" name="Rectangle 24"/>
            <p:cNvSpPr/>
            <p:nvPr/>
          </p:nvSpPr>
          <p:spPr>
            <a:xfrm>
              <a:off x="6572250" y="1238250"/>
              <a:ext cx="5048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57225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41795" y="1488758"/>
              <a:ext cx="21096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RF vs MLP 关键对比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62750" y="190500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34200" y="2076450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37058" y="238648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0.0086 · R²: 0.959 · 训练: 0.94s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8010" y="2680335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RMSE 最低，综合最优 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314325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34200" y="3314700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7058" y="362473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0.0095 · R²: 0.962 · 训练: 1.87s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8010" y="3918585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R² 略高但 RMSE 更大、训练更慢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62750" y="4381500"/>
              <a:ext cx="4667250" cy="1238250"/>
            </a:xfrm>
            <a:prstGeom prst="roundRect">
              <a:avLst>
                <a:gd name="adj" fmla="val 6154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35152" y="4561046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核心结论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36105" y="48834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以实验结果为依据，不预先认定某个模型最好。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36105" y="5188268"/>
              <a:ext cx="30406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RMSE、稳定性和推理成本选择。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461939" cy="921067"/>
            <a:chOff x="535305" y="379095"/>
            <a:chExt cx="44619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随机森林参数设置与调优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34000" cy="2714625"/>
            <a:chOff x="571500" y="1238250"/>
            <a:chExt cx="5334000" cy="27146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762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6308" y="1910239"/>
              <a:ext cx="12017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7040"/>
                  </a:solidFill>
                  <a:latin typeface="Consolas"/>
                  <a:ea typeface="Microsoft YaHei"/>
                  <a:cs typeface="Consolas"/>
                </a:rPr>
                <a:t>n_estimators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2760" y="1918335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决策树数量，越多越稳定但训练越慢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33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6308" y="2481739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max_depth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2760" y="24898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树的最大深度，控制模型复杂度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905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6308" y="3053239"/>
              <a:ext cx="1594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min_samples_split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2760" y="30613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内部节点再分裂所需最小样本数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476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6308" y="3624739"/>
              <a:ext cx="12463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random_state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2760" y="363283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随机种子，保证结果可复现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095750"/>
            <a:ext cx="5334000" cy="1776412"/>
            <a:chOff x="571500" y="4095750"/>
            <a:chExt cx="5334000" cy="1776412"/>
          </a:xfrm>
        </p:grpSpPr>
        <p:sp>
          <p:nvSpPr>
            <p:cNvPr id="23" name="Rectangle 23"/>
            <p:cNvSpPr/>
            <p:nvPr/>
          </p:nvSpPr>
          <p:spPr>
            <a:xfrm>
              <a:off x="571500" y="4095750"/>
              <a:ext cx="5334000" cy="1714500"/>
            </a:xfrm>
            <a:prstGeom prst="roundRect">
              <a:avLst>
                <a:gd name="adj" fmla="val 6667"/>
              </a:avLst>
            </a:prstGeom>
            <a:solidFill>
              <a:srgbClr val="2D2A2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760" y="4251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代码示例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4553902"/>
              <a:ext cx="3779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sklearn.ensemble import RandomForestRegressor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665" y="4763452"/>
              <a:ext cx="3492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sklearn.model_selection import GridSearchCV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665" y="5030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param_grid = {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523970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'n_estimators': [100, 200, 300],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544925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'max_depth': [10, 20, None]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56588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32" name="Rectangle 32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6079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调优过程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762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FFF3B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5105" y="1902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1. 参数对比实验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010" y="21564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固定其他参数，逐一测试各参数的影响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524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C07040">
                <a:alpha val="6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5105" y="2664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2. 交叉验证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010" y="291846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 K 折交叉验证评估参数组合稳定性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3286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5105" y="3426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3. 选择最优组合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010" y="36804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 和训练时间选择最佳参数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048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5105" y="4188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4. 最终模型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7010" y="44424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使用调优后的参数训练最终模型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4857750"/>
              <a:ext cx="5048250" cy="857250"/>
            </a:xfrm>
            <a:prstGeom prst="roundRect">
              <a:avLst>
                <a:gd name="adj" fmla="val 8889"/>
              </a:avLst>
            </a:prstGeom>
            <a:solidFill>
              <a:srgbClr val="2D2A2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8915" y="5011102"/>
              <a:ext cx="2967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 = GridSearchCV(rf, param_grid, cv=5)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8915" y="5220652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grid.fit(X_train, y_train)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8915" y="5430202"/>
              <a:ext cx="22249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best_rf = grid.best_estimator_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3663839" cy="921067"/>
            <a:chOff x="535305" y="379095"/>
            <a:chExt cx="36638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B8E3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预测结果与照明补偿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238250"/>
            <a:ext cx="5334000" cy="4286250"/>
            <a:chOff x="571500" y="1238250"/>
            <a:chExt cx="53340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B8E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438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3D"/>
                  </a:solidFill>
                  <a:latin typeface="Arial"/>
                  <a:ea typeface="Microsoft YaHei"/>
                  <a:cs typeface="Arial"/>
                </a:rPr>
                <a:t>光谱预测结果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757" y="1714500"/>
              <a:ext cx="4911487" cy="3048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6760" y="49187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蓝色=实测，红色虚线=预测，两条曲线基本重合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1238250"/>
            <a:ext cx="5429250" cy="4286250"/>
            <a:chOff x="6191250" y="1238250"/>
            <a:chExt cx="5429250" cy="4286250"/>
          </a:xfrm>
        </p:grpSpPr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6B8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62700" y="1438275"/>
              <a:ext cx="15607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七通道 LED 补偿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2075" y="1714500"/>
              <a:ext cx="4927600" cy="30480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366510" y="4918710"/>
              <a:ext cx="3110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多通道 LED 自由度更多，能按波段局部补偿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FFF3B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4855" y="5902642"/>
            <a:ext cx="5975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预测路径：环境特征 → 5 个 PCA 系数 → PCA 逆变换 → 41 维光谱 → LED 补偿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2865739" cy="921067"/>
            <a:chOff x="535305" y="379095"/>
            <a:chExt cx="28657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8657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项目特色与不足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914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项目特色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3D8B5E">
                <a:alpha val="6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02596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使用真实公开天光光谱数据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4765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5355" y="2645092"/>
              <a:ext cx="33557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明确"环境特征 → PCA → 光谱还原"路径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9562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355" y="3264218"/>
              <a:ext cx="35177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覆盖数据处理、PCA、ML、可视化全流程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71475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5355" y="3883342"/>
              <a:ext cx="29866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多模型统一比较，按结果选择模型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3338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5355" y="450246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预测光谱用于照明补偿，形成应用闭环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49530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5355" y="5121592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6. 课程知识覆盖完整，可复现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主要不足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81750" y="1857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5105" y="2045018"/>
              <a:ext cx="1906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样本集中在少数站点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962" y="22788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数据来源有限，代表性不够广泛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2619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80701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天气数据与光谱非完全同步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7962" y="3040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天气为对齐的历史特征，非现场测量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3381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5105" y="3569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模型不能完全替代专业光谱仪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962" y="3802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估计的是相对光谱形状，非绝对测量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4143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5105" y="4331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当前是算法演示，未接入硬件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962" y="4564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暂未接入真实照明硬件验证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4905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6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5105" y="5093018"/>
              <a:ext cx="22665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补偿效果有待更细的评价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962" y="53268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可进一步评估舒适度和显色效果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5305" y="379095"/>
            <a:ext cx="4062889" cy="921067"/>
            <a:chOff x="535305" y="379095"/>
            <a:chExt cx="406288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小组分工与大模型使用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小组分工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4A90D9">
                <a:alpha val="6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9973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李安逸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6308" y="229123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负责数据收集与处理、数据调整、可视化调整、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308" y="25103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课程报告撰稿与编写。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762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7CB342">
                <a:alpha val="6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355" y="2902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B342"/>
                  </a:solidFill>
                  <a:latin typeface="Arial"/>
                  <a:ea typeface="Microsoft YaHei"/>
                  <a:cs typeface="Arial"/>
                </a:rPr>
                <a:t>黄奕滔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6308" y="31961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负责数据处理、代码实现、可视化实现、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4151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课程报告检查和补充。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67125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D4940A">
                <a:alpha val="6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5355" y="3807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共同完成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4100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主题讨论、文献查阅、幻灯片制作、答辩准备、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6308" y="43200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结果检查和最终材料整理。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667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6760" y="4823460"/>
              <a:ext cx="2366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课程名称：Python 应用开发基础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5090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第24组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238250"/>
            <a:ext cx="5429250" cy="4655344"/>
            <a:chOff x="6191250" y="1238250"/>
            <a:chExt cx="5429250" cy="4655344"/>
          </a:xfrm>
        </p:grpSpPr>
        <p:sp>
          <p:nvSpPr>
            <p:cNvPr id="26" name="Rectangle 26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60795" y="1441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大模型使用情况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3652" y="1798796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使用大模型辅助的环节：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14312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5105" y="23117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数据源收集和汇总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76225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5105" y="2930842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报告结构整理和辅助编写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38137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5105" y="3549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代码注释与编写辅助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00050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6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5105" y="41690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可视化表达相关代码编写辅助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381750" y="4714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65558" y="4891564"/>
              <a:ext cx="2461260" cy="1002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项目核心思想、计划和整体方案</a:t>
              </a: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由我们队员讨论完成，模型和结果</a:t>
              </a: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全部由 Python 代码根据机器学习</a:t>
              </a:r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算法生成。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2026-06-15T08:55:13Z</dcterms:created>
  <dcterms:modified xsi:type="dcterms:W3CDTF">2026-06-15T08:55:13Z</dcterms:modified>
  <cp:category/>
  <cp:contentStatus/>
</cp:coreProperties>
</file>